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25fa6e868843f2" /><Relationship Type="http://schemas.openxmlformats.org/officeDocument/2006/relationships/extended-properties" Target="/docProps/app.xml" Id="R4c3a34c259a64f38" /><Relationship Type="http://schemas.openxmlformats.org/officeDocument/2006/relationships/officeDocument" Target="/ppt/presentation.xml" Id="R354466dfad5843b5" /></Relationships>
</file>

<file path=ppt/presentation.xml><?xml version="1.0" encoding="utf-8"?>
<p:presentation xmlns:p="http://schemas.openxmlformats.org/presentationml/2006/main">
  <p:sldMasterIdLst>
    <p:sldMasterId xmlns:r="http://schemas.openxmlformats.org/officeDocument/2006/relationships" id="2147483648" r:id="R35a6cd4fc4734237"/>
  </p:sldMasterIdLst>
  <p:notesMasterIdLst>
    <p:notesMasterId xmlns:r="http://schemas.openxmlformats.org/officeDocument/2006/relationships" r:id="Rcaba3ec84ac24222"/>
  </p:notesMasterIdLst>
  <p:sldIdLst>
    <p:sldId xmlns:r="http://schemas.openxmlformats.org/officeDocument/2006/relationships" id="256" r:id="Ra46d1e5bd3d1447f"/>
    <p:sldId xmlns:r="http://schemas.openxmlformats.org/officeDocument/2006/relationships" id="257" r:id="R64fc0bf1bc29422c"/>
    <p:sldId xmlns:r="http://schemas.openxmlformats.org/officeDocument/2006/relationships" id="258" r:id="Re1fe97eb12954c67"/>
    <p:sldId xmlns:r="http://schemas.openxmlformats.org/officeDocument/2006/relationships" id="259" r:id="Re2187d756d8d4f90"/>
    <p:sldId xmlns:r="http://schemas.openxmlformats.org/officeDocument/2006/relationships" id="260" r:id="Rd84f634124fb4a0f"/>
    <p:sldId xmlns:r="http://schemas.openxmlformats.org/officeDocument/2006/relationships" id="261" r:id="R28d45f6f32844a0a"/>
    <p:sldId xmlns:r="http://schemas.openxmlformats.org/officeDocument/2006/relationships" id="262" r:id="R9de6228aaeec4768"/>
    <p:sldId xmlns:r="http://schemas.openxmlformats.org/officeDocument/2006/relationships" id="263" r:id="Re5e91a4985774c04"/>
    <p:sldId xmlns:r="http://schemas.openxmlformats.org/officeDocument/2006/relationships" id="264" r:id="R2b91009a54264374"/>
    <p:sldId xmlns:r="http://schemas.openxmlformats.org/officeDocument/2006/relationships" id="265" r:id="Rc668cfc2078846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34f3a010e54232" /><Relationship Type="http://schemas.openxmlformats.org/officeDocument/2006/relationships/slideMaster" Target="/ppt/slideMasters/slideMaster1.xml" Id="R35a6cd4fc4734237" /><Relationship Type="http://schemas.openxmlformats.org/officeDocument/2006/relationships/notesMaster" Target="/ppt/notesMasters/notesMaster1.xml" Id="Rcaba3ec84ac24222" /><Relationship Type="http://schemas.openxmlformats.org/officeDocument/2006/relationships/presProps" Target="/ppt/presProps.xml" Id="R88582a3ddabd4898" /><Relationship Type="http://schemas.openxmlformats.org/officeDocument/2006/relationships/tableStyles" Target="/ppt/tableStyles.xml" Id="Rae4053818b7c462b" /><Relationship Type="http://schemas.openxmlformats.org/officeDocument/2006/relationships/slide" Target="/ppt/slides/slide1.xml" Id="Ra46d1e5bd3d1447f" /><Relationship Type="http://schemas.openxmlformats.org/officeDocument/2006/relationships/slide" Target="/ppt/slides/slide2.xml" Id="R64fc0bf1bc29422c" /><Relationship Type="http://schemas.openxmlformats.org/officeDocument/2006/relationships/slide" Target="/ppt/slides/slide3.xml" Id="Re1fe97eb12954c67" /><Relationship Type="http://schemas.openxmlformats.org/officeDocument/2006/relationships/slide" Target="/ppt/slides/slide4.xml" Id="Re2187d756d8d4f90" /><Relationship Type="http://schemas.openxmlformats.org/officeDocument/2006/relationships/slide" Target="/ppt/slides/slide5.xml" Id="Rd84f634124fb4a0f" /><Relationship Type="http://schemas.openxmlformats.org/officeDocument/2006/relationships/slide" Target="/ppt/slides/slide6.xml" Id="R28d45f6f32844a0a" /><Relationship Type="http://schemas.openxmlformats.org/officeDocument/2006/relationships/slide" Target="/ppt/slides/slide7.xml" Id="R9de6228aaeec4768" /><Relationship Type="http://schemas.openxmlformats.org/officeDocument/2006/relationships/slide" Target="/ppt/slides/slide8.xml" Id="Re5e91a4985774c04" /><Relationship Type="http://schemas.openxmlformats.org/officeDocument/2006/relationships/slide" Target="/ppt/slides/slide9.xml" Id="R2b91009a54264374" /><Relationship Type="http://schemas.openxmlformats.org/officeDocument/2006/relationships/slide" Target="/ppt/slides/slide10.xml" Id="Rc668cfc2078846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8bf8ef73604f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edda0ac3084aae" /><Relationship Type="http://schemas.openxmlformats.org/officeDocument/2006/relationships/notesMaster" Target="/ppt/notesMasters/notesMaster1.xml" Id="Re2385d8eb66342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31191b8b7a429a" /><Relationship Type="http://schemas.openxmlformats.org/officeDocument/2006/relationships/notesMaster" Target="/ppt/notesMasters/notesMaster1.xml" Id="Rf8112005c5cb4d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4fb040c8b84956" /><Relationship Type="http://schemas.openxmlformats.org/officeDocument/2006/relationships/notesMaster" Target="/ppt/notesMasters/notesMaster1.xml" Id="R6980323178d04f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9b400fdd284392" /><Relationship Type="http://schemas.openxmlformats.org/officeDocument/2006/relationships/notesMaster" Target="/ppt/notesMasters/notesMaster1.xml" Id="Ra436af8f1c10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38dc7750644055" /><Relationship Type="http://schemas.openxmlformats.org/officeDocument/2006/relationships/notesMaster" Target="/ppt/notesMasters/notesMaster1.xml" Id="R8c473cefa1764d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9f33968c934f19" /><Relationship Type="http://schemas.openxmlformats.org/officeDocument/2006/relationships/notesMaster" Target="/ppt/notesMasters/notesMaster1.xml" Id="R4de0b6fa0b3540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d270e1451d4264" /><Relationship Type="http://schemas.openxmlformats.org/officeDocument/2006/relationships/notesMaster" Target="/ppt/notesMasters/notesMaster1.xml" Id="R3e9f4871e12e43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50ba8abe104544" /><Relationship Type="http://schemas.openxmlformats.org/officeDocument/2006/relationships/notesMaster" Target="/ppt/notesMasters/notesMaster1.xml" Id="R4b911dc247ae4b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ac1578324b4dee" /><Relationship Type="http://schemas.openxmlformats.org/officeDocument/2006/relationships/notesMaster" Target="/ppt/notesMasters/notesMaster1.xml" Id="Ra7743500bb8244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4858666780429a" /><Relationship Type="http://schemas.openxmlformats.org/officeDocument/2006/relationships/notesMaster" Target="/ppt/notesMasters/notesMaster1.xml" Id="R761cf6fdb4d14d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stelle die Industrial Intelligence Platform vor. Das Projekt verbindet Data Engineering, Big-Data-Verarbeitung und Predictive Maintenance in einer durchgängigen Anwendung. Die Plattform erzeugt reproduzierbare Fabrikdaten, verarbeitet eine Million Sensormessungen mit Spark und macht Risiken über eine API zugänglich. Es ist ein vollständiges Ausbildungs- und Portfolioprojekt auf synthetischen Daten, kein freigegebenes Wartungssystem.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einem Werk liegen Informationen verteilt: Stammdaten und Aufträge sind relational, Sensordaten dokumentenorientiert, Wartungen kommen aus CSV, Störungen aus JSON und technische Abhängigkeiten bilden einen Graphen. Erst zusammen mit Alter, Last, Störungen, Wartung und Komponenten entsteht eine nachvollziehbare Entscheidungsgrundlage.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Lösung musste reproduzierbare Daten bis eine Million Messungen, echte Nutzung von drei Datenbanken, einen orchestrierten ETL-Pfad, drei MLlib-Aufgaben sowie belastbare Tests und Dokumentation liefern. Fehlerhafte Messungen werden mit einem fachlichen Grund quarantänisiert.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Airflow steuert zehn fachliche Tasks. Die Qualitätsstufe trennt gültige von fehlerhaften Zeilen. Spark erzeugt Tagesmerkmale mit SQL, Joins, Fenstern und Aggregationen. MLlib trainiert Modelle, PostgreSQL speichert Resultate, Neo4j hält Kontext und FastAPI stellt alles bereit. Messreihen werden bewusst nicht als Graphknoten modelliert.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sichert strukturierte Fakten und Ergebnisse. MongoDB passt zu verschachtelten Sensordokumenten und Batch-Upserts. Neo4j beantwortet Beziehungsfragen. Im Full-Lauf stehen 50 Maschinen und 1.000 Prognosen in PostgreSQL, eine Million Sensordokumente in MongoDB sowie 270 Knoten und 400 Beziehungen in Neo4j.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DAG bildet den Ablauf in zehn Tasks ab. Große Daten werden nicht über XCom verschoben. Retries, Timeouts und ein Quality Gate sind konfiguriert. Im Full-DAG wurden 994.905 Messungen akzeptiert und 5.095 quarantänisiert. Der gesamte Lauf endete erfolgreich, einschließlich Spark, MLlib und Persistenz.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nutzt DataFrames zum Casten, Filtern und Deduplizieren, Spark SQL, Joins und Window Functions. Mit lead werden Ziele aus dem Folgetag gebildet, damit keine Zukunftsinformation im aktuellen Merkmal steckt. Aus einer Million Eingaben entstanden 994.905 gültige Messungen und 4.950 Tagesfeatures.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Klassifikation, Regression und KMeans sind als MLlib-Pipelines umgesetzt. Der Holdout ist chronologisch. Die Regression erreicht 0,521 Grad RMSE gegenüber 3,536 Grad der Baseline. Die Klassifikations-Accuracy von 0,760 darf man nicht schönreden: Die logistische Regression sagt alle Testfälle positiv voraus. Die Confusion-Matrix zeigt fehlende Trennschärfe.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zeige ich den gesunden Stack, den API-Healthcheck, Prognosen und den Airflow-Report. Der Full-Lauf hat eine Million MongoDB-Dokumente, 1.000 PostgreSQL-Prognosen und 400 Neo4j-Beziehungen nachgewiesen. M-017 hat im transparenten lokalen Baseline-Score die höchste Priorität; dieser Score ist ausdrücklich nicht das MLlib-Modell.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Projekt erfüllt die lokale technische Zielsetzung. Die wichtigste Erkenntnis: Eine funktionierende Pipeline ist nicht automatisch ein gutes Modell. Nächste Schritte sind echte Historien, validierte Labels, Kosten falscher Alarme, Registry, Drift-Monitoring, Security und Streaming. Die GitHub-Veröffentlichung wartet bewusst auf eine gültige, verifizierte CLI-Identität.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483c1df5e649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451325dc7747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417c0ca5d14c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12d7a6490345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d73de357f94f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033cf0b26840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A33B6F-6088-4B3B-B1FC-49AC1241CA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0EE06F-7EB8-4101-AEC8-402267E196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7F2E30-C6A1-458B-B2F8-7F3AAC0AAD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8A2E6A-B1B3-4BCB-A95A-20163F90F9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360307-EA34-4D73-9C60-5E97CA405F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B359E0-6078-4807-A363-89FF3C4940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34E14B-BC5D-43F6-9039-366FBB56F5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F44BE3-AB4B-4C8B-AB94-632B9EDDDC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441457-FD62-49AA-945C-E34B103B82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CD3929-5D7B-4BF5-A850-5F678A5201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b6423549564540" /><Relationship Type="http://schemas.openxmlformats.org/officeDocument/2006/relationships/slideLayout" Target="/ppt/slideLayouts/slideLayout1.xml" Id="R1fe227e698d74a08" /><Relationship Type="http://schemas.openxmlformats.org/officeDocument/2006/relationships/slideLayout" Target="/ppt/slideLayouts/slideLayout2.xml" Id="R31a6eb62b9ae4bd1" /><Relationship Type="http://schemas.openxmlformats.org/officeDocument/2006/relationships/slideLayout" Target="/ppt/slideLayouts/slideLayout3.xml" Id="R0daec2ac49164ae0" /><Relationship Type="http://schemas.openxmlformats.org/officeDocument/2006/relationships/slideLayout" Target="/ppt/slideLayouts/slideLayout4.xml" Id="Rd63f4dbd801a44af" /><Relationship Type="http://schemas.openxmlformats.org/officeDocument/2006/relationships/slideLayout" Target="/ppt/slideLayouts/slideLayout5.xml" Id="Rb50f6684c1a64043" /><Relationship Type="http://schemas.openxmlformats.org/officeDocument/2006/relationships/slideLayout" Target="/ppt/slideLayouts/slideLayout6.xml" Id="R54452554e75d4e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e227e698d74a08"/>
    <p:sldLayoutId xmlns:r="http://schemas.openxmlformats.org/officeDocument/2006/relationships" id="2147483650" r:id="R31a6eb62b9ae4bd1"/>
    <p:sldLayoutId xmlns:r="http://schemas.openxmlformats.org/officeDocument/2006/relationships" id="2147483651" r:id="R0daec2ac49164ae0"/>
    <p:sldLayoutId xmlns:r="http://schemas.openxmlformats.org/officeDocument/2006/relationships" id="2147483652" r:id="Rd63f4dbd801a44af"/>
    <p:sldLayoutId xmlns:r="http://schemas.openxmlformats.org/officeDocument/2006/relationships" id="2147483653" r:id="Rb50f6684c1a64043"/>
    <p:sldLayoutId xmlns:r="http://schemas.openxmlformats.org/officeDocument/2006/relationships" id="2147483654" r:id="R54452554e75d4e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6ac190f7f04e61" /><Relationship Type="http://schemas.openxmlformats.org/officeDocument/2006/relationships/notesSlide" Target="/ppt/notesSlides/notesSlide1.xml" Id="Rcd7f480a8a434e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1d991d61cf463b" /><Relationship Type="http://schemas.openxmlformats.org/officeDocument/2006/relationships/notesSlide" Target="/ppt/notesSlides/notesSlide2.xml" Id="Ra10bddb0bdf24c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d3173cd4c346b6" /><Relationship Type="http://schemas.openxmlformats.org/officeDocument/2006/relationships/notesSlide" Target="/ppt/notesSlides/notesSlide3.xml" Id="R64271adfb52c40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45ba3c8d384ccf" /><Relationship Type="http://schemas.openxmlformats.org/officeDocument/2006/relationships/notesSlide" Target="/ppt/notesSlides/notesSlide4.xml" Id="R82304cbc788f47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2ef4bb1d7f4204" /><Relationship Type="http://schemas.openxmlformats.org/officeDocument/2006/relationships/notesSlide" Target="/ppt/notesSlides/notesSlide5.xml" Id="R6e4d3a4f44434c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276d97e6164655" /><Relationship Type="http://schemas.openxmlformats.org/officeDocument/2006/relationships/notesSlide" Target="/ppt/notesSlides/notesSlide6.xml" Id="R80609f7cea0647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5e391874664f98" /><Relationship Type="http://schemas.openxmlformats.org/officeDocument/2006/relationships/notesSlide" Target="/ppt/notesSlides/notesSlide7.xml" Id="R232e350e85a146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a15c6577fd4f69" /><Relationship Type="http://schemas.openxmlformats.org/officeDocument/2006/relationships/chart" Target="/ppt/slides/charts/chart1.xml" Id="Reece7e416d474346" /><Relationship Type="http://schemas.openxmlformats.org/officeDocument/2006/relationships/notesSlide" Target="/ppt/notesSlides/notesSlide8.xml" Id="R4af5afc62e4d4d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293a1944df43c4" /><Relationship Type="http://schemas.openxmlformats.org/officeDocument/2006/relationships/notesSlide" Target="/ppt/notesSlides/notesSlide9.xml" Id="R057d83e3bdff45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980744c1634999" /><Relationship Type="http://schemas.openxmlformats.org/officeDocument/2006/relationships/notesSlide" Target="/ppt/notesSlides/notesSlide10.xml" Id="R4b48332d51564c18" /></Relationships>
</file>

<file path=ppt/slides/charts/chart1.xml><?xml version="1.0" encoding="utf-8"?>
<c:chartSpace xmlns:c="http://schemas.openxmlformats.org/drawingml/2006/chart">
  <c:lang val="en-US"/>
  <c:chart>
    <c:plotArea>
      <c:barChart>
        <c:barDir val="bar"/>
        <c:grouping val="clustered"/>
        <c:varyColors val="0"/>
        <c:ser>
          <c:idx val="0"/>
          <c:order val="0"/>
          <c:tx>
            <c:v>RMSE °C</c:v>
          </c:tx>
          <c:spPr>
            <a:solidFill xmlns:a="http://schemas.openxmlformats.org/drawingml/2006/main">
              <a:srgbClr val="1B7F8C"/>
            </a:solidFill>
          </c:spPr>
          <c:invertIfNegative val="0"/>
          <c:cat>
            <c:strLit>
              <c:ptCount val="2"/>
              <c:pt idx="0">
                <c:v>Lineare Regression</c:v>
              </c:pt>
              <c:pt idx="1">
                <c:v>Mittelwert-Baseline</c:v>
              </c:pt>
            </c:strLit>
          </c:cat>
          <c:val>
            <c:numLit>
              <c:formatCode>General</c:formatCode>
              <c:ptCount val="2"/>
              <c:pt idx="0">
                <c:v>0.521</c:v>
              </c:pt>
              <c:pt idx="1">
                <c:v>3.536</c:v>
              </c:pt>
            </c:numLit>
          </c:val>
        </c:ser>
        <c:dLbls>
          <c:numFmt formatCode="0.000" sourceLinked="0"/>
          <c:txPr>
            <a:bodyPr xmlns:a="http://schemas.openxmlformats.org/drawingml/2006/main" anchorCtr="1"/>
            <a:lstStyle xmlns:a="http://schemas.openxmlformats.org/drawingml/2006/main"/>
            <a:p xmlns:a="http://schemas.openxmlformats.org/drawingml/2006/main">
              <a:pPr>
                <a:defRPr sz="975" b="1">
                  <a:solidFill>
                    <a:srgbClr val="10223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36675"/>
                    </a:solidFill>
                  </a:rPr>
                  <a:t>RMSE in °C</a:t>
                </a:r>
              </a:p>
            </c:rich>
          </c:tx>
          <c:overlay val="0"/>
          <c:txPr>
            <a:bodyPr xmlns:a="http://schemas.openxmlformats.org/drawingml/2006/main" anchorCtr="1"/>
            <a:lstStyle xmlns:a="http://schemas.openxmlformats.org/drawingml/2006/main"/>
            <a:p xmlns:a="http://schemas.openxmlformats.org/drawingml/2006/main">
              <a:pPr>
                <a:defRPr sz="900">
                  <a:solidFill>
                    <a:srgbClr val="53667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67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E5E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102230"/>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7CAD68-2491-4461-AF5B-E1081C27B61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DAB0095E-67BF-48D6-816D-117910D5FE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8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51A11F-7CED-4759-8380-C98157B500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BF23BD-F6AD-46C4-95F1-3AA5F9F38885}"/>
              </a:ext>
            </a:extLst>
          </p:cNvPr>
          <p:cNvSpPr>
            <a:spLocks xmlns:a="http://schemas.openxmlformats.org/drawingml/2006/main" noGrp="1"/>
          </p:cNvSpPr>
          <p:nvPr/>
        </p:nvSpPr>
        <p:spPr>
          <a:xfrm xmlns:a="http://schemas.openxmlformats.org/drawingml/2006/main">
            <a:off x="781050" y="723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050" b="1">
                <a:solidFill>
                  <a:srgbClr val="F4A261"/>
                </a:solidFill>
                <a:latin typeface="Arial"/>
                <a:ea typeface="Arial"/>
                <a:cs typeface="Arial"/>
              </a:defRPr>
            </a:defPPr>
          </a:lstStyle>
          <a:p xmlns:a="http://schemas.openxmlformats.org/drawingml/2006/main">
            <a:pPr algn="l">
              <a:defRPr sz="1050" b="1">
                <a:solidFill>
                  <a:srgbClr val="F4A261"/>
                </a:solidFill>
                <a:latin typeface="Arial"/>
                <a:ea typeface="Arial"/>
                <a:cs typeface="Arial"/>
              </a:defRPr>
            </a:pPr>
            <a:r>
              <a:rPr sz="1050" b="1">
                <a:solidFill>
                  <a:srgbClr val="F4A261"/>
                </a:solidFill>
                <a:latin typeface="Arial"/>
                <a:ea typeface="Arial"/>
                <a:cs typeface="Arial"/>
              </a:rPr>
              <a:t>INDUSTRIAL DATA ENGINEERING · PREDICTIVE MAINTENANCE</a:t>
            </a:r>
          </a:p>
        </p:txBody>
      </p:sp>
      <p:sp>
        <p:nvSpPr>
          <p:cNvPr id="5" name="">
            <a:extLst xmlns:a="http://schemas.openxmlformats.org/drawingml/2006/main">
              <a:ext uri="{FF2B5EF4-FFF2-40B4-BE49-F238E27FC236}">
                <a16:creationId xmlns:a16="http://schemas.microsoft.com/office/drawing/2014/main" id="{8B575EF6-A7EE-4D75-A6D6-31BA301773C7}"/>
              </a:ext>
            </a:extLst>
          </p:cNvPr>
          <p:cNvSpPr>
            <a:spLocks xmlns:a="http://schemas.openxmlformats.org/drawingml/2006/main" noGrp="1"/>
          </p:cNvSpPr>
          <p:nvPr/>
        </p:nvSpPr>
        <p:spPr>
          <a:xfrm xmlns:a="http://schemas.openxmlformats.org/drawingml/2006/main">
            <a:off x="781050" y="1409700"/>
            <a:ext cx="6572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275" b="1">
                <a:solidFill>
                  <a:srgbClr val="FFFFFF"/>
                </a:solidFill>
                <a:latin typeface="Arial"/>
                <a:ea typeface="Arial"/>
                <a:cs typeface="Arial"/>
              </a:defRPr>
            </a:defPPr>
          </a:lstStyle>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Industrial</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Intelligence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Platform</a:t>
            </a:r>
          </a:p>
        </p:txBody>
      </p:sp>
      <p:sp>
        <p:nvSpPr>
          <p:cNvPr id="6" name="">
            <a:extLst xmlns:a="http://schemas.openxmlformats.org/drawingml/2006/main">
              <a:ext uri="{FF2B5EF4-FFF2-40B4-BE49-F238E27FC236}">
                <a16:creationId xmlns:a16="http://schemas.microsoft.com/office/drawing/2014/main" id="{93A96041-407D-47D9-8A92-6F89BAEE873C}"/>
              </a:ext>
            </a:extLst>
          </p:cNvPr>
          <p:cNvSpPr>
            <a:spLocks xmlns:a="http://schemas.openxmlformats.org/drawingml/2006/main" noGrp="1"/>
          </p:cNvSpPr>
          <p:nvPr/>
        </p:nvSpPr>
        <p:spPr>
          <a:xfrm xmlns:a="http://schemas.openxmlformats.org/drawingml/2006/main">
            <a:off x="819150" y="3905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800" b="0">
                <a:solidFill>
                  <a:srgbClr val="C7D4DA"/>
                </a:solidFill>
                <a:latin typeface="Arial"/>
                <a:ea typeface="Arial"/>
                <a:cs typeface="Arial"/>
              </a:defRPr>
            </a:defPPr>
          </a:lstStyle>
          <a:p xmlns:a="http://schemas.openxmlformats.org/drawingml/2006/main">
            <a:pPr algn="l">
              <a:defRPr sz="1800" b="0">
                <a:solidFill>
                  <a:srgbClr val="C7D4DA"/>
                </a:solidFill>
                <a:latin typeface="Arial"/>
                <a:ea typeface="Arial"/>
                <a:cs typeface="Arial"/>
              </a:defRPr>
            </a:pPr>
            <a:r>
              <a:rPr sz="1800" b="0">
                <a:solidFill>
                  <a:srgbClr val="C7D4DA"/>
                </a:solidFill>
                <a:latin typeface="Arial"/>
                <a:ea typeface="Arial"/>
                <a:cs typeface="Arial"/>
              </a:rPr>
              <a:t>Von heterogenen Fabrikdaten zur nachvollziehbaren Wartungspriorität</a:t>
            </a:r>
          </a:p>
        </p:txBody>
      </p:sp>
      <p:sp>
        <p:nvSpPr>
          <p:cNvPr id="7" name="">
            <a:extLst xmlns:a="http://schemas.openxmlformats.org/drawingml/2006/main">
              <a:ext uri="{FF2B5EF4-FFF2-40B4-BE49-F238E27FC236}">
                <a16:creationId xmlns:a16="http://schemas.microsoft.com/office/drawing/2014/main" id="{6A0CDA9D-F3C0-47DE-BBA8-1090A8EC3283}"/>
              </a:ext>
            </a:extLst>
          </p:cNvPr>
          <p:cNvSpPr>
            <a:spLocks xmlns:a="http://schemas.openxmlformats.org/drawingml/2006/main" noGrp="1"/>
          </p:cNvSpPr>
          <p:nvPr/>
        </p:nvSpPr>
        <p:spPr>
          <a:xfrm xmlns:a="http://schemas.openxmlformats.org/drawingml/2006/main">
            <a:off x="7924800" y="1028700"/>
            <a:ext cx="2990850" cy="3981450"/>
          </a:xfrm>
          <a:prstGeom xmlns:a="http://schemas.openxmlformats.org/drawingml/2006/main" prst="roundRect">
            <a:avLst>
              <a:gd name="adj" fmla="val 3822"/>
            </a:avLst>
          </a:prstGeom>
          <a:solidFill xmlns:a="http://schemas.openxmlformats.org/drawingml/2006/main">
            <a:srgbClr val="102B38"/>
          </a:solidFill>
          <a:ln xmlns:a="http://schemas.openxmlformats.org/drawingml/2006/main" w="9525">
            <a:solidFill>
              <a:srgbClr val="31505D"/>
            </a:solidFill>
            <a:prstDash val="solid"/>
          </a:ln>
        </p:spPr>
      </p:sp>
      <p:sp>
        <p:nvSpPr>
          <p:cNvPr id="8" name="">
            <a:extLst xmlns:a="http://schemas.openxmlformats.org/drawingml/2006/main">
              <a:ext uri="{FF2B5EF4-FFF2-40B4-BE49-F238E27FC236}">
                <a16:creationId xmlns:a16="http://schemas.microsoft.com/office/drawing/2014/main" id="{3221F73A-895E-459D-8ECA-1206A759172B}"/>
              </a:ext>
            </a:extLst>
          </p:cNvPr>
          <p:cNvSpPr>
            <a:spLocks xmlns:a="http://schemas.openxmlformats.org/drawingml/2006/main" noGrp="1"/>
          </p:cNvSpPr>
          <p:nvPr/>
        </p:nvSpPr>
        <p:spPr>
          <a:xfrm xmlns:a="http://schemas.openxmlformats.org/drawingml/2006/main">
            <a:off x="8334375" y="1524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1.000.000</a:t>
            </a:r>
          </a:p>
        </p:txBody>
      </p:sp>
      <p:sp>
        <p:nvSpPr>
          <p:cNvPr id="9" name="">
            <a:extLst xmlns:a="http://schemas.openxmlformats.org/drawingml/2006/main">
              <a:ext uri="{FF2B5EF4-FFF2-40B4-BE49-F238E27FC236}">
                <a16:creationId xmlns:a16="http://schemas.microsoft.com/office/drawing/2014/main" id="{CC187468-8346-425E-90B0-3C29962DF7C4}"/>
              </a:ext>
            </a:extLst>
          </p:cNvPr>
          <p:cNvSpPr>
            <a:spLocks xmlns:a="http://schemas.openxmlformats.org/drawingml/2006/main" noGrp="1"/>
          </p:cNvSpPr>
          <p:nvPr/>
        </p:nvSpPr>
        <p:spPr>
          <a:xfrm xmlns:a="http://schemas.openxmlformats.org/drawingml/2006/main">
            <a:off x="8334375"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ctr">
              <a:defRPr sz="1275" b="0">
                <a:solidFill>
                  <a:srgbClr val="B8C8D0"/>
                </a:solidFill>
                <a:latin typeface="Arial"/>
                <a:ea typeface="Arial"/>
                <a:cs typeface="Arial"/>
              </a:defRPr>
            </a:defPPr>
          </a:lstStyle>
          <a:p xmlns:a="http://schemas.openxmlformats.org/drawingml/2006/main">
            <a:pPr algn="ctr">
              <a:defRPr sz="1275" b="0">
                <a:solidFill>
                  <a:srgbClr val="B8C8D0"/>
                </a:solidFill>
                <a:latin typeface="Arial"/>
                <a:ea typeface="Arial"/>
                <a:cs typeface="Arial"/>
              </a:defRPr>
            </a:pPr>
            <a:r>
              <a:rPr sz="1275" b="0">
                <a:solidFill>
                  <a:srgbClr val="B8C8D0"/>
                </a:solidFill>
                <a:latin typeface="Arial"/>
                <a:ea typeface="Arial"/>
                <a:cs typeface="Arial"/>
              </a:rPr>
              <a:t>Sensormessungen</a:t>
            </a:r>
          </a:p>
        </p:txBody>
      </p:sp>
      <p:sp>
        <p:nvSpPr>
          <p:cNvPr id="10" name="">
            <a:extLst xmlns:a="http://schemas.openxmlformats.org/drawingml/2006/main">
              <a:ext uri="{FF2B5EF4-FFF2-40B4-BE49-F238E27FC236}">
                <a16:creationId xmlns:a16="http://schemas.microsoft.com/office/drawing/2014/main" id="{4FD7802D-DE7D-4DA6-948B-C2FF2A29546F}"/>
              </a:ext>
            </a:extLst>
          </p:cNvPr>
          <p:cNvSpPr>
            <a:spLocks xmlns:a="http://schemas.openxmlformats.org/drawingml/2006/main" noGrp="1"/>
          </p:cNvSpPr>
          <p:nvPr/>
        </p:nvSpPr>
        <p:spPr>
          <a:xfrm xmlns:a="http://schemas.openxmlformats.org/drawingml/2006/main">
            <a:off x="8401050" y="2762250"/>
            <a:ext cx="2057400" cy="19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31619E-D225-4CBA-AC1A-73E5AAABFC76}"/>
              </a:ext>
            </a:extLst>
          </p:cNvPr>
          <p:cNvSpPr>
            <a:spLocks xmlns:a="http://schemas.openxmlformats.org/drawingml/2006/main" noGrp="1"/>
          </p:cNvSpPr>
          <p:nvPr/>
        </p:nvSpPr>
        <p:spPr>
          <a:xfrm xmlns:a="http://schemas.openxmlformats.org/drawingml/2006/main">
            <a:off x="8286750" y="3067050"/>
            <a:ext cx="2286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PostgreSQL</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MongoDB</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Neo4j</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Airflow · Spark · MLlib</a:t>
            </a:r>
          </a:p>
        </p:txBody>
      </p:sp>
      <p:sp>
        <p:nvSpPr>
          <p:cNvPr id="12" name="">
            <a:extLst xmlns:a="http://schemas.openxmlformats.org/drawingml/2006/main">
              <a:ext uri="{FF2B5EF4-FFF2-40B4-BE49-F238E27FC236}">
                <a16:creationId xmlns:a16="http://schemas.microsoft.com/office/drawing/2014/main" id="{BCC3E9A5-022C-4E9B-BEB5-80F00353AEB8}"/>
              </a:ext>
            </a:extLst>
          </p:cNvPr>
          <p:cNvSpPr>
            <a:spLocks xmlns:a="http://schemas.openxmlformats.org/drawingml/2006/main" noGrp="1"/>
          </p:cNvSpPr>
          <p:nvPr/>
        </p:nvSpPr>
        <p:spPr>
          <a:xfrm xmlns:a="http://schemas.openxmlformats.org/drawingml/2006/main">
            <a:off x="8001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0">
                <a:solidFill>
                  <a:srgbClr val="92A7B2"/>
                </a:solidFill>
                <a:latin typeface="Arial"/>
                <a:ea typeface="Arial"/>
                <a:cs typeface="Arial"/>
              </a:defRPr>
            </a:defPPr>
          </a:lstStyle>
          <a:p xmlns:a="http://schemas.openxmlformats.org/drawingml/2006/main">
            <a:pPr algn="l">
              <a:defRPr sz="1125" b="0">
                <a:solidFill>
                  <a:srgbClr val="92A7B2"/>
                </a:solidFill>
                <a:latin typeface="Arial"/>
                <a:ea typeface="Arial"/>
                <a:cs typeface="Arial"/>
              </a:defRPr>
            </a:pPr>
            <a:r>
              <a:rPr sz="1125" b="0">
                <a:solidFill>
                  <a:srgbClr val="92A7B2"/>
                </a:solidFill>
                <a:latin typeface="Arial"/>
                <a:ea typeface="Arial"/>
                <a:cs typeface="Arial"/>
              </a:rPr>
              <a:t>AI Engineer Abschlussprojekt · 2026</a:t>
            </a:r>
          </a:p>
        </p:txBody>
      </p:sp>
    </p:spTree>
    <p:extLst>
      <p:ext uri="{BB962C8B-B14F-4D97-AF65-F5344CB8AC3E}">
        <p14:creationId xmlns:p14="http://schemas.microsoft.com/office/powerpoint/2010/main" val="438035878"/>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1A6756C-A55A-481C-BED3-CC5BEC2AB7CB}"/>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INDUSTRIELLES PROBLEM</a:t>
            </a:r>
          </a:p>
        </p:txBody>
      </p:sp>
      <p:sp>
        <p:nvSpPr>
          <p:cNvPr id="2" name="">
            <a:extLst xmlns:a="http://schemas.openxmlformats.org/drawingml/2006/main">
              <a:ext uri="{FF2B5EF4-FFF2-40B4-BE49-F238E27FC236}">
                <a16:creationId xmlns:a16="http://schemas.microsoft.com/office/drawing/2014/main" id="{0DB0B55D-8721-43CA-BFAB-23D75B084A9D}"/>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Verteilte Daten verhindern gemeinsame Entscheidungen</a:t>
            </a:r>
          </a:p>
        </p:txBody>
      </p:sp>
      <p:sp>
        <p:nvSpPr>
          <p:cNvPr id="3" name="">
            <a:extLst xmlns:a="http://schemas.openxmlformats.org/drawingml/2006/main">
              <a:ext uri="{FF2B5EF4-FFF2-40B4-BE49-F238E27FC236}">
                <a16:creationId xmlns:a16="http://schemas.microsoft.com/office/drawing/2014/main" id="{F9A2C4B4-DDBC-445C-BB16-F6C32020250B}"/>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FFDC9-0C7C-4880-A5CD-037470A63FB4}"/>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F6B4A05-17AF-467B-9CFD-255DADF9A67B}"/>
              </a:ext>
            </a:extLst>
          </p:cNvPr>
          <p:cNvSpPr>
            <a:spLocks xmlns:a="http://schemas.openxmlformats.org/drawingml/2006/main" noGrp="1"/>
          </p:cNvSpPr>
          <p:nvPr/>
        </p:nvSpPr>
        <p:spPr>
          <a:xfrm xmlns:a="http://schemas.openxmlformats.org/drawingml/2006/main">
            <a:off x="723900" y="158115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02AF885B-DFE8-4742-9203-1662ECFF8D3D}"/>
              </a:ext>
            </a:extLst>
          </p:cNvPr>
          <p:cNvSpPr>
            <a:spLocks xmlns:a="http://schemas.openxmlformats.org/drawingml/2006/main" noGrp="1"/>
          </p:cNvSpPr>
          <p:nvPr/>
        </p:nvSpPr>
        <p:spPr>
          <a:xfrm xmlns:a="http://schemas.openxmlformats.org/drawingml/2006/main">
            <a:off x="9525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Stammdaten &amp; Aufträge</a:t>
            </a:r>
          </a:p>
        </p:txBody>
      </p:sp>
      <p:sp>
        <p:nvSpPr>
          <p:cNvPr id="7" name="">
            <a:extLst xmlns:a="http://schemas.openxmlformats.org/drawingml/2006/main">
              <a:ext uri="{FF2B5EF4-FFF2-40B4-BE49-F238E27FC236}">
                <a16:creationId xmlns:a16="http://schemas.microsoft.com/office/drawing/2014/main" id="{A28A4B28-BBF5-4A3C-97B3-8340C6BE2798}"/>
              </a:ext>
            </a:extLst>
          </p:cNvPr>
          <p:cNvSpPr>
            <a:spLocks xmlns:a="http://schemas.openxmlformats.org/drawingml/2006/main" noGrp="1"/>
          </p:cNvSpPr>
          <p:nvPr/>
        </p:nvSpPr>
        <p:spPr>
          <a:xfrm xmlns:a="http://schemas.openxmlformats.org/drawingml/2006/main">
            <a:off x="952500" y="2009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relational</a:t>
            </a:r>
          </a:p>
        </p:txBody>
      </p:sp>
      <p:sp>
        <p:nvSpPr>
          <p:cNvPr id="8" name="">
            <a:extLst xmlns:a="http://schemas.openxmlformats.org/drawingml/2006/main">
              <a:ext uri="{FF2B5EF4-FFF2-40B4-BE49-F238E27FC236}">
                <a16:creationId xmlns:a16="http://schemas.microsoft.com/office/drawing/2014/main" id="{9C1D0FFA-78E4-4A02-A8D9-1D7970EC220D}"/>
              </a:ext>
            </a:extLst>
          </p:cNvPr>
          <p:cNvSpPr>
            <a:spLocks xmlns:a="http://schemas.openxmlformats.org/drawingml/2006/main" noGrp="1"/>
          </p:cNvSpPr>
          <p:nvPr/>
        </p:nvSpPr>
        <p:spPr>
          <a:xfrm xmlns:a="http://schemas.openxmlformats.org/drawingml/2006/main">
            <a:off x="723900" y="258127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9" name="">
            <a:extLst xmlns:a="http://schemas.openxmlformats.org/drawingml/2006/main">
              <a:ext uri="{FF2B5EF4-FFF2-40B4-BE49-F238E27FC236}">
                <a16:creationId xmlns:a16="http://schemas.microsoft.com/office/drawing/2014/main" id="{475972BE-AD6A-4C38-8E67-0D6274F7CA81}"/>
              </a:ext>
            </a:extLst>
          </p:cNvPr>
          <p:cNvSpPr>
            <a:spLocks xmlns:a="http://schemas.openxmlformats.org/drawingml/2006/main" noGrp="1"/>
          </p:cNvSpPr>
          <p:nvPr/>
        </p:nvSpPr>
        <p:spPr>
          <a:xfrm xmlns:a="http://schemas.openxmlformats.org/drawingml/2006/main">
            <a:off x="952500" y="2714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Sensorströme</a:t>
            </a:r>
          </a:p>
        </p:txBody>
      </p:sp>
      <p:sp>
        <p:nvSpPr>
          <p:cNvPr id="10" name="">
            <a:extLst xmlns:a="http://schemas.openxmlformats.org/drawingml/2006/main">
              <a:ext uri="{FF2B5EF4-FFF2-40B4-BE49-F238E27FC236}">
                <a16:creationId xmlns:a16="http://schemas.microsoft.com/office/drawing/2014/main" id="{7B21CE66-5368-47EE-BE4B-C419653CF116}"/>
              </a:ext>
            </a:extLst>
          </p:cNvPr>
          <p:cNvSpPr>
            <a:spLocks xmlns:a="http://schemas.openxmlformats.org/drawingml/2006/main" noGrp="1"/>
          </p:cNvSpPr>
          <p:nvPr/>
        </p:nvSpPr>
        <p:spPr>
          <a:xfrm xmlns:a="http://schemas.openxmlformats.org/drawingml/2006/main">
            <a:off x="952500" y="3009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verschachtelt</a:t>
            </a:r>
          </a:p>
        </p:txBody>
      </p:sp>
      <p:sp>
        <p:nvSpPr>
          <p:cNvPr id="11" name="">
            <a:extLst xmlns:a="http://schemas.openxmlformats.org/drawingml/2006/main">
              <a:ext uri="{FF2B5EF4-FFF2-40B4-BE49-F238E27FC236}">
                <a16:creationId xmlns:a16="http://schemas.microsoft.com/office/drawing/2014/main" id="{2E243CF0-94C2-41D4-8AF8-5EB42B244A40}"/>
              </a:ext>
            </a:extLst>
          </p:cNvPr>
          <p:cNvSpPr>
            <a:spLocks xmlns:a="http://schemas.openxmlformats.org/drawingml/2006/main" noGrp="1"/>
          </p:cNvSpPr>
          <p:nvPr/>
        </p:nvSpPr>
        <p:spPr>
          <a:xfrm xmlns:a="http://schemas.openxmlformats.org/drawingml/2006/main">
            <a:off x="723900" y="358140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95478A5F-044D-427D-9F24-E8DBABFE028F}"/>
              </a:ext>
            </a:extLst>
          </p:cNvPr>
          <p:cNvSpPr>
            <a:spLocks xmlns:a="http://schemas.openxmlformats.org/drawingml/2006/main" noGrp="1"/>
          </p:cNvSpPr>
          <p:nvPr/>
        </p:nvSpPr>
        <p:spPr>
          <a:xfrm xmlns:a="http://schemas.openxmlformats.org/drawingml/2006/main">
            <a:off x="952500" y="3714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Wartung &amp; Störung</a:t>
            </a:r>
          </a:p>
        </p:txBody>
      </p:sp>
      <p:sp>
        <p:nvSpPr>
          <p:cNvPr id="13" name="">
            <a:extLst xmlns:a="http://schemas.openxmlformats.org/drawingml/2006/main">
              <a:ext uri="{FF2B5EF4-FFF2-40B4-BE49-F238E27FC236}">
                <a16:creationId xmlns:a16="http://schemas.microsoft.com/office/drawing/2014/main" id="{AA81655D-5D06-4C3F-9FFC-5E78E9BB10EA}"/>
              </a:ext>
            </a:extLst>
          </p:cNvPr>
          <p:cNvSpPr>
            <a:spLocks xmlns:a="http://schemas.openxmlformats.org/drawingml/2006/main" noGrp="1"/>
          </p:cNvSpPr>
          <p:nvPr/>
        </p:nvSpPr>
        <p:spPr>
          <a:xfrm xmlns:a="http://schemas.openxmlformats.org/drawingml/2006/main">
            <a:off x="952500" y="40100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CSV / JSON</a:t>
            </a:r>
          </a:p>
        </p:txBody>
      </p:sp>
      <p:sp>
        <p:nvSpPr>
          <p:cNvPr id="14" name="">
            <a:extLst xmlns:a="http://schemas.openxmlformats.org/drawingml/2006/main">
              <a:ext uri="{FF2B5EF4-FFF2-40B4-BE49-F238E27FC236}">
                <a16:creationId xmlns:a16="http://schemas.microsoft.com/office/drawing/2014/main" id="{EF538F20-F265-48A3-9BEC-CDA69D1E7F3E}"/>
              </a:ext>
            </a:extLst>
          </p:cNvPr>
          <p:cNvSpPr>
            <a:spLocks xmlns:a="http://schemas.openxmlformats.org/drawingml/2006/main" noGrp="1"/>
          </p:cNvSpPr>
          <p:nvPr/>
        </p:nvSpPr>
        <p:spPr>
          <a:xfrm xmlns:a="http://schemas.openxmlformats.org/drawingml/2006/main">
            <a:off x="723900" y="458152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5" name="">
            <a:extLst xmlns:a="http://schemas.openxmlformats.org/drawingml/2006/main">
              <a:ext uri="{FF2B5EF4-FFF2-40B4-BE49-F238E27FC236}">
                <a16:creationId xmlns:a16="http://schemas.microsoft.com/office/drawing/2014/main" id="{7B142ADC-E596-478F-BC0D-19C0062C8ECB}"/>
              </a:ext>
            </a:extLst>
          </p:cNvPr>
          <p:cNvSpPr>
            <a:spLocks xmlns:a="http://schemas.openxmlformats.org/drawingml/2006/main" noGrp="1"/>
          </p:cNvSpPr>
          <p:nvPr/>
        </p:nvSpPr>
        <p:spPr>
          <a:xfrm xmlns:a="http://schemas.openxmlformats.org/drawingml/2006/main">
            <a:off x="9525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defRPr sz="1425" b="1">
                <a:solidFill>
                  <a:srgbClr val="102230"/>
                </a:solidFill>
                <a:latin typeface="Arial"/>
                <a:ea typeface="Arial"/>
                <a:cs typeface="Arial"/>
              </a:defRPr>
            </a:pPr>
            <a:r>
              <a:rPr sz="1425" b="1">
                <a:solidFill>
                  <a:srgbClr val="102230"/>
                </a:solidFill>
                <a:latin typeface="Arial"/>
                <a:ea typeface="Arial"/>
                <a:cs typeface="Arial"/>
              </a:rPr>
              <a:t>Anlagenstruktur</a:t>
            </a:r>
          </a:p>
        </p:txBody>
      </p:sp>
      <p:sp>
        <p:nvSpPr>
          <p:cNvPr id="16" name="">
            <a:extLst xmlns:a="http://schemas.openxmlformats.org/drawingml/2006/main">
              <a:ext uri="{FF2B5EF4-FFF2-40B4-BE49-F238E27FC236}">
                <a16:creationId xmlns:a16="http://schemas.microsoft.com/office/drawing/2014/main" id="{CB01A364-D855-49E8-BE85-CD18F71BE082}"/>
              </a:ext>
            </a:extLst>
          </p:cNvPr>
          <p:cNvSpPr>
            <a:spLocks xmlns:a="http://schemas.openxmlformats.org/drawingml/2006/main" noGrp="1"/>
          </p:cNvSpPr>
          <p:nvPr/>
        </p:nvSpPr>
        <p:spPr>
          <a:xfrm xmlns:a="http://schemas.openxmlformats.org/drawingml/2006/main">
            <a:off x="952500" y="5010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defRPr sz="975" b="0">
                <a:solidFill>
                  <a:srgbClr val="536675"/>
                </a:solidFill>
                <a:latin typeface="Arial"/>
                <a:ea typeface="Arial"/>
                <a:cs typeface="Arial"/>
              </a:defRPr>
            </a:pPr>
            <a:r>
              <a:rPr sz="975" b="0">
                <a:solidFill>
                  <a:srgbClr val="536675"/>
                </a:solidFill>
                <a:latin typeface="Arial"/>
                <a:ea typeface="Arial"/>
                <a:cs typeface="Arial"/>
              </a:rPr>
              <a:t>Graph</a:t>
            </a:r>
          </a:p>
        </p:txBody>
      </p:sp>
      <p:sp>
        <p:nvSpPr>
          <p:cNvPr id="17" name="">
            <a:extLst xmlns:a="http://schemas.openxmlformats.org/drawingml/2006/main">
              <a:ext uri="{FF2B5EF4-FFF2-40B4-BE49-F238E27FC236}">
                <a16:creationId xmlns:a16="http://schemas.microsoft.com/office/drawing/2014/main" id="{D45EEA2D-391D-4E7B-87E8-0A64D6382E23}"/>
              </a:ext>
            </a:extLst>
          </p:cNvPr>
          <p:cNvSpPr>
            <a:spLocks xmlns:a="http://schemas.openxmlformats.org/drawingml/2006/main" noGrp="1"/>
          </p:cNvSpPr>
          <p:nvPr/>
        </p:nvSpPr>
        <p:spPr>
          <a:xfrm xmlns:a="http://schemas.openxmlformats.org/drawingml/2006/main">
            <a:off x="4191000" y="3095625"/>
            <a:ext cx="7429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5A0E35EB-40C1-4C49-9A0E-D35F2FE1C56E}"/>
              </a:ext>
            </a:extLst>
          </p:cNvPr>
          <p:cNvSpPr>
            <a:spLocks xmlns:a="http://schemas.openxmlformats.org/drawingml/2006/main" noGrp="1"/>
          </p:cNvSpPr>
          <p:nvPr/>
        </p:nvSpPr>
        <p:spPr>
          <a:xfrm xmlns:a="http://schemas.openxmlformats.org/drawingml/2006/main">
            <a:off x="5219700" y="1771650"/>
            <a:ext cx="5810250" cy="3143250"/>
          </a:xfrm>
          <a:prstGeom xmlns:a="http://schemas.openxmlformats.org/drawingml/2006/main" prst="roundRect">
            <a:avLst>
              <a:gd name="adj" fmla="val 3636"/>
            </a:avLst>
          </a:prstGeom>
          <a:solidFill xmlns:a="http://schemas.openxmlformats.org/drawingml/2006/main">
            <a:srgbClr val="0A1822"/>
          </a:solidFill>
          <a:ln xmlns:a="http://schemas.openxmlformats.org/drawingml/2006/main" w="9525">
            <a:solidFill>
              <a:srgbClr val="0A1822"/>
            </a:solidFill>
            <a:prstDash val="solid"/>
          </a:ln>
        </p:spPr>
      </p:sp>
      <p:sp>
        <p:nvSpPr>
          <p:cNvPr id="19" name="">
            <a:extLst xmlns:a="http://schemas.openxmlformats.org/drawingml/2006/main">
              <a:ext uri="{FF2B5EF4-FFF2-40B4-BE49-F238E27FC236}">
                <a16:creationId xmlns:a16="http://schemas.microsoft.com/office/drawing/2014/main" id="{99C8B1C5-4843-4AA2-9F29-E053740B01F4}"/>
              </a:ext>
            </a:extLst>
          </p:cNvPr>
          <p:cNvSpPr>
            <a:spLocks xmlns:a="http://schemas.openxmlformats.org/drawingml/2006/main" noGrp="1"/>
          </p:cNvSpPr>
          <p:nvPr/>
        </p:nvSpPr>
        <p:spPr>
          <a:xfrm xmlns:a="http://schemas.openxmlformats.org/drawingml/2006/main">
            <a:off x="5600700" y="21526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Ohne gemeinsamen Kontext</a:t>
            </a:r>
          </a:p>
        </p:txBody>
      </p:sp>
      <p:sp>
        <p:nvSpPr>
          <p:cNvPr id="20" name="">
            <a:extLst xmlns:a="http://schemas.openxmlformats.org/drawingml/2006/main">
              <a:ext uri="{FF2B5EF4-FFF2-40B4-BE49-F238E27FC236}">
                <a16:creationId xmlns:a16="http://schemas.microsoft.com/office/drawing/2014/main" id="{CFA15C53-3294-42BC-B7F6-0D826214BAF4}"/>
              </a:ext>
            </a:extLst>
          </p:cNvPr>
          <p:cNvSpPr>
            <a:spLocks xmlns:a="http://schemas.openxmlformats.org/drawingml/2006/main" noGrp="1"/>
          </p:cNvSpPr>
          <p:nvPr/>
        </p:nvSpPr>
        <p:spPr>
          <a:xfrm xmlns:a="http://schemas.openxmlformats.org/drawingml/2006/main">
            <a:off x="5638800" y="28003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650">
                <a:solidFill>
                  <a:srgbClr val="DCE7EB"/>
                </a:solidFill>
                <a:latin typeface="Arial"/>
                <a:ea typeface="Arial"/>
                <a:cs typeface="Arial"/>
              </a:defRPr>
            </a:defPPr>
          </a:lstStyle>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keine belastbare Wartungspriorität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auffällige Werte ohne Maschinenkontext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technische Abhängigkeiten bleiben unsichtbar</a:t>
            </a:r>
          </a:p>
        </p:txBody>
      </p:sp>
      <p:sp>
        <p:nvSpPr>
          <p:cNvPr id="21" name="">
            <a:extLst xmlns:a="http://schemas.openxmlformats.org/drawingml/2006/main">
              <a:ext uri="{FF2B5EF4-FFF2-40B4-BE49-F238E27FC236}">
                <a16:creationId xmlns:a16="http://schemas.microsoft.com/office/drawing/2014/main" id="{A70A3D71-626D-4546-BECB-E553C09958C9}"/>
              </a:ext>
            </a:extLst>
          </p:cNvPr>
          <p:cNvSpPr>
            <a:spLocks xmlns:a="http://schemas.openxmlformats.org/drawingml/2006/main" noGrp="1"/>
          </p:cNvSpPr>
          <p:nvPr/>
        </p:nvSpPr>
        <p:spPr>
          <a:xfrm xmlns:a="http://schemas.openxmlformats.org/drawingml/2006/main">
            <a:off x="5257800" y="52006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897"/>
          </a:bodyPr>
          <a:lstStyle xmlns:a="http://schemas.openxmlformats.org/drawingml/2006/main">
            <a:defPPr algn="ctr">
              <a:defRPr sz="1500" b="1">
                <a:solidFill>
                  <a:srgbClr val="0F4C5C"/>
                </a:solidFill>
                <a:latin typeface="Arial"/>
                <a:ea typeface="Arial"/>
                <a:cs typeface="Arial"/>
              </a:defRPr>
            </a:defPPr>
          </a:lstStyle>
          <a:p xmlns:a="http://schemas.openxmlformats.org/drawingml/2006/main">
            <a:pPr algn="ctr">
              <a:defRPr sz="1500" b="1">
                <a:solidFill>
                  <a:srgbClr val="0F4C5C"/>
                </a:solidFill>
                <a:latin typeface="Arial"/>
                <a:ea typeface="Arial"/>
                <a:cs typeface="Arial"/>
              </a:defRPr>
            </a:pPr>
            <a:r>
              <a:rPr sz="1500" b="1">
                <a:solidFill>
                  <a:srgbClr val="0F4C5C"/>
                </a:solidFill>
                <a:latin typeface="Arial"/>
                <a:ea typeface="Arial"/>
                <a:cs typeface="Arial"/>
              </a:rPr>
              <a:t>Ziel: Signale + Historie + Struktur in einer Entscheidungskette</a:t>
            </a:r>
          </a:p>
        </p:txBody>
      </p:sp>
    </p:spTree>
    <p:extLst>
      <p:ext uri="{BB962C8B-B14F-4D97-AF65-F5344CB8AC3E}">
        <p14:creationId xmlns:p14="http://schemas.microsoft.com/office/powerpoint/2010/main" val="1870459986"/>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E42DD88-68E9-46CB-BCE3-8632D66525D3}"/>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ZIELE &amp; ANFORDERUNGEN</a:t>
            </a:r>
          </a:p>
        </p:txBody>
      </p:sp>
      <p:sp>
        <p:nvSpPr>
          <p:cNvPr id="2" name="">
            <a:extLst xmlns:a="http://schemas.openxmlformats.org/drawingml/2006/main">
              <a:ext uri="{FF2B5EF4-FFF2-40B4-BE49-F238E27FC236}">
                <a16:creationId xmlns:a16="http://schemas.microsoft.com/office/drawing/2014/main" id="{EB02A7E7-113A-4995-B272-CC03A6A3D8D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Messbar, reproduzierbar, integrierbar</a:t>
            </a:r>
          </a:p>
        </p:txBody>
      </p:sp>
      <p:sp>
        <p:nvSpPr>
          <p:cNvPr id="3" name="">
            <a:extLst xmlns:a="http://schemas.openxmlformats.org/drawingml/2006/main">
              <a:ext uri="{FF2B5EF4-FFF2-40B4-BE49-F238E27FC236}">
                <a16:creationId xmlns:a16="http://schemas.microsoft.com/office/drawing/2014/main" id="{019DFA60-FCD1-40ED-8F42-A80ECB1BFD01}"/>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7255CE-A0A0-4E51-8304-72EA5EEBE95A}"/>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E63585E-FD37-45EE-8656-4DEDBCD513C6}"/>
              </a:ext>
            </a:extLst>
          </p:cNvPr>
          <p:cNvSpPr>
            <a:spLocks xmlns:a="http://schemas.openxmlformats.org/drawingml/2006/main" noGrp="1"/>
          </p:cNvSpPr>
          <p:nvPr/>
        </p:nvSpPr>
        <p:spPr>
          <a:xfrm xmlns:a="http://schemas.openxmlformats.org/drawingml/2006/main">
            <a:off x="6667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48E714C2-D854-4160-9C78-6B7EB8F328B5}"/>
              </a:ext>
            </a:extLst>
          </p:cNvPr>
          <p:cNvSpPr>
            <a:spLocks xmlns:a="http://schemas.openxmlformats.org/drawingml/2006/main" noGrp="1"/>
          </p:cNvSpPr>
          <p:nvPr/>
        </p:nvSpPr>
        <p:spPr>
          <a:xfrm xmlns:a="http://schemas.openxmlformats.org/drawingml/2006/main">
            <a:off x="8763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04E73E5-7E24-4A73-BAAB-13CFA41FA7AE}"/>
              </a:ext>
            </a:extLst>
          </p:cNvPr>
          <p:cNvSpPr>
            <a:spLocks xmlns:a="http://schemas.openxmlformats.org/drawingml/2006/main" noGrp="1"/>
          </p:cNvSpPr>
          <p:nvPr/>
        </p:nvSpPr>
        <p:spPr>
          <a:xfrm xmlns:a="http://schemas.openxmlformats.org/drawingml/2006/main">
            <a:off x="8763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Daten</a:t>
            </a:r>
          </a:p>
        </p:txBody>
      </p:sp>
      <p:sp>
        <p:nvSpPr>
          <p:cNvPr id="8" name="">
            <a:extLst xmlns:a="http://schemas.openxmlformats.org/drawingml/2006/main">
              <a:ext uri="{FF2B5EF4-FFF2-40B4-BE49-F238E27FC236}">
                <a16:creationId xmlns:a16="http://schemas.microsoft.com/office/drawing/2014/main" id="{4FD32B50-FCDD-4353-BD10-094E217AFF6B}"/>
              </a:ext>
            </a:extLst>
          </p:cNvPr>
          <p:cNvSpPr>
            <a:spLocks xmlns:a="http://schemas.openxmlformats.org/drawingml/2006/main" noGrp="1"/>
          </p:cNvSpPr>
          <p:nvPr/>
        </p:nvSpPr>
        <p:spPr>
          <a:xfrm xmlns:a="http://schemas.openxmlformats.org/drawingml/2006/main">
            <a:off x="8763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4B6AE98-489D-48BA-89BB-4A3070EFA04A}"/>
              </a:ext>
            </a:extLst>
          </p:cNvPr>
          <p:cNvSpPr>
            <a:spLocks xmlns:a="http://schemas.openxmlformats.org/drawingml/2006/main" noGrp="1"/>
          </p:cNvSpPr>
          <p:nvPr/>
        </p:nvSpPr>
        <p:spPr>
          <a:xfrm xmlns:a="http://schemas.openxmlformats.org/drawingml/2006/main">
            <a:off x="8763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1 Mio. Messungen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deterministisch erzeugen</a:t>
            </a:r>
          </a:p>
        </p:txBody>
      </p:sp>
      <p:sp>
        <p:nvSpPr>
          <p:cNvPr id="10" name="">
            <a:extLst xmlns:a="http://schemas.openxmlformats.org/drawingml/2006/main">
              <a:ext uri="{FF2B5EF4-FFF2-40B4-BE49-F238E27FC236}">
                <a16:creationId xmlns:a16="http://schemas.microsoft.com/office/drawing/2014/main" id="{A05C33DC-F839-4EC7-9BC1-E8D7273AC53A}"/>
              </a:ext>
            </a:extLst>
          </p:cNvPr>
          <p:cNvSpPr>
            <a:spLocks xmlns:a="http://schemas.openxmlformats.org/drawingml/2006/main" noGrp="1"/>
          </p:cNvSpPr>
          <p:nvPr/>
        </p:nvSpPr>
        <p:spPr>
          <a:xfrm xmlns:a="http://schemas.openxmlformats.org/drawingml/2006/main">
            <a:off x="286702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1" name="">
            <a:extLst xmlns:a="http://schemas.openxmlformats.org/drawingml/2006/main">
              <a:ext uri="{FF2B5EF4-FFF2-40B4-BE49-F238E27FC236}">
                <a16:creationId xmlns:a16="http://schemas.microsoft.com/office/drawing/2014/main" id="{AF2875B9-1EE3-46C8-A0CD-C6AD9275B7A1}"/>
              </a:ext>
            </a:extLst>
          </p:cNvPr>
          <p:cNvSpPr>
            <a:spLocks xmlns:a="http://schemas.openxmlformats.org/drawingml/2006/main" noGrp="1"/>
          </p:cNvSpPr>
          <p:nvPr/>
        </p:nvSpPr>
        <p:spPr>
          <a:xfrm xmlns:a="http://schemas.openxmlformats.org/drawingml/2006/main">
            <a:off x="307657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868BFAFB-384A-4B7C-882B-9BCE2C684436}"/>
              </a:ext>
            </a:extLst>
          </p:cNvPr>
          <p:cNvSpPr>
            <a:spLocks xmlns:a="http://schemas.openxmlformats.org/drawingml/2006/main" noGrp="1"/>
          </p:cNvSpPr>
          <p:nvPr/>
        </p:nvSpPr>
        <p:spPr>
          <a:xfrm xmlns:a="http://schemas.openxmlformats.org/drawingml/2006/main">
            <a:off x="307657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Persistenz</a:t>
            </a:r>
          </a:p>
        </p:txBody>
      </p:sp>
      <p:sp>
        <p:nvSpPr>
          <p:cNvPr id="13" name="">
            <a:extLst xmlns:a="http://schemas.openxmlformats.org/drawingml/2006/main">
              <a:ext uri="{FF2B5EF4-FFF2-40B4-BE49-F238E27FC236}">
                <a16:creationId xmlns:a16="http://schemas.microsoft.com/office/drawing/2014/main" id="{AAD02098-2253-4F4C-A5AB-B85C710CC947}"/>
              </a:ext>
            </a:extLst>
          </p:cNvPr>
          <p:cNvSpPr>
            <a:spLocks xmlns:a="http://schemas.openxmlformats.org/drawingml/2006/main" noGrp="1"/>
          </p:cNvSpPr>
          <p:nvPr/>
        </p:nvSpPr>
        <p:spPr>
          <a:xfrm xmlns:a="http://schemas.openxmlformats.org/drawingml/2006/main">
            <a:off x="307657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7A6F48-8FF5-4A81-89F4-FB4AB5AF0E53}"/>
              </a:ext>
            </a:extLst>
          </p:cNvPr>
          <p:cNvSpPr>
            <a:spLocks xmlns:a="http://schemas.openxmlformats.org/drawingml/2006/main" noGrp="1"/>
          </p:cNvSpPr>
          <p:nvPr/>
        </p:nvSpPr>
        <p:spPr>
          <a:xfrm xmlns:a="http://schemas.openxmlformats.org/drawingml/2006/main">
            <a:off x="307657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3 Datenbanken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fachlich einsetzen</a:t>
            </a:r>
          </a:p>
        </p:txBody>
      </p:sp>
      <p:sp>
        <p:nvSpPr>
          <p:cNvPr id="15" name="">
            <a:extLst xmlns:a="http://schemas.openxmlformats.org/drawingml/2006/main">
              <a:ext uri="{FF2B5EF4-FFF2-40B4-BE49-F238E27FC236}">
                <a16:creationId xmlns:a16="http://schemas.microsoft.com/office/drawing/2014/main" id="{82460A9A-E922-4DE4-A76C-A44AD3A352DC}"/>
              </a:ext>
            </a:extLst>
          </p:cNvPr>
          <p:cNvSpPr>
            <a:spLocks xmlns:a="http://schemas.openxmlformats.org/drawingml/2006/main" noGrp="1"/>
          </p:cNvSpPr>
          <p:nvPr/>
        </p:nvSpPr>
        <p:spPr>
          <a:xfrm xmlns:a="http://schemas.openxmlformats.org/drawingml/2006/main">
            <a:off x="506730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6" name="">
            <a:extLst xmlns:a="http://schemas.openxmlformats.org/drawingml/2006/main">
              <a:ext uri="{FF2B5EF4-FFF2-40B4-BE49-F238E27FC236}">
                <a16:creationId xmlns:a16="http://schemas.microsoft.com/office/drawing/2014/main" id="{14D4D2DA-D856-4427-A467-70A939429CAC}"/>
              </a:ext>
            </a:extLst>
          </p:cNvPr>
          <p:cNvSpPr>
            <a:spLocks xmlns:a="http://schemas.openxmlformats.org/drawingml/2006/main" noGrp="1"/>
          </p:cNvSpPr>
          <p:nvPr/>
        </p:nvSpPr>
        <p:spPr>
          <a:xfrm xmlns:a="http://schemas.openxmlformats.org/drawingml/2006/main">
            <a:off x="527685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9E9FFC6F-2F8A-45A4-8BDE-360E9BB4EDF7}"/>
              </a:ext>
            </a:extLst>
          </p:cNvPr>
          <p:cNvSpPr>
            <a:spLocks xmlns:a="http://schemas.openxmlformats.org/drawingml/2006/main" noGrp="1"/>
          </p:cNvSpPr>
          <p:nvPr/>
        </p:nvSpPr>
        <p:spPr>
          <a:xfrm xmlns:a="http://schemas.openxmlformats.org/drawingml/2006/main">
            <a:off x="527685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Verarbeitung</a:t>
            </a:r>
          </a:p>
        </p:txBody>
      </p:sp>
      <p:sp>
        <p:nvSpPr>
          <p:cNvPr id="18" name="">
            <a:extLst xmlns:a="http://schemas.openxmlformats.org/drawingml/2006/main">
              <a:ext uri="{FF2B5EF4-FFF2-40B4-BE49-F238E27FC236}">
                <a16:creationId xmlns:a16="http://schemas.microsoft.com/office/drawing/2014/main" id="{6D3FE1F3-4AB8-43DF-92DA-F0A48F24CCAD}"/>
              </a:ext>
            </a:extLst>
          </p:cNvPr>
          <p:cNvSpPr>
            <a:spLocks xmlns:a="http://schemas.openxmlformats.org/drawingml/2006/main" noGrp="1"/>
          </p:cNvSpPr>
          <p:nvPr/>
        </p:nvSpPr>
        <p:spPr>
          <a:xfrm xmlns:a="http://schemas.openxmlformats.org/drawingml/2006/main">
            <a:off x="527685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9CEF908-07F7-45DC-A72D-9EDD39D65186}"/>
              </a:ext>
            </a:extLst>
          </p:cNvPr>
          <p:cNvSpPr>
            <a:spLocks xmlns:a="http://schemas.openxmlformats.org/drawingml/2006/main" noGrp="1"/>
          </p:cNvSpPr>
          <p:nvPr/>
        </p:nvSpPr>
        <p:spPr>
          <a:xfrm xmlns:a="http://schemas.openxmlformats.org/drawingml/2006/main">
            <a:off x="527685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ETL + Airflow + Spark</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durchgängig ausführen</a:t>
            </a:r>
          </a:p>
        </p:txBody>
      </p:sp>
      <p:sp>
        <p:nvSpPr>
          <p:cNvPr id="20" name="">
            <a:extLst xmlns:a="http://schemas.openxmlformats.org/drawingml/2006/main">
              <a:ext uri="{FF2B5EF4-FFF2-40B4-BE49-F238E27FC236}">
                <a16:creationId xmlns:a16="http://schemas.microsoft.com/office/drawing/2014/main" id="{5DD15ABA-C758-4C79-8168-AB4BE1053F87}"/>
              </a:ext>
            </a:extLst>
          </p:cNvPr>
          <p:cNvSpPr>
            <a:spLocks xmlns:a="http://schemas.openxmlformats.org/drawingml/2006/main" noGrp="1"/>
          </p:cNvSpPr>
          <p:nvPr/>
        </p:nvSpPr>
        <p:spPr>
          <a:xfrm xmlns:a="http://schemas.openxmlformats.org/drawingml/2006/main">
            <a:off x="726757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1" name="">
            <a:extLst xmlns:a="http://schemas.openxmlformats.org/drawingml/2006/main">
              <a:ext uri="{FF2B5EF4-FFF2-40B4-BE49-F238E27FC236}">
                <a16:creationId xmlns:a16="http://schemas.microsoft.com/office/drawing/2014/main" id="{37B8A268-150A-4639-9CBC-0A628D26BDD3}"/>
              </a:ext>
            </a:extLst>
          </p:cNvPr>
          <p:cNvSpPr>
            <a:spLocks xmlns:a="http://schemas.openxmlformats.org/drawingml/2006/main" noGrp="1"/>
          </p:cNvSpPr>
          <p:nvPr/>
        </p:nvSpPr>
        <p:spPr>
          <a:xfrm xmlns:a="http://schemas.openxmlformats.org/drawingml/2006/main">
            <a:off x="747712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4F767E19-580F-4138-AB21-F7E5E8F7E19A}"/>
              </a:ext>
            </a:extLst>
          </p:cNvPr>
          <p:cNvSpPr>
            <a:spLocks xmlns:a="http://schemas.openxmlformats.org/drawingml/2006/main" noGrp="1"/>
          </p:cNvSpPr>
          <p:nvPr/>
        </p:nvSpPr>
        <p:spPr>
          <a:xfrm xmlns:a="http://schemas.openxmlformats.org/drawingml/2006/main">
            <a:off x="747712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Intelligenz</a:t>
            </a:r>
          </a:p>
        </p:txBody>
      </p:sp>
      <p:sp>
        <p:nvSpPr>
          <p:cNvPr id="23" name="">
            <a:extLst xmlns:a="http://schemas.openxmlformats.org/drawingml/2006/main">
              <a:ext uri="{FF2B5EF4-FFF2-40B4-BE49-F238E27FC236}">
                <a16:creationId xmlns:a16="http://schemas.microsoft.com/office/drawing/2014/main" id="{3BB25D96-7171-4D3B-829D-B92E59D2F9D9}"/>
              </a:ext>
            </a:extLst>
          </p:cNvPr>
          <p:cNvSpPr>
            <a:spLocks xmlns:a="http://schemas.openxmlformats.org/drawingml/2006/main" noGrp="1"/>
          </p:cNvSpPr>
          <p:nvPr/>
        </p:nvSpPr>
        <p:spPr>
          <a:xfrm xmlns:a="http://schemas.openxmlformats.org/drawingml/2006/main">
            <a:off x="747712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C2AE6EE-9493-41AF-BF6A-4249DB28EDC7}"/>
              </a:ext>
            </a:extLst>
          </p:cNvPr>
          <p:cNvSpPr>
            <a:spLocks xmlns:a="http://schemas.openxmlformats.org/drawingml/2006/main" noGrp="1"/>
          </p:cNvSpPr>
          <p:nvPr/>
        </p:nvSpPr>
        <p:spPr>
          <a:xfrm xmlns:a="http://schemas.openxmlformats.org/drawingml/2006/main">
            <a:off x="747712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Klassifikation, Regression</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Clustering</a:t>
            </a:r>
          </a:p>
        </p:txBody>
      </p:sp>
      <p:sp>
        <p:nvSpPr>
          <p:cNvPr id="25" name="">
            <a:extLst xmlns:a="http://schemas.openxmlformats.org/drawingml/2006/main">
              <a:ext uri="{FF2B5EF4-FFF2-40B4-BE49-F238E27FC236}">
                <a16:creationId xmlns:a16="http://schemas.microsoft.com/office/drawing/2014/main" id="{C6A1D3CD-0564-4C2D-9CE2-1E6E0EE645FE}"/>
              </a:ext>
            </a:extLst>
          </p:cNvPr>
          <p:cNvSpPr>
            <a:spLocks xmlns:a="http://schemas.openxmlformats.org/drawingml/2006/main" noGrp="1"/>
          </p:cNvSpPr>
          <p:nvPr/>
        </p:nvSpPr>
        <p:spPr>
          <a:xfrm xmlns:a="http://schemas.openxmlformats.org/drawingml/2006/main">
            <a:off x="94678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1183067E-F83F-4334-A6B5-2B5F43C2359B}"/>
              </a:ext>
            </a:extLst>
          </p:cNvPr>
          <p:cNvSpPr>
            <a:spLocks xmlns:a="http://schemas.openxmlformats.org/drawingml/2006/main" noGrp="1"/>
          </p:cNvSpPr>
          <p:nvPr/>
        </p:nvSpPr>
        <p:spPr>
          <a:xfrm xmlns:a="http://schemas.openxmlformats.org/drawingml/2006/main">
            <a:off x="96774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defRPr sz="2025" b="1">
                <a:solidFill>
                  <a:srgbClr val="F4A261"/>
                </a:solidFill>
                <a:latin typeface="Arial"/>
                <a:ea typeface="Arial"/>
                <a:cs typeface="Arial"/>
              </a:defRPr>
            </a:pPr>
            <a:r>
              <a:rPr sz="2025" b="1">
                <a:solidFill>
                  <a:srgbClr val="F4A261"/>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9DE679B4-B971-4877-9E5B-DFEFE1A2B3FB}"/>
              </a:ext>
            </a:extLst>
          </p:cNvPr>
          <p:cNvSpPr>
            <a:spLocks xmlns:a="http://schemas.openxmlformats.org/drawingml/2006/main" noGrp="1"/>
          </p:cNvSpPr>
          <p:nvPr/>
        </p:nvSpPr>
        <p:spPr>
          <a:xfrm xmlns:a="http://schemas.openxmlformats.org/drawingml/2006/main">
            <a:off x="96774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defRPr sz="1575" b="1">
                <a:solidFill>
                  <a:srgbClr val="102230"/>
                </a:solidFill>
                <a:latin typeface="Arial"/>
                <a:ea typeface="Arial"/>
                <a:cs typeface="Arial"/>
              </a:defRPr>
            </a:pPr>
            <a:r>
              <a:rPr sz="1575" b="1">
                <a:solidFill>
                  <a:srgbClr val="102230"/>
                </a:solidFill>
                <a:latin typeface="Arial"/>
                <a:ea typeface="Arial"/>
                <a:cs typeface="Arial"/>
              </a:rPr>
              <a:t>Qualität</a:t>
            </a:r>
          </a:p>
        </p:txBody>
      </p:sp>
      <p:sp>
        <p:nvSpPr>
          <p:cNvPr id="28" name="">
            <a:extLst xmlns:a="http://schemas.openxmlformats.org/drawingml/2006/main">
              <a:ext uri="{FF2B5EF4-FFF2-40B4-BE49-F238E27FC236}">
                <a16:creationId xmlns:a16="http://schemas.microsoft.com/office/drawing/2014/main" id="{A7E29298-C20E-4454-B8D5-C2168CCBC9A8}"/>
              </a:ext>
            </a:extLst>
          </p:cNvPr>
          <p:cNvSpPr>
            <a:spLocks xmlns:a="http://schemas.openxmlformats.org/drawingml/2006/main" noGrp="1"/>
          </p:cNvSpPr>
          <p:nvPr/>
        </p:nvSpPr>
        <p:spPr>
          <a:xfrm xmlns:a="http://schemas.openxmlformats.org/drawingml/2006/main">
            <a:off x="96774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8827F15-9B92-42A0-AAD2-9CE20F6B7810}"/>
              </a:ext>
            </a:extLst>
          </p:cNvPr>
          <p:cNvSpPr>
            <a:spLocks xmlns:a="http://schemas.openxmlformats.org/drawingml/2006/main" noGrp="1"/>
          </p:cNvSpPr>
          <p:nvPr/>
        </p:nvSpPr>
        <p:spPr>
          <a:xfrm xmlns:a="http://schemas.openxmlformats.org/drawingml/2006/main">
            <a:off x="96774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Quarantäne, Tests</a:t>
            </a:r>
          </a:p>
          <a:p xmlns:a="http://schemas.openxmlformats.org/drawingml/2006/main">
            <a:pPr algn="l">
              <a:defRPr sz="1350" b="0">
                <a:solidFill>
                  <a:srgbClr val="536675"/>
                </a:solidFill>
                <a:latin typeface="Arial"/>
                <a:ea typeface="Arial"/>
                <a:cs typeface="Arial"/>
              </a:defRPr>
            </a:pPr>
            <a:r>
              <a:rPr sz="1350" b="0">
                <a:solidFill>
                  <a:srgbClr val="536675"/>
                </a:solidFill>
                <a:latin typeface="Arial"/>
                <a:ea typeface="Arial"/>
                <a:cs typeface="Arial"/>
              </a:rPr>
              <a:t>und ehrliche Grenzen</a:t>
            </a:r>
          </a:p>
        </p:txBody>
      </p:sp>
      <p:sp>
        <p:nvSpPr>
          <p:cNvPr id="30" name="">
            <a:extLst xmlns:a="http://schemas.openxmlformats.org/drawingml/2006/main">
              <a:ext uri="{FF2B5EF4-FFF2-40B4-BE49-F238E27FC236}">
                <a16:creationId xmlns:a16="http://schemas.microsoft.com/office/drawing/2014/main" id="{D7FB9D83-11C2-4007-A251-3F30B0F72EF4}"/>
              </a:ext>
            </a:extLst>
          </p:cNvPr>
          <p:cNvSpPr>
            <a:spLocks xmlns:a="http://schemas.openxmlformats.org/drawingml/2006/main" noGrp="1"/>
          </p:cNvSpPr>
          <p:nvPr/>
        </p:nvSpPr>
        <p:spPr>
          <a:xfrm xmlns:a="http://schemas.openxmlformats.org/drawingml/2006/main">
            <a:off x="666750" y="5143500"/>
            <a:ext cx="10753725" cy="704850"/>
          </a:xfrm>
          <a:prstGeom xmlns:a="http://schemas.openxmlformats.org/drawingml/2006/main" prst="roundRect">
            <a:avLst>
              <a:gd name="adj" fmla="val 16216"/>
            </a:avLst>
          </a:prstGeom>
          <a:solidFill xmlns:a="http://schemas.openxmlformats.org/drawingml/2006/main">
            <a:srgbClr val="0F4C5C"/>
          </a:solidFill>
          <a:ln xmlns:a="http://schemas.openxmlformats.org/drawingml/2006/main" w="9525">
            <a:solidFill>
              <a:srgbClr val="0F4C5C"/>
            </a:solidFill>
            <a:prstDash val="solid"/>
          </a:ln>
        </p:spPr>
      </p:sp>
      <p:sp>
        <p:nvSpPr>
          <p:cNvPr id="31" name="">
            <a:extLst xmlns:a="http://schemas.openxmlformats.org/drawingml/2006/main">
              <a:ext uri="{FF2B5EF4-FFF2-40B4-BE49-F238E27FC236}">
                <a16:creationId xmlns:a16="http://schemas.microsoft.com/office/drawing/2014/main" id="{532E1010-8E3F-4396-91B5-C0DDB10957E8}"/>
              </a:ext>
            </a:extLst>
          </p:cNvPr>
          <p:cNvSpPr>
            <a:spLocks xmlns:a="http://schemas.openxmlformats.org/drawingml/2006/main" noGrp="1"/>
          </p:cNvSpPr>
          <p:nvPr/>
        </p:nvSpPr>
        <p:spPr>
          <a:xfrm xmlns:a="http://schemas.openxmlformats.org/drawingml/2006/main">
            <a:off x="952500" y="53435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Definition of Done: Der komplette Full-DAG muss seine Resultate selbst persistieren.</a:t>
            </a:r>
          </a:p>
        </p:txBody>
      </p:sp>
    </p:spTree>
    <p:extLst>
      <p:ext uri="{BB962C8B-B14F-4D97-AF65-F5344CB8AC3E}">
        <p14:creationId xmlns:p14="http://schemas.microsoft.com/office/powerpoint/2010/main" val="1649312813"/>
      </p:ext>
    </p:extLst>
  </p:cSld>
</p:sld>
</file>

<file path=ppt/slides/slide4.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7CF4AED-227C-40EE-ADC0-5B5DB832ABAB}"/>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SYSTEMARCHITEKTUR</a:t>
            </a:r>
          </a:p>
        </p:txBody>
      </p:sp>
      <p:sp>
        <p:nvSpPr>
          <p:cNvPr id="2" name="">
            <a:extLst xmlns:a="http://schemas.openxmlformats.org/drawingml/2006/main">
              <a:ext uri="{FF2B5EF4-FFF2-40B4-BE49-F238E27FC236}">
                <a16:creationId xmlns:a16="http://schemas.microsoft.com/office/drawing/2014/main" id="{FCDD5DAD-93A9-4933-9BB3-1A23583D9641}"/>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Ein Datenfluss – vier Quelltypen – drei Speicher</a:t>
            </a:r>
          </a:p>
        </p:txBody>
      </p:sp>
      <p:sp>
        <p:nvSpPr>
          <p:cNvPr id="3" name="">
            <a:extLst xmlns:a="http://schemas.openxmlformats.org/drawingml/2006/main">
              <a:ext uri="{FF2B5EF4-FFF2-40B4-BE49-F238E27FC236}">
                <a16:creationId xmlns:a16="http://schemas.microsoft.com/office/drawing/2014/main" id="{BE3871BA-B169-4154-AB10-0D568F7CA17D}"/>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F8A871-579C-4C1A-870F-933512EF15D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EDD7ECD-7DBA-467E-AA26-093DEE44F290}"/>
              </a:ext>
            </a:extLst>
          </p:cNvPr>
          <p:cNvSpPr>
            <a:spLocks xmlns:a="http://schemas.openxmlformats.org/drawingml/2006/main" noGrp="1"/>
          </p:cNvSpPr>
          <p:nvPr/>
        </p:nvSpPr>
        <p:spPr>
          <a:xfrm xmlns:a="http://schemas.openxmlformats.org/drawingml/2006/main">
            <a:off x="5524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C0074585-FA5E-460C-B7DA-7C906BD6E409}"/>
              </a:ext>
            </a:extLst>
          </p:cNvPr>
          <p:cNvSpPr>
            <a:spLocks xmlns:a="http://schemas.openxmlformats.org/drawingml/2006/main" noGrp="1"/>
          </p:cNvSpPr>
          <p:nvPr/>
        </p:nvSpPr>
        <p:spPr>
          <a:xfrm xmlns:a="http://schemas.openxmlformats.org/drawingml/2006/main">
            <a:off x="7239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Quellen</a:t>
            </a:r>
          </a:p>
        </p:txBody>
      </p:sp>
      <p:sp>
        <p:nvSpPr>
          <p:cNvPr id="7" name="">
            <a:extLst xmlns:a="http://schemas.openxmlformats.org/drawingml/2006/main">
              <a:ext uri="{FF2B5EF4-FFF2-40B4-BE49-F238E27FC236}">
                <a16:creationId xmlns:a16="http://schemas.microsoft.com/office/drawing/2014/main" id="{E7990ECA-38AB-469D-8E3B-019C829840D2}"/>
              </a:ext>
            </a:extLst>
          </p:cNvPr>
          <p:cNvSpPr>
            <a:spLocks xmlns:a="http://schemas.openxmlformats.org/drawingml/2006/main" noGrp="1"/>
          </p:cNvSpPr>
          <p:nvPr/>
        </p:nvSpPr>
        <p:spPr>
          <a:xfrm xmlns:a="http://schemas.openxmlformats.org/drawingml/2006/main">
            <a:off x="6858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PostgreSQL · MongoDB</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CSV · JSON · Neo4j</a:t>
            </a:r>
          </a:p>
        </p:txBody>
      </p:sp>
      <p:sp>
        <p:nvSpPr>
          <p:cNvPr id="8" name="">
            <a:extLst xmlns:a="http://schemas.openxmlformats.org/drawingml/2006/main">
              <a:ext uri="{FF2B5EF4-FFF2-40B4-BE49-F238E27FC236}">
                <a16:creationId xmlns:a16="http://schemas.microsoft.com/office/drawing/2014/main" id="{92071B5E-FCED-43FB-97DE-10B4D25ED6F2}"/>
              </a:ext>
            </a:extLst>
          </p:cNvPr>
          <p:cNvSpPr>
            <a:spLocks xmlns:a="http://schemas.openxmlformats.org/drawingml/2006/main" noGrp="1"/>
          </p:cNvSpPr>
          <p:nvPr/>
        </p:nvSpPr>
        <p:spPr>
          <a:xfrm xmlns:a="http://schemas.openxmlformats.org/drawingml/2006/main">
            <a:off x="24384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231624CC-DE7F-44EB-8382-354BCA2476C6}"/>
              </a:ext>
            </a:extLst>
          </p:cNvPr>
          <p:cNvSpPr>
            <a:spLocks xmlns:a="http://schemas.openxmlformats.org/drawingml/2006/main" noGrp="1"/>
          </p:cNvSpPr>
          <p:nvPr/>
        </p:nvSpPr>
        <p:spPr>
          <a:xfrm xmlns:a="http://schemas.openxmlformats.org/drawingml/2006/main">
            <a:off x="28765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A1325E3F-57A5-4448-9915-F0C09A20B92B}"/>
              </a:ext>
            </a:extLst>
          </p:cNvPr>
          <p:cNvSpPr>
            <a:spLocks xmlns:a="http://schemas.openxmlformats.org/drawingml/2006/main" noGrp="1"/>
          </p:cNvSpPr>
          <p:nvPr/>
        </p:nvSpPr>
        <p:spPr>
          <a:xfrm xmlns:a="http://schemas.openxmlformats.org/drawingml/2006/main">
            <a:off x="30480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Qualität</a:t>
            </a:r>
          </a:p>
        </p:txBody>
      </p:sp>
      <p:sp>
        <p:nvSpPr>
          <p:cNvPr id="11" name="">
            <a:extLst xmlns:a="http://schemas.openxmlformats.org/drawingml/2006/main">
              <a:ext uri="{FF2B5EF4-FFF2-40B4-BE49-F238E27FC236}">
                <a16:creationId xmlns:a16="http://schemas.microsoft.com/office/drawing/2014/main" id="{19900120-7A2F-4652-A6CA-8EED85D6E79C}"/>
              </a:ext>
            </a:extLst>
          </p:cNvPr>
          <p:cNvSpPr>
            <a:spLocks xmlns:a="http://schemas.openxmlformats.org/drawingml/2006/main" noGrp="1"/>
          </p:cNvSpPr>
          <p:nvPr/>
        </p:nvSpPr>
        <p:spPr>
          <a:xfrm xmlns:a="http://schemas.openxmlformats.org/drawingml/2006/main">
            <a:off x="30099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Schema · Range · FK</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Quarantäne</a:t>
            </a:r>
          </a:p>
        </p:txBody>
      </p:sp>
      <p:sp>
        <p:nvSpPr>
          <p:cNvPr id="12" name="">
            <a:extLst xmlns:a="http://schemas.openxmlformats.org/drawingml/2006/main">
              <a:ext uri="{FF2B5EF4-FFF2-40B4-BE49-F238E27FC236}">
                <a16:creationId xmlns:a16="http://schemas.microsoft.com/office/drawing/2014/main" id="{C54BF974-BEC8-44CD-B508-167ABE267B43}"/>
              </a:ext>
            </a:extLst>
          </p:cNvPr>
          <p:cNvSpPr>
            <a:spLocks xmlns:a="http://schemas.openxmlformats.org/drawingml/2006/main" noGrp="1"/>
          </p:cNvSpPr>
          <p:nvPr/>
        </p:nvSpPr>
        <p:spPr>
          <a:xfrm xmlns:a="http://schemas.openxmlformats.org/drawingml/2006/main">
            <a:off x="47625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C856D484-5813-4EF9-8462-1DEF56F19602}"/>
              </a:ext>
            </a:extLst>
          </p:cNvPr>
          <p:cNvSpPr>
            <a:spLocks xmlns:a="http://schemas.openxmlformats.org/drawingml/2006/main" noGrp="1"/>
          </p:cNvSpPr>
          <p:nvPr/>
        </p:nvSpPr>
        <p:spPr>
          <a:xfrm xmlns:a="http://schemas.openxmlformats.org/drawingml/2006/main">
            <a:off x="5200650" y="2247900"/>
            <a:ext cx="1828800" cy="1809750"/>
          </a:xfrm>
          <a:prstGeom xmlns:a="http://schemas.openxmlformats.org/drawingml/2006/main" prst="roundRect">
            <a:avLst>
              <a:gd name="adj" fmla="val 6316"/>
            </a:avLst>
          </a:prstGeom>
          <a:solidFill xmlns:a="http://schemas.openxmlformats.org/drawingml/2006/main">
            <a:srgbClr val="19485A"/>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F8A8F538-A874-4E9C-81D9-2F90CECFB192}"/>
              </a:ext>
            </a:extLst>
          </p:cNvPr>
          <p:cNvSpPr>
            <a:spLocks xmlns:a="http://schemas.openxmlformats.org/drawingml/2006/main" noGrp="1"/>
          </p:cNvSpPr>
          <p:nvPr/>
        </p:nvSpPr>
        <p:spPr>
          <a:xfrm xmlns:a="http://schemas.openxmlformats.org/drawingml/2006/main">
            <a:off x="5372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4A261"/>
                </a:solidFill>
                <a:latin typeface="Arial"/>
                <a:ea typeface="Arial"/>
                <a:cs typeface="Arial"/>
              </a:defRPr>
            </a:defPPr>
          </a:lstStyle>
          <a:p xmlns:a="http://schemas.openxmlformats.org/drawingml/2006/main">
            <a:pPr algn="ctr">
              <a:defRPr sz="1650" b="1">
                <a:solidFill>
                  <a:srgbClr val="F4A261"/>
                </a:solidFill>
                <a:latin typeface="Arial"/>
                <a:ea typeface="Arial"/>
                <a:cs typeface="Arial"/>
              </a:defRPr>
            </a:pPr>
            <a:r>
              <a:rPr sz="1650" b="1">
                <a:solidFill>
                  <a:srgbClr val="F4A261"/>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325C4027-0249-4C49-A5F2-21098082FD1D}"/>
              </a:ext>
            </a:extLst>
          </p:cNvPr>
          <p:cNvSpPr>
            <a:spLocks xmlns:a="http://schemas.openxmlformats.org/drawingml/2006/main" noGrp="1"/>
          </p:cNvSpPr>
          <p:nvPr/>
        </p:nvSpPr>
        <p:spPr>
          <a:xfrm xmlns:a="http://schemas.openxmlformats.org/drawingml/2006/main">
            <a:off x="53340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SQL · Joins · Window</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Parquet Features</a:t>
            </a:r>
          </a:p>
        </p:txBody>
      </p:sp>
      <p:sp>
        <p:nvSpPr>
          <p:cNvPr id="16" name="">
            <a:extLst xmlns:a="http://schemas.openxmlformats.org/drawingml/2006/main">
              <a:ext uri="{FF2B5EF4-FFF2-40B4-BE49-F238E27FC236}">
                <a16:creationId xmlns:a16="http://schemas.microsoft.com/office/drawing/2014/main" id="{4E628717-7DA6-4167-B053-B04AB52AEFEF}"/>
              </a:ext>
            </a:extLst>
          </p:cNvPr>
          <p:cNvSpPr>
            <a:spLocks xmlns:a="http://schemas.openxmlformats.org/drawingml/2006/main" noGrp="1"/>
          </p:cNvSpPr>
          <p:nvPr/>
        </p:nvSpPr>
        <p:spPr>
          <a:xfrm xmlns:a="http://schemas.openxmlformats.org/drawingml/2006/main">
            <a:off x="70866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6531FEB5-833F-4C75-A68F-F5601F7DCF65}"/>
              </a:ext>
            </a:extLst>
          </p:cNvPr>
          <p:cNvSpPr>
            <a:spLocks xmlns:a="http://schemas.openxmlformats.org/drawingml/2006/main" noGrp="1"/>
          </p:cNvSpPr>
          <p:nvPr/>
        </p:nvSpPr>
        <p:spPr>
          <a:xfrm xmlns:a="http://schemas.openxmlformats.org/drawingml/2006/main">
            <a:off x="75247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565AF2D9-95FA-4F33-8F0A-841BA9F9BC62}"/>
              </a:ext>
            </a:extLst>
          </p:cNvPr>
          <p:cNvSpPr>
            <a:spLocks xmlns:a="http://schemas.openxmlformats.org/drawingml/2006/main" noGrp="1"/>
          </p:cNvSpPr>
          <p:nvPr/>
        </p:nvSpPr>
        <p:spPr>
          <a:xfrm xmlns:a="http://schemas.openxmlformats.org/drawingml/2006/main">
            <a:off x="76962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MLlib</a:t>
            </a:r>
          </a:p>
        </p:txBody>
      </p:sp>
      <p:sp>
        <p:nvSpPr>
          <p:cNvPr id="19" name="">
            <a:extLst xmlns:a="http://schemas.openxmlformats.org/drawingml/2006/main">
              <a:ext uri="{FF2B5EF4-FFF2-40B4-BE49-F238E27FC236}">
                <a16:creationId xmlns:a16="http://schemas.microsoft.com/office/drawing/2014/main" id="{C27476AF-2968-4032-AD8A-85CD505D23D5}"/>
              </a:ext>
            </a:extLst>
          </p:cNvPr>
          <p:cNvSpPr>
            <a:spLocks xmlns:a="http://schemas.openxmlformats.org/drawingml/2006/main" noGrp="1"/>
          </p:cNvSpPr>
          <p:nvPr/>
        </p:nvSpPr>
        <p:spPr>
          <a:xfrm xmlns:a="http://schemas.openxmlformats.org/drawingml/2006/main">
            <a:off x="76581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Klassifikation</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Regression · KMeans</a:t>
            </a:r>
          </a:p>
        </p:txBody>
      </p:sp>
      <p:sp>
        <p:nvSpPr>
          <p:cNvPr id="20" name="">
            <a:extLst xmlns:a="http://schemas.openxmlformats.org/drawingml/2006/main">
              <a:ext uri="{FF2B5EF4-FFF2-40B4-BE49-F238E27FC236}">
                <a16:creationId xmlns:a16="http://schemas.microsoft.com/office/drawing/2014/main" id="{9646D700-DD4D-42E9-BD8E-7CA74919DA58}"/>
              </a:ext>
            </a:extLst>
          </p:cNvPr>
          <p:cNvSpPr>
            <a:spLocks xmlns:a="http://schemas.openxmlformats.org/drawingml/2006/main" noGrp="1"/>
          </p:cNvSpPr>
          <p:nvPr/>
        </p:nvSpPr>
        <p:spPr>
          <a:xfrm xmlns:a="http://schemas.openxmlformats.org/drawingml/2006/main">
            <a:off x="94107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000F30E6-5BCA-4D1F-AFBF-9D304CC7105E}"/>
              </a:ext>
            </a:extLst>
          </p:cNvPr>
          <p:cNvSpPr>
            <a:spLocks xmlns:a="http://schemas.openxmlformats.org/drawingml/2006/main" noGrp="1"/>
          </p:cNvSpPr>
          <p:nvPr/>
        </p:nvSpPr>
        <p:spPr>
          <a:xfrm xmlns:a="http://schemas.openxmlformats.org/drawingml/2006/main">
            <a:off x="98488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6B9D9D44-7F6F-4114-9ECF-3A1C598EF3DF}"/>
              </a:ext>
            </a:extLst>
          </p:cNvPr>
          <p:cNvSpPr>
            <a:spLocks xmlns:a="http://schemas.openxmlformats.org/drawingml/2006/main" noGrp="1"/>
          </p:cNvSpPr>
          <p:nvPr/>
        </p:nvSpPr>
        <p:spPr>
          <a:xfrm xmlns:a="http://schemas.openxmlformats.org/drawingml/2006/main">
            <a:off x="100203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Serving</a:t>
            </a:r>
          </a:p>
        </p:txBody>
      </p:sp>
      <p:sp>
        <p:nvSpPr>
          <p:cNvPr id="23" name="">
            <a:extLst xmlns:a="http://schemas.openxmlformats.org/drawingml/2006/main">
              <a:ext uri="{FF2B5EF4-FFF2-40B4-BE49-F238E27FC236}">
                <a16:creationId xmlns:a16="http://schemas.microsoft.com/office/drawing/2014/main" id="{E1C91FDC-88B4-4E32-9D93-5338892679D1}"/>
              </a:ext>
            </a:extLst>
          </p:cNvPr>
          <p:cNvSpPr>
            <a:spLocks xmlns:a="http://schemas.openxmlformats.org/drawingml/2006/main" noGrp="1"/>
          </p:cNvSpPr>
          <p:nvPr/>
        </p:nvSpPr>
        <p:spPr>
          <a:xfrm xmlns:a="http://schemas.openxmlformats.org/drawingml/2006/main">
            <a:off x="99822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PostgreSQL · Neo4j</a:t>
            </a:r>
          </a:p>
          <a:p xmlns:a="http://schemas.openxmlformats.org/drawingml/2006/main">
            <a:pPr algn="ctr">
              <a:defRPr sz="1200" b="0">
                <a:solidFill>
                  <a:srgbClr val="B8C8D0"/>
                </a:solidFill>
                <a:latin typeface="Arial"/>
                <a:ea typeface="Arial"/>
                <a:cs typeface="Arial"/>
              </a:defRPr>
            </a:pPr>
            <a:r>
              <a:rPr sz="1200" b="0">
                <a:solidFill>
                  <a:srgbClr val="B8C8D0"/>
                </a:solidFill>
                <a:latin typeface="Arial"/>
                <a:ea typeface="Arial"/>
                <a:cs typeface="Arial"/>
              </a:rPr>
              <a:t>FastAPI</a:t>
            </a:r>
          </a:p>
        </p:txBody>
      </p:sp>
      <p:sp>
        <p:nvSpPr>
          <p:cNvPr id="24" name="">
            <a:extLst xmlns:a="http://schemas.openxmlformats.org/drawingml/2006/main">
              <a:ext uri="{FF2B5EF4-FFF2-40B4-BE49-F238E27FC236}">
                <a16:creationId xmlns:a16="http://schemas.microsoft.com/office/drawing/2014/main" id="{2DAA210E-C0A1-4956-9C90-7F7960180AA4}"/>
              </a:ext>
            </a:extLst>
          </p:cNvPr>
          <p:cNvSpPr>
            <a:spLocks xmlns:a="http://schemas.openxmlformats.org/drawingml/2006/main" noGrp="1"/>
          </p:cNvSpPr>
          <p:nvPr/>
        </p:nvSpPr>
        <p:spPr>
          <a:xfrm xmlns:a="http://schemas.openxmlformats.org/drawingml/2006/main">
            <a:off x="2838450" y="4610100"/>
            <a:ext cx="6515100" cy="704850"/>
          </a:xfrm>
          <a:prstGeom xmlns:a="http://schemas.openxmlformats.org/drawingml/2006/main" prst="roundRect">
            <a:avLst>
              <a:gd name="adj" fmla="val 16216"/>
            </a:avLst>
          </a:prstGeom>
          <a:solidFill xmlns:a="http://schemas.openxmlformats.org/drawingml/2006/main">
            <a:srgbClr val="0E3544"/>
          </a:solidFill>
          <a:ln xmlns:a="http://schemas.openxmlformats.org/drawingml/2006/main" w="9525">
            <a:solidFill>
              <a:srgbClr val="31505D"/>
            </a:solidFill>
            <a:prstDash val="solid"/>
          </a:ln>
        </p:spPr>
      </p:sp>
      <p:sp>
        <p:nvSpPr>
          <p:cNvPr id="25" name="">
            <a:extLst xmlns:a="http://schemas.openxmlformats.org/drawingml/2006/main">
              <a:ext uri="{FF2B5EF4-FFF2-40B4-BE49-F238E27FC236}">
                <a16:creationId xmlns:a16="http://schemas.microsoft.com/office/drawing/2014/main" id="{FFC56EAC-6629-4D04-877F-D4AB2EE97936}"/>
              </a:ext>
            </a:extLst>
          </p:cNvPr>
          <p:cNvSpPr>
            <a:spLocks xmlns:a="http://schemas.openxmlformats.org/drawingml/2006/main" noGrp="1"/>
          </p:cNvSpPr>
          <p:nvPr/>
        </p:nvSpPr>
        <p:spPr>
          <a:xfrm xmlns:a="http://schemas.openxmlformats.org/drawingml/2006/main">
            <a:off x="3143250" y="48101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976"/>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Airflow orchestriert 10 Tasks · große Payloads bleiben in Dateien und Datenbanken</a:t>
            </a:r>
          </a:p>
        </p:txBody>
      </p:sp>
    </p:spTree>
    <p:extLst>
      <p:ext uri="{BB962C8B-B14F-4D97-AF65-F5344CB8AC3E}">
        <p14:creationId xmlns:p14="http://schemas.microsoft.com/office/powerpoint/2010/main" val="431440680"/>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09311ED-1B82-44A0-ABBE-21C74CC22E60}"/>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DATENHALTUNG</a:t>
            </a:r>
          </a:p>
        </p:txBody>
      </p:sp>
      <p:sp>
        <p:nvSpPr>
          <p:cNvPr id="2" name="">
            <a:extLst xmlns:a="http://schemas.openxmlformats.org/drawingml/2006/main">
              <a:ext uri="{FF2B5EF4-FFF2-40B4-BE49-F238E27FC236}">
                <a16:creationId xmlns:a16="http://schemas.microsoft.com/office/drawing/2014/main" id="{81450C5C-0135-41DA-9D33-DBCFEF78061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Polyglot Persistence mit klarer Aufgabenverteilung</a:t>
            </a:r>
          </a:p>
        </p:txBody>
      </p:sp>
      <p:sp>
        <p:nvSpPr>
          <p:cNvPr id="3" name="">
            <a:extLst xmlns:a="http://schemas.openxmlformats.org/drawingml/2006/main">
              <a:ext uri="{FF2B5EF4-FFF2-40B4-BE49-F238E27FC236}">
                <a16:creationId xmlns:a16="http://schemas.microsoft.com/office/drawing/2014/main" id="{A3FEDB36-76BA-4434-B11B-0B645B72F59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6C29B6-BBAC-4734-B4C5-2C25E544C956}"/>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8716DC7-F3CD-472C-BBDE-30BAEFB21633}"/>
              </a:ext>
            </a:extLst>
          </p:cNvPr>
          <p:cNvSpPr>
            <a:spLocks xmlns:a="http://schemas.openxmlformats.org/drawingml/2006/main" noGrp="1"/>
          </p:cNvSpPr>
          <p:nvPr/>
        </p:nvSpPr>
        <p:spPr>
          <a:xfrm xmlns:a="http://schemas.openxmlformats.org/drawingml/2006/main">
            <a:off x="70485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C0D82B9F-F373-44FB-A3DD-189B950FF371}"/>
              </a:ext>
            </a:extLst>
          </p:cNvPr>
          <p:cNvSpPr>
            <a:spLocks xmlns:a="http://schemas.openxmlformats.org/drawingml/2006/main" noGrp="1"/>
          </p:cNvSpPr>
          <p:nvPr/>
        </p:nvSpPr>
        <p:spPr>
          <a:xfrm xmlns:a="http://schemas.openxmlformats.org/drawingml/2006/main">
            <a:off x="704850" y="1619250"/>
            <a:ext cx="3333750" cy="1333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C96C9A-4CF9-4DB0-8B24-B747C6360FA3}"/>
              </a:ext>
            </a:extLst>
          </p:cNvPr>
          <p:cNvSpPr>
            <a:spLocks xmlns:a="http://schemas.openxmlformats.org/drawingml/2006/main" noGrp="1"/>
          </p:cNvSpPr>
          <p:nvPr/>
        </p:nvSpPr>
        <p:spPr>
          <a:xfrm xmlns:a="http://schemas.openxmlformats.org/drawingml/2006/main">
            <a:off x="97155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PostgreSQL</a:t>
            </a:r>
          </a:p>
        </p:txBody>
      </p:sp>
      <p:sp>
        <p:nvSpPr>
          <p:cNvPr id="8" name="">
            <a:extLst xmlns:a="http://schemas.openxmlformats.org/drawingml/2006/main">
              <a:ext uri="{FF2B5EF4-FFF2-40B4-BE49-F238E27FC236}">
                <a16:creationId xmlns:a16="http://schemas.microsoft.com/office/drawing/2014/main" id="{F85DF87A-27A8-450A-8D81-39E7CF58A489}"/>
              </a:ext>
            </a:extLst>
          </p:cNvPr>
          <p:cNvSpPr>
            <a:spLocks xmlns:a="http://schemas.openxmlformats.org/drawingml/2006/main" noGrp="1"/>
          </p:cNvSpPr>
          <p:nvPr/>
        </p:nvSpPr>
        <p:spPr>
          <a:xfrm xmlns:a="http://schemas.openxmlformats.org/drawingml/2006/main">
            <a:off x="97155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Struktur &amp; Ergebnisse</a:t>
            </a:r>
          </a:p>
        </p:txBody>
      </p:sp>
      <p:sp>
        <p:nvSpPr>
          <p:cNvPr id="9" name="">
            <a:extLst xmlns:a="http://schemas.openxmlformats.org/drawingml/2006/main">
              <a:ext uri="{FF2B5EF4-FFF2-40B4-BE49-F238E27FC236}">
                <a16:creationId xmlns:a16="http://schemas.microsoft.com/office/drawing/2014/main" id="{1D00DED1-0FBD-494E-BD51-4F1DD73165D1}"/>
              </a:ext>
            </a:extLst>
          </p:cNvPr>
          <p:cNvSpPr>
            <a:spLocks xmlns:a="http://schemas.openxmlformats.org/drawingml/2006/main" noGrp="1"/>
          </p:cNvSpPr>
          <p:nvPr/>
        </p:nvSpPr>
        <p:spPr>
          <a:xfrm xmlns:a="http://schemas.openxmlformats.org/drawingml/2006/main">
            <a:off x="102870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0F4C5C"/>
                </a:solidFill>
                <a:latin typeface="Arial"/>
                <a:ea typeface="Arial"/>
                <a:cs typeface="Arial"/>
              </a:defRPr>
            </a:defPPr>
          </a:lstStyle>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50 Maschinen</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600 Aufträge</a:t>
            </a:r>
          </a:p>
          <a:p xmlns:a="http://schemas.openxmlformats.org/drawingml/2006/main">
            <a:pPr algn="ctr">
              <a:defRPr sz="2025" b="1">
                <a:solidFill>
                  <a:srgbClr val="0F4C5C"/>
                </a:solidFill>
                <a:latin typeface="Arial"/>
                <a:ea typeface="Arial"/>
                <a:cs typeface="Arial"/>
              </a:defRPr>
            </a:pPr>
            <a:r>
              <a:rPr sz="2025" b="1">
                <a:solidFill>
                  <a:srgbClr val="0F4C5C"/>
                </a:solidFill>
                <a:latin typeface="Arial"/>
                <a:ea typeface="Arial"/>
                <a:cs typeface="Arial"/>
              </a:rPr>
              <a:t>1.000 Prognosen</a:t>
            </a:r>
          </a:p>
        </p:txBody>
      </p:sp>
      <p:sp>
        <p:nvSpPr>
          <p:cNvPr id="10" name="">
            <a:extLst xmlns:a="http://schemas.openxmlformats.org/drawingml/2006/main">
              <a:ext uri="{FF2B5EF4-FFF2-40B4-BE49-F238E27FC236}">
                <a16:creationId xmlns:a16="http://schemas.microsoft.com/office/drawing/2014/main" id="{5E624A91-87E9-48C0-A169-FB6BB61D5264}"/>
              </a:ext>
            </a:extLst>
          </p:cNvPr>
          <p:cNvSpPr>
            <a:spLocks xmlns:a="http://schemas.openxmlformats.org/drawingml/2006/main" noGrp="1"/>
          </p:cNvSpPr>
          <p:nvPr/>
        </p:nvSpPr>
        <p:spPr>
          <a:xfrm xmlns:a="http://schemas.openxmlformats.org/drawingml/2006/main">
            <a:off x="91440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ACID · SQL · Upsert</a:t>
            </a:r>
          </a:p>
        </p:txBody>
      </p:sp>
      <p:sp>
        <p:nvSpPr>
          <p:cNvPr id="11" name="">
            <a:extLst xmlns:a="http://schemas.openxmlformats.org/drawingml/2006/main">
              <a:ext uri="{FF2B5EF4-FFF2-40B4-BE49-F238E27FC236}">
                <a16:creationId xmlns:a16="http://schemas.microsoft.com/office/drawing/2014/main" id="{E410016B-597C-4E20-9F4B-8250E6D21799}"/>
              </a:ext>
            </a:extLst>
          </p:cNvPr>
          <p:cNvSpPr>
            <a:spLocks xmlns:a="http://schemas.openxmlformats.org/drawingml/2006/main" noGrp="1"/>
          </p:cNvSpPr>
          <p:nvPr/>
        </p:nvSpPr>
        <p:spPr>
          <a:xfrm xmlns:a="http://schemas.openxmlformats.org/drawingml/2006/main">
            <a:off x="4371975"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840B5345-C2FF-457B-9484-7BB4711E05AC}"/>
              </a:ext>
            </a:extLst>
          </p:cNvPr>
          <p:cNvSpPr>
            <a:spLocks xmlns:a="http://schemas.openxmlformats.org/drawingml/2006/main" noGrp="1"/>
          </p:cNvSpPr>
          <p:nvPr/>
        </p:nvSpPr>
        <p:spPr>
          <a:xfrm xmlns:a="http://schemas.openxmlformats.org/drawingml/2006/main">
            <a:off x="4371975" y="1619250"/>
            <a:ext cx="3333750" cy="1333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322BA4-4FAB-44C0-9600-2A5696FD604A}"/>
              </a:ext>
            </a:extLst>
          </p:cNvPr>
          <p:cNvSpPr>
            <a:spLocks xmlns:a="http://schemas.openxmlformats.org/drawingml/2006/main" noGrp="1"/>
          </p:cNvSpPr>
          <p:nvPr/>
        </p:nvSpPr>
        <p:spPr>
          <a:xfrm xmlns:a="http://schemas.openxmlformats.org/drawingml/2006/main">
            <a:off x="4638675"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MongoDB</a:t>
            </a:r>
          </a:p>
        </p:txBody>
      </p:sp>
      <p:sp>
        <p:nvSpPr>
          <p:cNvPr id="14" name="">
            <a:extLst xmlns:a="http://schemas.openxmlformats.org/drawingml/2006/main">
              <a:ext uri="{FF2B5EF4-FFF2-40B4-BE49-F238E27FC236}">
                <a16:creationId xmlns:a16="http://schemas.microsoft.com/office/drawing/2014/main" id="{E9BF9A45-7D17-411D-A2AE-CA8D97FBF82F}"/>
              </a:ext>
            </a:extLst>
          </p:cNvPr>
          <p:cNvSpPr>
            <a:spLocks xmlns:a="http://schemas.openxmlformats.org/drawingml/2006/main" noGrp="1"/>
          </p:cNvSpPr>
          <p:nvPr/>
        </p:nvSpPr>
        <p:spPr>
          <a:xfrm xmlns:a="http://schemas.openxmlformats.org/drawingml/2006/main">
            <a:off x="4638675"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Sensorzeitreihen</a:t>
            </a:r>
          </a:p>
        </p:txBody>
      </p:sp>
      <p:sp>
        <p:nvSpPr>
          <p:cNvPr id="15" name="">
            <a:extLst xmlns:a="http://schemas.openxmlformats.org/drawingml/2006/main">
              <a:ext uri="{FF2B5EF4-FFF2-40B4-BE49-F238E27FC236}">
                <a16:creationId xmlns:a16="http://schemas.microsoft.com/office/drawing/2014/main" id="{862C1CA9-5931-4B6E-A59C-9217287A3D3E}"/>
              </a:ext>
            </a:extLst>
          </p:cNvPr>
          <p:cNvSpPr>
            <a:spLocks xmlns:a="http://schemas.openxmlformats.org/drawingml/2006/main" noGrp="1"/>
          </p:cNvSpPr>
          <p:nvPr/>
        </p:nvSpPr>
        <p:spPr>
          <a:xfrm xmlns:a="http://schemas.openxmlformats.org/drawingml/2006/main">
            <a:off x="4695825"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2A9D6F"/>
                </a:solidFill>
                <a:latin typeface="Arial"/>
                <a:ea typeface="Arial"/>
                <a:cs typeface="Arial"/>
              </a:defRPr>
            </a:defPPr>
          </a:lstStyle>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1.000.000</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verschachtelte</a:t>
            </a:r>
          </a:p>
          <a:p xmlns:a="http://schemas.openxmlformats.org/drawingml/2006/main">
            <a:pPr algn="ctr">
              <a:defRPr sz="2025" b="1">
                <a:solidFill>
                  <a:srgbClr val="2A9D6F"/>
                </a:solidFill>
                <a:latin typeface="Arial"/>
                <a:ea typeface="Arial"/>
                <a:cs typeface="Arial"/>
              </a:defRPr>
            </a:pPr>
            <a:r>
              <a:rPr sz="2025" b="1">
                <a:solidFill>
                  <a:srgbClr val="2A9D6F"/>
                </a:solidFill>
                <a:latin typeface="Arial"/>
                <a:ea typeface="Arial"/>
                <a:cs typeface="Arial"/>
              </a:rPr>
              <a:t>Dokumente</a:t>
            </a:r>
          </a:p>
        </p:txBody>
      </p:sp>
      <p:sp>
        <p:nvSpPr>
          <p:cNvPr id="16" name="">
            <a:extLst xmlns:a="http://schemas.openxmlformats.org/drawingml/2006/main">
              <a:ext uri="{FF2B5EF4-FFF2-40B4-BE49-F238E27FC236}">
                <a16:creationId xmlns:a16="http://schemas.microsoft.com/office/drawing/2014/main" id="{37089B15-8861-44E2-BA3F-45DF7459A531}"/>
              </a:ext>
            </a:extLst>
          </p:cNvPr>
          <p:cNvSpPr>
            <a:spLocks xmlns:a="http://schemas.openxmlformats.org/drawingml/2006/main" noGrp="1"/>
          </p:cNvSpPr>
          <p:nvPr/>
        </p:nvSpPr>
        <p:spPr>
          <a:xfrm xmlns:a="http://schemas.openxmlformats.org/drawingml/2006/main">
            <a:off x="4581525"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JSON · Index · Batch-Upsert</a:t>
            </a:r>
          </a:p>
        </p:txBody>
      </p:sp>
      <p:sp>
        <p:nvSpPr>
          <p:cNvPr id="17" name="">
            <a:extLst xmlns:a="http://schemas.openxmlformats.org/drawingml/2006/main">
              <a:ext uri="{FF2B5EF4-FFF2-40B4-BE49-F238E27FC236}">
                <a16:creationId xmlns:a16="http://schemas.microsoft.com/office/drawing/2014/main" id="{EC6EDC71-820C-49DA-A858-005DDD832985}"/>
              </a:ext>
            </a:extLst>
          </p:cNvPr>
          <p:cNvSpPr>
            <a:spLocks xmlns:a="http://schemas.openxmlformats.org/drawingml/2006/main" noGrp="1"/>
          </p:cNvSpPr>
          <p:nvPr/>
        </p:nvSpPr>
        <p:spPr>
          <a:xfrm xmlns:a="http://schemas.openxmlformats.org/drawingml/2006/main">
            <a:off x="803910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484EB3DA-364B-4707-8076-2B92D131FF7F}"/>
              </a:ext>
            </a:extLst>
          </p:cNvPr>
          <p:cNvSpPr>
            <a:spLocks xmlns:a="http://schemas.openxmlformats.org/drawingml/2006/main" noGrp="1"/>
          </p:cNvSpPr>
          <p:nvPr/>
        </p:nvSpPr>
        <p:spPr>
          <a:xfrm xmlns:a="http://schemas.openxmlformats.org/drawingml/2006/main">
            <a:off x="8039100" y="1619250"/>
            <a:ext cx="3333750" cy="1333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0C49C34-D100-43BC-8B23-1F96234CDA76}"/>
              </a:ext>
            </a:extLst>
          </p:cNvPr>
          <p:cNvSpPr>
            <a:spLocks xmlns:a="http://schemas.openxmlformats.org/drawingml/2006/main" noGrp="1"/>
          </p:cNvSpPr>
          <p:nvPr/>
        </p:nvSpPr>
        <p:spPr>
          <a:xfrm xmlns:a="http://schemas.openxmlformats.org/drawingml/2006/main">
            <a:off x="830580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defRPr sz="2100" b="1">
                <a:solidFill>
                  <a:srgbClr val="102230"/>
                </a:solidFill>
                <a:latin typeface="Arial"/>
                <a:ea typeface="Arial"/>
                <a:cs typeface="Arial"/>
              </a:defRPr>
            </a:pPr>
            <a:r>
              <a:rPr sz="2100" b="1">
                <a:solidFill>
                  <a:srgbClr val="102230"/>
                </a:solidFill>
                <a:latin typeface="Arial"/>
                <a:ea typeface="Arial"/>
                <a:cs typeface="Arial"/>
              </a:rPr>
              <a:t>Neo4j</a:t>
            </a:r>
          </a:p>
        </p:txBody>
      </p:sp>
      <p:sp>
        <p:nvSpPr>
          <p:cNvPr id="20" name="">
            <a:extLst xmlns:a="http://schemas.openxmlformats.org/drawingml/2006/main">
              <a:ext uri="{FF2B5EF4-FFF2-40B4-BE49-F238E27FC236}">
                <a16:creationId xmlns:a16="http://schemas.microsoft.com/office/drawing/2014/main" id="{0EA73943-D771-47C1-A28E-A1C5E2FF5018}"/>
              </a:ext>
            </a:extLst>
          </p:cNvPr>
          <p:cNvSpPr>
            <a:spLocks xmlns:a="http://schemas.openxmlformats.org/drawingml/2006/main" noGrp="1"/>
          </p:cNvSpPr>
          <p:nvPr/>
        </p:nvSpPr>
        <p:spPr>
          <a:xfrm xmlns:a="http://schemas.openxmlformats.org/drawingml/2006/main">
            <a:off x="830580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defRPr sz="1275" b="0">
                <a:solidFill>
                  <a:srgbClr val="536675"/>
                </a:solidFill>
                <a:latin typeface="Arial"/>
                <a:ea typeface="Arial"/>
                <a:cs typeface="Arial"/>
              </a:defRPr>
            </a:pPr>
            <a:r>
              <a:rPr sz="1275" b="0">
                <a:solidFill>
                  <a:srgbClr val="536675"/>
                </a:solidFill>
                <a:latin typeface="Arial"/>
                <a:ea typeface="Arial"/>
                <a:cs typeface="Arial"/>
              </a:rPr>
              <a:t>Technischer Kontext</a:t>
            </a:r>
          </a:p>
        </p:txBody>
      </p:sp>
      <p:sp>
        <p:nvSpPr>
          <p:cNvPr id="21" name="">
            <a:extLst xmlns:a="http://schemas.openxmlformats.org/drawingml/2006/main">
              <a:ext uri="{FF2B5EF4-FFF2-40B4-BE49-F238E27FC236}">
                <a16:creationId xmlns:a16="http://schemas.microsoft.com/office/drawing/2014/main" id="{2C00DF8E-12F2-4DC2-BAD0-0A15067860EB}"/>
              </a:ext>
            </a:extLst>
          </p:cNvPr>
          <p:cNvSpPr>
            <a:spLocks xmlns:a="http://schemas.openxmlformats.org/drawingml/2006/main" noGrp="1"/>
          </p:cNvSpPr>
          <p:nvPr/>
        </p:nvSpPr>
        <p:spPr>
          <a:xfrm xmlns:a="http://schemas.openxmlformats.org/drawingml/2006/main">
            <a:off x="836295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F4A261"/>
                </a:solidFill>
                <a:latin typeface="Arial"/>
                <a:ea typeface="Arial"/>
                <a:cs typeface="Arial"/>
              </a:defRPr>
            </a:defPPr>
          </a:lstStyle>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270 Knoten</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400 gerichtete</a:t>
            </a:r>
          </a:p>
          <a:p xmlns:a="http://schemas.openxmlformats.org/drawingml/2006/main">
            <a:pPr algn="ctr">
              <a:defRPr sz="2025" b="1">
                <a:solidFill>
                  <a:srgbClr val="F4A261"/>
                </a:solidFill>
                <a:latin typeface="Arial"/>
                <a:ea typeface="Arial"/>
                <a:cs typeface="Arial"/>
              </a:defRPr>
            </a:pPr>
            <a:r>
              <a:rPr sz="2025" b="1">
                <a:solidFill>
                  <a:srgbClr val="F4A261"/>
                </a:solidFill>
                <a:latin typeface="Arial"/>
                <a:ea typeface="Arial"/>
                <a:cs typeface="Arial"/>
              </a:rPr>
              <a:t>Beziehungen</a:t>
            </a:r>
          </a:p>
        </p:txBody>
      </p:sp>
      <p:sp>
        <p:nvSpPr>
          <p:cNvPr id="22" name="">
            <a:extLst xmlns:a="http://schemas.openxmlformats.org/drawingml/2006/main">
              <a:ext uri="{FF2B5EF4-FFF2-40B4-BE49-F238E27FC236}">
                <a16:creationId xmlns:a16="http://schemas.microsoft.com/office/drawing/2014/main" id="{003AA467-EDD9-491F-B61D-4F57A5B5C658}"/>
              </a:ext>
            </a:extLst>
          </p:cNvPr>
          <p:cNvSpPr>
            <a:spLocks xmlns:a="http://schemas.openxmlformats.org/drawingml/2006/main" noGrp="1"/>
          </p:cNvSpPr>
          <p:nvPr/>
        </p:nvSpPr>
        <p:spPr>
          <a:xfrm xmlns:a="http://schemas.openxmlformats.org/drawingml/2006/main">
            <a:off x="824865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defRPr sz="1050" b="0">
                <a:solidFill>
                  <a:srgbClr val="536675"/>
                </a:solidFill>
                <a:latin typeface="Arial"/>
                <a:ea typeface="Arial"/>
                <a:cs typeface="Arial"/>
              </a:defRPr>
            </a:pPr>
            <a:r>
              <a:rPr sz="1050" b="0">
                <a:solidFill>
                  <a:srgbClr val="536675"/>
                </a:solidFill>
                <a:latin typeface="Arial"/>
                <a:ea typeface="Arial"/>
                <a:cs typeface="Arial"/>
              </a:rPr>
              <a:t>Cypher · Constraints · MERGE</a:t>
            </a:r>
          </a:p>
        </p:txBody>
      </p:sp>
    </p:spTree>
    <p:extLst>
      <p:ext uri="{BB962C8B-B14F-4D97-AF65-F5344CB8AC3E}">
        <p14:creationId xmlns:p14="http://schemas.microsoft.com/office/powerpoint/2010/main" val="1573992267"/>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5521815F-4F3B-444B-BB61-BB52F3FD2D6C}"/>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AIRFLOW &amp; ETL</a:t>
            </a:r>
          </a:p>
        </p:txBody>
      </p:sp>
      <p:sp>
        <p:nvSpPr>
          <p:cNvPr id="2" name="">
            <a:extLst xmlns:a="http://schemas.openxmlformats.org/drawingml/2006/main">
              <a:ext uri="{FF2B5EF4-FFF2-40B4-BE49-F238E27FC236}">
                <a16:creationId xmlns:a16="http://schemas.microsoft.com/office/drawing/2014/main" id="{EA1BE3C2-0AC6-4203-8234-4A3328F3B543}"/>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Zehn Tasks, ein reproduzierbarer Full-DAG</a:t>
            </a:r>
          </a:p>
        </p:txBody>
      </p:sp>
      <p:sp>
        <p:nvSpPr>
          <p:cNvPr id="3" name="">
            <a:extLst xmlns:a="http://schemas.openxmlformats.org/drawingml/2006/main">
              <a:ext uri="{FF2B5EF4-FFF2-40B4-BE49-F238E27FC236}">
                <a16:creationId xmlns:a16="http://schemas.microsoft.com/office/drawing/2014/main" id="{CBC2A1C6-EF83-4080-B1A8-4697E33C2A46}"/>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F544CD-3127-457A-9A06-10C254A26D46}"/>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FB0E04E-CB23-4602-9B7C-AFD9489BA00B}"/>
              </a:ext>
            </a:extLst>
          </p:cNvPr>
          <p:cNvSpPr>
            <a:spLocks xmlns:a="http://schemas.openxmlformats.org/drawingml/2006/main" noGrp="1"/>
          </p:cNvSpPr>
          <p:nvPr/>
        </p:nvSpPr>
        <p:spPr>
          <a:xfrm xmlns:a="http://schemas.openxmlformats.org/drawingml/2006/main">
            <a:off x="5524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87299403-DB42-4CC5-A829-61B9240E15E0}"/>
              </a:ext>
            </a:extLst>
          </p:cNvPr>
          <p:cNvSpPr>
            <a:spLocks xmlns:a="http://schemas.openxmlformats.org/drawingml/2006/main" noGrp="1"/>
          </p:cNvSpPr>
          <p:nvPr/>
        </p:nvSpPr>
        <p:spPr>
          <a:xfrm xmlns:a="http://schemas.openxmlformats.org/drawingml/2006/main">
            <a:off x="6381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E163872-78C8-407E-B546-000821BA7450}"/>
              </a:ext>
            </a:extLst>
          </p:cNvPr>
          <p:cNvSpPr>
            <a:spLocks xmlns:a="http://schemas.openxmlformats.org/drawingml/2006/main" noGrp="1"/>
          </p:cNvSpPr>
          <p:nvPr/>
        </p:nvSpPr>
        <p:spPr>
          <a:xfrm xmlns:a="http://schemas.openxmlformats.org/drawingml/2006/main">
            <a:off x="6286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Quellen</a:t>
            </a:r>
          </a:p>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prüfen</a:t>
            </a:r>
          </a:p>
        </p:txBody>
      </p:sp>
      <p:sp>
        <p:nvSpPr>
          <p:cNvPr id="8" name="">
            <a:extLst xmlns:a="http://schemas.openxmlformats.org/drawingml/2006/main">
              <a:ext uri="{FF2B5EF4-FFF2-40B4-BE49-F238E27FC236}">
                <a16:creationId xmlns:a16="http://schemas.microsoft.com/office/drawing/2014/main" id="{7D9AE6D4-0778-45FF-AD2A-0E06B1CBFBDA}"/>
              </a:ext>
            </a:extLst>
          </p:cNvPr>
          <p:cNvSpPr>
            <a:spLocks xmlns:a="http://schemas.openxmlformats.org/drawingml/2006/main" noGrp="1"/>
          </p:cNvSpPr>
          <p:nvPr/>
        </p:nvSpPr>
        <p:spPr>
          <a:xfrm xmlns:a="http://schemas.openxmlformats.org/drawingml/2006/main">
            <a:off x="14859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C2CFACFE-9679-4CDB-AE1A-CEECF7BA00A9}"/>
              </a:ext>
            </a:extLst>
          </p:cNvPr>
          <p:cNvSpPr>
            <a:spLocks xmlns:a="http://schemas.openxmlformats.org/drawingml/2006/main" noGrp="1"/>
          </p:cNvSpPr>
          <p:nvPr/>
        </p:nvSpPr>
        <p:spPr>
          <a:xfrm xmlns:a="http://schemas.openxmlformats.org/drawingml/2006/main">
            <a:off x="16573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3EEF120F-40E8-4FFE-8615-47954520B136}"/>
              </a:ext>
            </a:extLst>
          </p:cNvPr>
          <p:cNvSpPr>
            <a:spLocks xmlns:a="http://schemas.openxmlformats.org/drawingml/2006/main" noGrp="1"/>
          </p:cNvSpPr>
          <p:nvPr/>
        </p:nvSpPr>
        <p:spPr>
          <a:xfrm xmlns:a="http://schemas.openxmlformats.org/drawingml/2006/main">
            <a:off x="17430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A0F192E6-5FCF-4C1B-AA1B-D9CF2EAB35E8}"/>
              </a:ext>
            </a:extLst>
          </p:cNvPr>
          <p:cNvSpPr>
            <a:spLocks xmlns:a="http://schemas.openxmlformats.org/drawingml/2006/main" noGrp="1"/>
          </p:cNvSpPr>
          <p:nvPr/>
        </p:nvSpPr>
        <p:spPr>
          <a:xfrm xmlns:a="http://schemas.openxmlformats.org/drawingml/2006/main">
            <a:off x="17335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273"/>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Extrahieren</a:t>
            </a:r>
          </a:p>
        </p:txBody>
      </p:sp>
      <p:sp>
        <p:nvSpPr>
          <p:cNvPr id="12" name="">
            <a:extLst xmlns:a="http://schemas.openxmlformats.org/drawingml/2006/main">
              <a:ext uri="{FF2B5EF4-FFF2-40B4-BE49-F238E27FC236}">
                <a16:creationId xmlns:a16="http://schemas.microsoft.com/office/drawing/2014/main" id="{0B0448CE-F117-4CCD-8F48-41F3DA338D92}"/>
              </a:ext>
            </a:extLst>
          </p:cNvPr>
          <p:cNvSpPr>
            <a:spLocks xmlns:a="http://schemas.openxmlformats.org/drawingml/2006/main" noGrp="1"/>
          </p:cNvSpPr>
          <p:nvPr/>
        </p:nvSpPr>
        <p:spPr>
          <a:xfrm xmlns:a="http://schemas.openxmlformats.org/drawingml/2006/main">
            <a:off x="25908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1B8777CE-05B8-43BB-906F-4D02723076A6}"/>
              </a:ext>
            </a:extLst>
          </p:cNvPr>
          <p:cNvSpPr>
            <a:spLocks xmlns:a="http://schemas.openxmlformats.org/drawingml/2006/main" noGrp="1"/>
          </p:cNvSpPr>
          <p:nvPr/>
        </p:nvSpPr>
        <p:spPr>
          <a:xfrm xmlns:a="http://schemas.openxmlformats.org/drawingml/2006/main">
            <a:off x="27622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F6740EDF-142E-4EF3-AEF1-6E075AB26249}"/>
              </a:ext>
            </a:extLst>
          </p:cNvPr>
          <p:cNvSpPr>
            <a:spLocks xmlns:a="http://schemas.openxmlformats.org/drawingml/2006/main" noGrp="1"/>
          </p:cNvSpPr>
          <p:nvPr/>
        </p:nvSpPr>
        <p:spPr>
          <a:xfrm xmlns:a="http://schemas.openxmlformats.org/drawingml/2006/main">
            <a:off x="28479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92F95A9-00F8-43B9-AE4D-1B2A5F5362C5}"/>
              </a:ext>
            </a:extLst>
          </p:cNvPr>
          <p:cNvSpPr>
            <a:spLocks xmlns:a="http://schemas.openxmlformats.org/drawingml/2006/main" noGrp="1"/>
          </p:cNvSpPr>
          <p:nvPr/>
        </p:nvSpPr>
        <p:spPr>
          <a:xfrm xmlns:a="http://schemas.openxmlformats.org/drawingml/2006/main">
            <a:off x="28384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Normalisieren</a:t>
            </a:r>
          </a:p>
        </p:txBody>
      </p:sp>
      <p:sp>
        <p:nvSpPr>
          <p:cNvPr id="16" name="">
            <a:extLst xmlns:a="http://schemas.openxmlformats.org/drawingml/2006/main">
              <a:ext uri="{FF2B5EF4-FFF2-40B4-BE49-F238E27FC236}">
                <a16:creationId xmlns:a16="http://schemas.microsoft.com/office/drawing/2014/main" id="{39DBC143-FBF1-4CB8-8DB3-0281E3FC05C5}"/>
              </a:ext>
            </a:extLst>
          </p:cNvPr>
          <p:cNvSpPr>
            <a:spLocks xmlns:a="http://schemas.openxmlformats.org/drawingml/2006/main" noGrp="1"/>
          </p:cNvSpPr>
          <p:nvPr/>
        </p:nvSpPr>
        <p:spPr>
          <a:xfrm xmlns:a="http://schemas.openxmlformats.org/drawingml/2006/main">
            <a:off x="36957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58EA6AE4-39DD-4BC9-846C-83F7929FC9D7}"/>
              </a:ext>
            </a:extLst>
          </p:cNvPr>
          <p:cNvSpPr>
            <a:spLocks xmlns:a="http://schemas.openxmlformats.org/drawingml/2006/main" noGrp="1"/>
          </p:cNvSpPr>
          <p:nvPr/>
        </p:nvSpPr>
        <p:spPr>
          <a:xfrm xmlns:a="http://schemas.openxmlformats.org/drawingml/2006/main">
            <a:off x="38671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8B924CBF-FA05-4B94-9CF2-B48695A121AD}"/>
              </a:ext>
            </a:extLst>
          </p:cNvPr>
          <p:cNvSpPr>
            <a:spLocks xmlns:a="http://schemas.openxmlformats.org/drawingml/2006/main" noGrp="1"/>
          </p:cNvSpPr>
          <p:nvPr/>
        </p:nvSpPr>
        <p:spPr>
          <a:xfrm xmlns:a="http://schemas.openxmlformats.org/drawingml/2006/main">
            <a:off x="39528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BE11BFA7-C841-4B0F-B9D0-5B46A9387548}"/>
              </a:ext>
            </a:extLst>
          </p:cNvPr>
          <p:cNvSpPr>
            <a:spLocks xmlns:a="http://schemas.openxmlformats.org/drawingml/2006/main" noGrp="1"/>
          </p:cNvSpPr>
          <p:nvPr/>
        </p:nvSpPr>
        <p:spPr>
          <a:xfrm xmlns:a="http://schemas.openxmlformats.org/drawingml/2006/main">
            <a:off x="39433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Spark</a:t>
            </a:r>
          </a:p>
        </p:txBody>
      </p:sp>
      <p:sp>
        <p:nvSpPr>
          <p:cNvPr id="20" name="">
            <a:extLst xmlns:a="http://schemas.openxmlformats.org/drawingml/2006/main">
              <a:ext uri="{FF2B5EF4-FFF2-40B4-BE49-F238E27FC236}">
                <a16:creationId xmlns:a16="http://schemas.microsoft.com/office/drawing/2014/main" id="{A1CC2BA4-C60F-4908-A4A8-E57846C81F73}"/>
              </a:ext>
            </a:extLst>
          </p:cNvPr>
          <p:cNvSpPr>
            <a:spLocks xmlns:a="http://schemas.openxmlformats.org/drawingml/2006/main" noGrp="1"/>
          </p:cNvSpPr>
          <p:nvPr/>
        </p:nvSpPr>
        <p:spPr>
          <a:xfrm xmlns:a="http://schemas.openxmlformats.org/drawingml/2006/main">
            <a:off x="48006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4099C515-6B74-4D02-827B-954C14D9780B}"/>
              </a:ext>
            </a:extLst>
          </p:cNvPr>
          <p:cNvSpPr>
            <a:spLocks xmlns:a="http://schemas.openxmlformats.org/drawingml/2006/main" noGrp="1"/>
          </p:cNvSpPr>
          <p:nvPr/>
        </p:nvSpPr>
        <p:spPr>
          <a:xfrm xmlns:a="http://schemas.openxmlformats.org/drawingml/2006/main">
            <a:off x="49720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1B807310-B643-42EF-8FBC-2A21DE0DCEBC}"/>
              </a:ext>
            </a:extLst>
          </p:cNvPr>
          <p:cNvSpPr>
            <a:spLocks xmlns:a="http://schemas.openxmlformats.org/drawingml/2006/main" noGrp="1"/>
          </p:cNvSpPr>
          <p:nvPr/>
        </p:nvSpPr>
        <p:spPr>
          <a:xfrm xmlns:a="http://schemas.openxmlformats.org/drawingml/2006/main">
            <a:off x="50577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26E0424F-810F-420D-A43C-33BFBD07353E}"/>
              </a:ext>
            </a:extLst>
          </p:cNvPr>
          <p:cNvSpPr>
            <a:spLocks xmlns:a="http://schemas.openxmlformats.org/drawingml/2006/main" noGrp="1"/>
          </p:cNvSpPr>
          <p:nvPr/>
        </p:nvSpPr>
        <p:spPr>
          <a:xfrm xmlns:a="http://schemas.openxmlformats.org/drawingml/2006/main">
            <a:off x="50482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Metriken</a:t>
            </a:r>
          </a:p>
        </p:txBody>
      </p:sp>
      <p:sp>
        <p:nvSpPr>
          <p:cNvPr id="24" name="">
            <a:extLst xmlns:a="http://schemas.openxmlformats.org/drawingml/2006/main">
              <a:ext uri="{FF2B5EF4-FFF2-40B4-BE49-F238E27FC236}">
                <a16:creationId xmlns:a16="http://schemas.microsoft.com/office/drawing/2014/main" id="{1AB2B1C1-C033-42EA-BFBC-8D6C3F0C90AB}"/>
              </a:ext>
            </a:extLst>
          </p:cNvPr>
          <p:cNvSpPr>
            <a:spLocks xmlns:a="http://schemas.openxmlformats.org/drawingml/2006/main" noGrp="1"/>
          </p:cNvSpPr>
          <p:nvPr/>
        </p:nvSpPr>
        <p:spPr>
          <a:xfrm xmlns:a="http://schemas.openxmlformats.org/drawingml/2006/main">
            <a:off x="59055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8C8D7D5D-B3B4-4987-BE8D-ED684C06A614}"/>
              </a:ext>
            </a:extLst>
          </p:cNvPr>
          <p:cNvSpPr>
            <a:spLocks xmlns:a="http://schemas.openxmlformats.org/drawingml/2006/main" noGrp="1"/>
          </p:cNvSpPr>
          <p:nvPr/>
        </p:nvSpPr>
        <p:spPr>
          <a:xfrm xmlns:a="http://schemas.openxmlformats.org/drawingml/2006/main">
            <a:off x="60769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D99AA5D6-0DD0-494A-9C04-40DAB796F421}"/>
              </a:ext>
            </a:extLst>
          </p:cNvPr>
          <p:cNvSpPr>
            <a:spLocks xmlns:a="http://schemas.openxmlformats.org/drawingml/2006/main" noGrp="1"/>
          </p:cNvSpPr>
          <p:nvPr/>
        </p:nvSpPr>
        <p:spPr>
          <a:xfrm xmlns:a="http://schemas.openxmlformats.org/drawingml/2006/main">
            <a:off x="61626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3C9806DD-8F36-4F65-9DDF-4AB068E93DBE}"/>
              </a:ext>
            </a:extLst>
          </p:cNvPr>
          <p:cNvSpPr>
            <a:spLocks xmlns:a="http://schemas.openxmlformats.org/drawingml/2006/main" noGrp="1"/>
          </p:cNvSpPr>
          <p:nvPr/>
        </p:nvSpPr>
        <p:spPr>
          <a:xfrm xmlns:a="http://schemas.openxmlformats.org/drawingml/2006/main">
            <a:off x="61531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MLlib</a:t>
            </a:r>
          </a:p>
        </p:txBody>
      </p:sp>
      <p:sp>
        <p:nvSpPr>
          <p:cNvPr id="28" name="">
            <a:extLst xmlns:a="http://schemas.openxmlformats.org/drawingml/2006/main">
              <a:ext uri="{FF2B5EF4-FFF2-40B4-BE49-F238E27FC236}">
                <a16:creationId xmlns:a16="http://schemas.microsoft.com/office/drawing/2014/main" id="{C73FB5C9-3F65-43D0-B844-993407E064BA}"/>
              </a:ext>
            </a:extLst>
          </p:cNvPr>
          <p:cNvSpPr>
            <a:spLocks xmlns:a="http://schemas.openxmlformats.org/drawingml/2006/main" noGrp="1"/>
          </p:cNvSpPr>
          <p:nvPr/>
        </p:nvSpPr>
        <p:spPr>
          <a:xfrm xmlns:a="http://schemas.openxmlformats.org/drawingml/2006/main">
            <a:off x="70104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9" name="">
            <a:extLst xmlns:a="http://schemas.openxmlformats.org/drawingml/2006/main">
              <a:ext uri="{FF2B5EF4-FFF2-40B4-BE49-F238E27FC236}">
                <a16:creationId xmlns:a16="http://schemas.microsoft.com/office/drawing/2014/main" id="{7848BCA5-330C-4DAE-AA5F-5606985537A1}"/>
              </a:ext>
            </a:extLst>
          </p:cNvPr>
          <p:cNvSpPr>
            <a:spLocks xmlns:a="http://schemas.openxmlformats.org/drawingml/2006/main" noGrp="1"/>
          </p:cNvSpPr>
          <p:nvPr/>
        </p:nvSpPr>
        <p:spPr>
          <a:xfrm xmlns:a="http://schemas.openxmlformats.org/drawingml/2006/main">
            <a:off x="71818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0" name="">
            <a:extLst xmlns:a="http://schemas.openxmlformats.org/drawingml/2006/main">
              <a:ext uri="{FF2B5EF4-FFF2-40B4-BE49-F238E27FC236}">
                <a16:creationId xmlns:a16="http://schemas.microsoft.com/office/drawing/2014/main" id="{32BF86D4-ADA2-4C97-861E-E3CBCF8EAEF2}"/>
              </a:ext>
            </a:extLst>
          </p:cNvPr>
          <p:cNvSpPr>
            <a:spLocks xmlns:a="http://schemas.openxmlformats.org/drawingml/2006/main" noGrp="1"/>
          </p:cNvSpPr>
          <p:nvPr/>
        </p:nvSpPr>
        <p:spPr>
          <a:xfrm xmlns:a="http://schemas.openxmlformats.org/drawingml/2006/main">
            <a:off x="72675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07</a:t>
            </a:r>
          </a:p>
        </p:txBody>
      </p:sp>
      <p:sp>
        <p:nvSpPr>
          <p:cNvPr id="31" name="">
            <a:extLst xmlns:a="http://schemas.openxmlformats.org/drawingml/2006/main">
              <a:ext uri="{FF2B5EF4-FFF2-40B4-BE49-F238E27FC236}">
                <a16:creationId xmlns:a16="http://schemas.microsoft.com/office/drawing/2014/main" id="{F16CE529-9FC1-468B-8848-0A62B7299C16}"/>
              </a:ext>
            </a:extLst>
          </p:cNvPr>
          <p:cNvSpPr>
            <a:spLocks xmlns:a="http://schemas.openxmlformats.org/drawingml/2006/main" noGrp="1"/>
          </p:cNvSpPr>
          <p:nvPr/>
        </p:nvSpPr>
        <p:spPr>
          <a:xfrm xmlns:a="http://schemas.openxmlformats.org/drawingml/2006/main">
            <a:off x="72580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PostgreSQL</a:t>
            </a:r>
          </a:p>
        </p:txBody>
      </p:sp>
      <p:sp>
        <p:nvSpPr>
          <p:cNvPr id="32" name="">
            <a:extLst xmlns:a="http://schemas.openxmlformats.org/drawingml/2006/main">
              <a:ext uri="{FF2B5EF4-FFF2-40B4-BE49-F238E27FC236}">
                <a16:creationId xmlns:a16="http://schemas.microsoft.com/office/drawing/2014/main" id="{39FDCB29-B657-478D-A21A-C47734CEAF23}"/>
              </a:ext>
            </a:extLst>
          </p:cNvPr>
          <p:cNvSpPr>
            <a:spLocks xmlns:a="http://schemas.openxmlformats.org/drawingml/2006/main" noGrp="1"/>
          </p:cNvSpPr>
          <p:nvPr/>
        </p:nvSpPr>
        <p:spPr>
          <a:xfrm xmlns:a="http://schemas.openxmlformats.org/drawingml/2006/main">
            <a:off x="81153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3" name="">
            <a:extLst xmlns:a="http://schemas.openxmlformats.org/drawingml/2006/main">
              <a:ext uri="{FF2B5EF4-FFF2-40B4-BE49-F238E27FC236}">
                <a16:creationId xmlns:a16="http://schemas.microsoft.com/office/drawing/2014/main" id="{E82B6857-EECD-4CE8-9D54-FF0C52CC74E2}"/>
              </a:ext>
            </a:extLst>
          </p:cNvPr>
          <p:cNvSpPr>
            <a:spLocks xmlns:a="http://schemas.openxmlformats.org/drawingml/2006/main" noGrp="1"/>
          </p:cNvSpPr>
          <p:nvPr/>
        </p:nvSpPr>
        <p:spPr>
          <a:xfrm xmlns:a="http://schemas.openxmlformats.org/drawingml/2006/main">
            <a:off x="82867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4" name="">
            <a:extLst xmlns:a="http://schemas.openxmlformats.org/drawingml/2006/main">
              <a:ext uri="{FF2B5EF4-FFF2-40B4-BE49-F238E27FC236}">
                <a16:creationId xmlns:a16="http://schemas.microsoft.com/office/drawing/2014/main" id="{E5B59AFF-D16E-4615-90F7-15467D88EE7C}"/>
              </a:ext>
            </a:extLst>
          </p:cNvPr>
          <p:cNvSpPr>
            <a:spLocks xmlns:a="http://schemas.openxmlformats.org/drawingml/2006/main" noGrp="1"/>
          </p:cNvSpPr>
          <p:nvPr/>
        </p:nvSpPr>
        <p:spPr>
          <a:xfrm xmlns:a="http://schemas.openxmlformats.org/drawingml/2006/main">
            <a:off x="83724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08</a:t>
            </a:r>
          </a:p>
        </p:txBody>
      </p:sp>
      <p:sp>
        <p:nvSpPr>
          <p:cNvPr id="35" name="">
            <a:extLst xmlns:a="http://schemas.openxmlformats.org/drawingml/2006/main">
              <a:ext uri="{FF2B5EF4-FFF2-40B4-BE49-F238E27FC236}">
                <a16:creationId xmlns:a16="http://schemas.microsoft.com/office/drawing/2014/main" id="{CCEC4044-55FB-4667-9265-025CDFE79F18}"/>
              </a:ext>
            </a:extLst>
          </p:cNvPr>
          <p:cNvSpPr>
            <a:spLocks xmlns:a="http://schemas.openxmlformats.org/drawingml/2006/main" noGrp="1"/>
          </p:cNvSpPr>
          <p:nvPr/>
        </p:nvSpPr>
        <p:spPr>
          <a:xfrm xmlns:a="http://schemas.openxmlformats.org/drawingml/2006/main">
            <a:off x="83629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Neo4j</a:t>
            </a:r>
          </a:p>
        </p:txBody>
      </p:sp>
      <p:sp>
        <p:nvSpPr>
          <p:cNvPr id="36" name="">
            <a:extLst xmlns:a="http://schemas.openxmlformats.org/drawingml/2006/main">
              <a:ext uri="{FF2B5EF4-FFF2-40B4-BE49-F238E27FC236}">
                <a16:creationId xmlns:a16="http://schemas.microsoft.com/office/drawing/2014/main" id="{004BA760-AF11-4B64-9034-B4F8E6C4C601}"/>
              </a:ext>
            </a:extLst>
          </p:cNvPr>
          <p:cNvSpPr>
            <a:spLocks xmlns:a="http://schemas.openxmlformats.org/drawingml/2006/main" noGrp="1"/>
          </p:cNvSpPr>
          <p:nvPr/>
        </p:nvSpPr>
        <p:spPr>
          <a:xfrm xmlns:a="http://schemas.openxmlformats.org/drawingml/2006/main">
            <a:off x="92202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7" name="">
            <a:extLst xmlns:a="http://schemas.openxmlformats.org/drawingml/2006/main">
              <a:ext uri="{FF2B5EF4-FFF2-40B4-BE49-F238E27FC236}">
                <a16:creationId xmlns:a16="http://schemas.microsoft.com/office/drawing/2014/main" id="{2719055E-A38D-4CFF-BF3E-2D9025E1D569}"/>
              </a:ext>
            </a:extLst>
          </p:cNvPr>
          <p:cNvSpPr>
            <a:spLocks xmlns:a="http://schemas.openxmlformats.org/drawingml/2006/main" noGrp="1"/>
          </p:cNvSpPr>
          <p:nvPr/>
        </p:nvSpPr>
        <p:spPr>
          <a:xfrm xmlns:a="http://schemas.openxmlformats.org/drawingml/2006/main">
            <a:off x="9391650" y="1714500"/>
            <a:ext cx="933450" cy="781050"/>
          </a:xfrm>
          <a:prstGeom xmlns:a="http://schemas.openxmlformats.org/drawingml/2006/main" prst="roundRect">
            <a:avLst>
              <a:gd name="adj" fmla="val 14634"/>
            </a:avLst>
          </a:prstGeom>
          <a:solidFill xmlns:a="http://schemas.openxmlformats.org/drawingml/2006/main">
            <a:srgbClr val="FFF2E7"/>
          </a:solidFill>
          <a:ln xmlns:a="http://schemas.openxmlformats.org/drawingml/2006/main" w="9525">
            <a:solidFill>
              <a:srgbClr val="F4A261"/>
            </a:solidFill>
            <a:prstDash val="solid"/>
          </a:ln>
        </p:spPr>
      </p:sp>
      <p:sp>
        <p:nvSpPr>
          <p:cNvPr id="38" name="">
            <a:extLst xmlns:a="http://schemas.openxmlformats.org/drawingml/2006/main">
              <a:ext uri="{FF2B5EF4-FFF2-40B4-BE49-F238E27FC236}">
                <a16:creationId xmlns:a16="http://schemas.microsoft.com/office/drawing/2014/main" id="{A1A665E6-F12F-40D5-8E7F-CE03297551D6}"/>
              </a:ext>
            </a:extLst>
          </p:cNvPr>
          <p:cNvSpPr>
            <a:spLocks xmlns:a="http://schemas.openxmlformats.org/drawingml/2006/main" noGrp="1"/>
          </p:cNvSpPr>
          <p:nvPr/>
        </p:nvSpPr>
        <p:spPr>
          <a:xfrm xmlns:a="http://schemas.openxmlformats.org/drawingml/2006/main">
            <a:off x="94773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C8553D"/>
                </a:solidFill>
                <a:latin typeface="Arial"/>
                <a:ea typeface="Arial"/>
                <a:cs typeface="Arial"/>
              </a:defRPr>
            </a:defPPr>
          </a:lstStyle>
          <a:p xmlns:a="http://schemas.openxmlformats.org/drawingml/2006/main">
            <a:pPr algn="l">
              <a:defRPr sz="750" b="1">
                <a:solidFill>
                  <a:srgbClr val="C8553D"/>
                </a:solidFill>
                <a:latin typeface="Arial"/>
                <a:ea typeface="Arial"/>
                <a:cs typeface="Arial"/>
              </a:defRPr>
            </a:pPr>
            <a:r>
              <a:rPr sz="750" b="1">
                <a:solidFill>
                  <a:srgbClr val="C8553D"/>
                </a:solidFill>
                <a:latin typeface="Arial"/>
                <a:ea typeface="Arial"/>
                <a:cs typeface="Arial"/>
              </a:rPr>
              <a:t>09</a:t>
            </a:r>
          </a:p>
        </p:txBody>
      </p:sp>
      <p:sp>
        <p:nvSpPr>
          <p:cNvPr id="39" name="">
            <a:extLst xmlns:a="http://schemas.openxmlformats.org/drawingml/2006/main">
              <a:ext uri="{FF2B5EF4-FFF2-40B4-BE49-F238E27FC236}">
                <a16:creationId xmlns:a16="http://schemas.microsoft.com/office/drawing/2014/main" id="{704A1B00-7C87-48F6-B4B6-C008C7DC4780}"/>
              </a:ext>
            </a:extLst>
          </p:cNvPr>
          <p:cNvSpPr>
            <a:spLocks xmlns:a="http://schemas.openxmlformats.org/drawingml/2006/main" noGrp="1"/>
          </p:cNvSpPr>
          <p:nvPr/>
        </p:nvSpPr>
        <p:spPr>
          <a:xfrm xmlns:a="http://schemas.openxmlformats.org/drawingml/2006/main">
            <a:off x="94678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Quality Gate</a:t>
            </a:r>
          </a:p>
        </p:txBody>
      </p:sp>
      <p:sp>
        <p:nvSpPr>
          <p:cNvPr id="40" name="">
            <a:extLst xmlns:a="http://schemas.openxmlformats.org/drawingml/2006/main">
              <a:ext uri="{FF2B5EF4-FFF2-40B4-BE49-F238E27FC236}">
                <a16:creationId xmlns:a16="http://schemas.microsoft.com/office/drawing/2014/main" id="{F724CF37-64AF-471A-83CB-FEE42F9285C1}"/>
              </a:ext>
            </a:extLst>
          </p:cNvPr>
          <p:cNvSpPr>
            <a:spLocks xmlns:a="http://schemas.openxmlformats.org/drawingml/2006/main" noGrp="1"/>
          </p:cNvSpPr>
          <p:nvPr/>
        </p:nvSpPr>
        <p:spPr>
          <a:xfrm xmlns:a="http://schemas.openxmlformats.org/drawingml/2006/main">
            <a:off x="103251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41" name="">
            <a:extLst xmlns:a="http://schemas.openxmlformats.org/drawingml/2006/main">
              <a:ext uri="{FF2B5EF4-FFF2-40B4-BE49-F238E27FC236}">
                <a16:creationId xmlns:a16="http://schemas.microsoft.com/office/drawing/2014/main" id="{EBB50F03-4204-49D8-AE5C-D2F7906A3499}"/>
              </a:ext>
            </a:extLst>
          </p:cNvPr>
          <p:cNvSpPr>
            <a:spLocks xmlns:a="http://schemas.openxmlformats.org/drawingml/2006/main" noGrp="1"/>
          </p:cNvSpPr>
          <p:nvPr/>
        </p:nvSpPr>
        <p:spPr>
          <a:xfrm xmlns:a="http://schemas.openxmlformats.org/drawingml/2006/main">
            <a:off x="104965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42" name="">
            <a:extLst xmlns:a="http://schemas.openxmlformats.org/drawingml/2006/main">
              <a:ext uri="{FF2B5EF4-FFF2-40B4-BE49-F238E27FC236}">
                <a16:creationId xmlns:a16="http://schemas.microsoft.com/office/drawing/2014/main" id="{4437EBAF-509F-41FD-99BC-23C4D2320A9E}"/>
              </a:ext>
            </a:extLst>
          </p:cNvPr>
          <p:cNvSpPr>
            <a:spLocks xmlns:a="http://schemas.openxmlformats.org/drawingml/2006/main" noGrp="1"/>
          </p:cNvSpPr>
          <p:nvPr/>
        </p:nvSpPr>
        <p:spPr>
          <a:xfrm xmlns:a="http://schemas.openxmlformats.org/drawingml/2006/main">
            <a:off x="105822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defRPr sz="750" b="1">
                <a:solidFill>
                  <a:srgbClr val="1B7F8C"/>
                </a:solidFill>
                <a:latin typeface="Arial"/>
                <a:ea typeface="Arial"/>
                <a:cs typeface="Arial"/>
              </a:defRPr>
            </a:pPr>
            <a:r>
              <a:rPr sz="750" b="1">
                <a:solidFill>
                  <a:srgbClr val="1B7F8C"/>
                </a:solidFill>
                <a:latin typeface="Arial"/>
                <a:ea typeface="Arial"/>
                <a:cs typeface="Arial"/>
              </a:rPr>
              <a:t>10</a:t>
            </a:r>
          </a:p>
        </p:txBody>
      </p:sp>
      <p:sp>
        <p:nvSpPr>
          <p:cNvPr id="43" name="">
            <a:extLst xmlns:a="http://schemas.openxmlformats.org/drawingml/2006/main">
              <a:ext uri="{FF2B5EF4-FFF2-40B4-BE49-F238E27FC236}">
                <a16:creationId xmlns:a16="http://schemas.microsoft.com/office/drawing/2014/main" id="{89A46C6B-48AA-43DC-9B12-FEBC2E3598DC}"/>
              </a:ext>
            </a:extLst>
          </p:cNvPr>
          <p:cNvSpPr>
            <a:spLocks xmlns:a="http://schemas.openxmlformats.org/drawingml/2006/main" noGrp="1"/>
          </p:cNvSpPr>
          <p:nvPr/>
        </p:nvSpPr>
        <p:spPr>
          <a:xfrm xmlns:a="http://schemas.openxmlformats.org/drawingml/2006/main">
            <a:off x="105727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defRPr sz="975" b="1">
                <a:solidFill>
                  <a:srgbClr val="102230"/>
                </a:solidFill>
                <a:latin typeface="Arial"/>
                <a:ea typeface="Arial"/>
                <a:cs typeface="Arial"/>
              </a:defRPr>
            </a:pPr>
            <a:r>
              <a:rPr sz="975" b="1">
                <a:solidFill>
                  <a:srgbClr val="102230"/>
                </a:solidFill>
                <a:latin typeface="Arial"/>
                <a:ea typeface="Arial"/>
                <a:cs typeface="Arial"/>
              </a:rPr>
              <a:t>Summary</a:t>
            </a:r>
          </a:p>
        </p:txBody>
      </p:sp>
      <p:sp>
        <p:nvSpPr>
          <p:cNvPr id="44" name="">
            <a:extLst xmlns:a="http://schemas.openxmlformats.org/drawingml/2006/main">
              <a:ext uri="{FF2B5EF4-FFF2-40B4-BE49-F238E27FC236}">
                <a16:creationId xmlns:a16="http://schemas.microsoft.com/office/drawing/2014/main" id="{88678F9A-6EEF-4C64-9879-90811B7C084F}"/>
              </a:ext>
            </a:extLst>
          </p:cNvPr>
          <p:cNvSpPr>
            <a:spLocks xmlns:a="http://schemas.openxmlformats.org/drawingml/2006/main" noGrp="1"/>
          </p:cNvSpPr>
          <p:nvPr/>
        </p:nvSpPr>
        <p:spPr>
          <a:xfrm xmlns:a="http://schemas.openxmlformats.org/drawingml/2006/main">
            <a:off x="6858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5" name="">
            <a:extLst xmlns:a="http://schemas.openxmlformats.org/drawingml/2006/main">
              <a:ext uri="{FF2B5EF4-FFF2-40B4-BE49-F238E27FC236}">
                <a16:creationId xmlns:a16="http://schemas.microsoft.com/office/drawing/2014/main" id="{DD055F71-4C45-4179-99CF-B18602860D7D}"/>
              </a:ext>
            </a:extLst>
          </p:cNvPr>
          <p:cNvSpPr>
            <a:spLocks xmlns:a="http://schemas.openxmlformats.org/drawingml/2006/main" noGrp="1"/>
          </p:cNvSpPr>
          <p:nvPr/>
        </p:nvSpPr>
        <p:spPr>
          <a:xfrm xmlns:a="http://schemas.openxmlformats.org/drawingml/2006/main">
            <a:off x="685800" y="30670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1CBF975-BE73-4A4D-8746-4F6A2A25CD2F}"/>
              </a:ext>
            </a:extLst>
          </p:cNvPr>
          <p:cNvSpPr>
            <a:spLocks xmlns:a="http://schemas.openxmlformats.org/drawingml/2006/main" noGrp="1"/>
          </p:cNvSpPr>
          <p:nvPr/>
        </p:nvSpPr>
        <p:spPr>
          <a:xfrm xmlns:a="http://schemas.openxmlformats.org/drawingml/2006/main">
            <a:off x="9334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994.905</a:t>
            </a:r>
          </a:p>
        </p:txBody>
      </p:sp>
      <p:sp>
        <p:nvSpPr>
          <p:cNvPr id="47" name="">
            <a:extLst xmlns:a="http://schemas.openxmlformats.org/drawingml/2006/main">
              <a:ext uri="{FF2B5EF4-FFF2-40B4-BE49-F238E27FC236}">
                <a16:creationId xmlns:a16="http://schemas.microsoft.com/office/drawing/2014/main" id="{0815F181-8740-47F8-8B2D-9A2B5D961CD3}"/>
              </a:ext>
            </a:extLst>
          </p:cNvPr>
          <p:cNvSpPr>
            <a:spLocks xmlns:a="http://schemas.openxmlformats.org/drawingml/2006/main" noGrp="1"/>
          </p:cNvSpPr>
          <p:nvPr/>
        </p:nvSpPr>
        <p:spPr>
          <a:xfrm xmlns:a="http://schemas.openxmlformats.org/drawingml/2006/main">
            <a:off x="9334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valide Messungen</a:t>
            </a:r>
          </a:p>
        </p:txBody>
      </p:sp>
      <p:sp>
        <p:nvSpPr>
          <p:cNvPr id="48" name="">
            <a:extLst xmlns:a="http://schemas.openxmlformats.org/drawingml/2006/main">
              <a:ext uri="{FF2B5EF4-FFF2-40B4-BE49-F238E27FC236}">
                <a16:creationId xmlns:a16="http://schemas.microsoft.com/office/drawing/2014/main" id="{5D0EAFA8-ED14-40E4-95AA-CCF7311F1B85}"/>
              </a:ext>
            </a:extLst>
          </p:cNvPr>
          <p:cNvSpPr>
            <a:spLocks xmlns:a="http://schemas.openxmlformats.org/drawingml/2006/main" noGrp="1"/>
          </p:cNvSpPr>
          <p:nvPr/>
        </p:nvSpPr>
        <p:spPr>
          <a:xfrm xmlns:a="http://schemas.openxmlformats.org/drawingml/2006/main">
            <a:off x="33337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9" name="">
            <a:extLst xmlns:a="http://schemas.openxmlformats.org/drawingml/2006/main">
              <a:ext uri="{FF2B5EF4-FFF2-40B4-BE49-F238E27FC236}">
                <a16:creationId xmlns:a16="http://schemas.microsoft.com/office/drawing/2014/main" id="{0AE4F00A-B82D-409E-B37D-7A8154586668}"/>
              </a:ext>
            </a:extLst>
          </p:cNvPr>
          <p:cNvSpPr>
            <a:spLocks xmlns:a="http://schemas.openxmlformats.org/drawingml/2006/main" noGrp="1"/>
          </p:cNvSpPr>
          <p:nvPr/>
        </p:nvSpPr>
        <p:spPr>
          <a:xfrm xmlns:a="http://schemas.openxmlformats.org/drawingml/2006/main">
            <a:off x="3333750" y="3067050"/>
            <a:ext cx="66675" cy="1200150"/>
          </a:xfrm>
          <a:prstGeom xmlns:a="http://schemas.openxmlformats.org/drawingml/2006/main" prst="roundRect">
            <a:avLst>
              <a:gd name="adj" fmla="val 50000"/>
            </a:avLst>
          </a:prstGeom>
          <a:solidFill xmlns:a="http://schemas.openxmlformats.org/drawingml/2006/main">
            <a:srgbClr val="C855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0203F95-C946-40E7-93CB-BD27FEEFF745}"/>
              </a:ext>
            </a:extLst>
          </p:cNvPr>
          <p:cNvSpPr>
            <a:spLocks xmlns:a="http://schemas.openxmlformats.org/drawingml/2006/main" noGrp="1"/>
          </p:cNvSpPr>
          <p:nvPr/>
        </p:nvSpPr>
        <p:spPr>
          <a:xfrm xmlns:a="http://schemas.openxmlformats.org/drawingml/2006/main">
            <a:off x="35814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5.095</a:t>
            </a:r>
          </a:p>
        </p:txBody>
      </p:sp>
      <p:sp>
        <p:nvSpPr>
          <p:cNvPr id="51" name="">
            <a:extLst xmlns:a="http://schemas.openxmlformats.org/drawingml/2006/main">
              <a:ext uri="{FF2B5EF4-FFF2-40B4-BE49-F238E27FC236}">
                <a16:creationId xmlns:a16="http://schemas.microsoft.com/office/drawing/2014/main" id="{C2F9C187-27ED-4BCD-BD99-181EF881F2C3}"/>
              </a:ext>
            </a:extLst>
          </p:cNvPr>
          <p:cNvSpPr>
            <a:spLocks xmlns:a="http://schemas.openxmlformats.org/drawingml/2006/main" noGrp="1"/>
          </p:cNvSpPr>
          <p:nvPr/>
        </p:nvSpPr>
        <p:spPr>
          <a:xfrm xmlns:a="http://schemas.openxmlformats.org/drawingml/2006/main">
            <a:off x="35814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Quarantänefälle</a:t>
            </a:r>
          </a:p>
        </p:txBody>
      </p:sp>
      <p:sp>
        <p:nvSpPr>
          <p:cNvPr id="52" name="">
            <a:extLst xmlns:a="http://schemas.openxmlformats.org/drawingml/2006/main">
              <a:ext uri="{FF2B5EF4-FFF2-40B4-BE49-F238E27FC236}">
                <a16:creationId xmlns:a16="http://schemas.microsoft.com/office/drawing/2014/main" id="{9B626808-E7EA-4C54-81E0-8E5AB2A21243}"/>
              </a:ext>
            </a:extLst>
          </p:cNvPr>
          <p:cNvSpPr>
            <a:spLocks xmlns:a="http://schemas.openxmlformats.org/drawingml/2006/main" noGrp="1"/>
          </p:cNvSpPr>
          <p:nvPr/>
        </p:nvSpPr>
        <p:spPr>
          <a:xfrm xmlns:a="http://schemas.openxmlformats.org/drawingml/2006/main">
            <a:off x="59817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3" name="">
            <a:extLst xmlns:a="http://schemas.openxmlformats.org/drawingml/2006/main">
              <a:ext uri="{FF2B5EF4-FFF2-40B4-BE49-F238E27FC236}">
                <a16:creationId xmlns:a16="http://schemas.microsoft.com/office/drawing/2014/main" id="{8AD0E3F2-68E4-4BC4-BADD-62F4B4043A32}"/>
              </a:ext>
            </a:extLst>
          </p:cNvPr>
          <p:cNvSpPr>
            <a:spLocks xmlns:a="http://schemas.openxmlformats.org/drawingml/2006/main" noGrp="1"/>
          </p:cNvSpPr>
          <p:nvPr/>
        </p:nvSpPr>
        <p:spPr>
          <a:xfrm xmlns:a="http://schemas.openxmlformats.org/drawingml/2006/main">
            <a:off x="5981700" y="30670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4C564AE6-68E5-4CE1-909D-25B083A1C56E}"/>
              </a:ext>
            </a:extLst>
          </p:cNvPr>
          <p:cNvSpPr>
            <a:spLocks xmlns:a="http://schemas.openxmlformats.org/drawingml/2006/main" noGrp="1"/>
          </p:cNvSpPr>
          <p:nvPr/>
        </p:nvSpPr>
        <p:spPr>
          <a:xfrm xmlns:a="http://schemas.openxmlformats.org/drawingml/2006/main">
            <a:off x="62293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0,51 %</a:t>
            </a:r>
          </a:p>
        </p:txBody>
      </p:sp>
      <p:sp>
        <p:nvSpPr>
          <p:cNvPr id="55" name="">
            <a:extLst xmlns:a="http://schemas.openxmlformats.org/drawingml/2006/main">
              <a:ext uri="{FF2B5EF4-FFF2-40B4-BE49-F238E27FC236}">
                <a16:creationId xmlns:a16="http://schemas.microsoft.com/office/drawing/2014/main" id="{5F5F4D93-7EFE-4EB6-B889-16D3ECF672CA}"/>
              </a:ext>
            </a:extLst>
          </p:cNvPr>
          <p:cNvSpPr>
            <a:spLocks xmlns:a="http://schemas.openxmlformats.org/drawingml/2006/main" noGrp="1"/>
          </p:cNvSpPr>
          <p:nvPr/>
        </p:nvSpPr>
        <p:spPr>
          <a:xfrm xmlns:a="http://schemas.openxmlformats.org/drawingml/2006/main">
            <a:off x="62293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Ausschuss &lt; 2 % Gate</a:t>
            </a:r>
          </a:p>
        </p:txBody>
      </p:sp>
      <p:sp>
        <p:nvSpPr>
          <p:cNvPr id="56" name="">
            <a:extLst xmlns:a="http://schemas.openxmlformats.org/drawingml/2006/main">
              <a:ext uri="{FF2B5EF4-FFF2-40B4-BE49-F238E27FC236}">
                <a16:creationId xmlns:a16="http://schemas.microsoft.com/office/drawing/2014/main" id="{67B8653D-76CB-4FF5-82E3-B5DB862613F5}"/>
              </a:ext>
            </a:extLst>
          </p:cNvPr>
          <p:cNvSpPr>
            <a:spLocks xmlns:a="http://schemas.openxmlformats.org/drawingml/2006/main" noGrp="1"/>
          </p:cNvSpPr>
          <p:nvPr/>
        </p:nvSpPr>
        <p:spPr>
          <a:xfrm xmlns:a="http://schemas.openxmlformats.org/drawingml/2006/main">
            <a:off x="86296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7" name="">
            <a:extLst xmlns:a="http://schemas.openxmlformats.org/drawingml/2006/main">
              <a:ext uri="{FF2B5EF4-FFF2-40B4-BE49-F238E27FC236}">
                <a16:creationId xmlns:a16="http://schemas.microsoft.com/office/drawing/2014/main" id="{D3B6A3E0-84EC-434C-A701-AAED4F079E50}"/>
              </a:ext>
            </a:extLst>
          </p:cNvPr>
          <p:cNvSpPr>
            <a:spLocks xmlns:a="http://schemas.openxmlformats.org/drawingml/2006/main" noGrp="1"/>
          </p:cNvSpPr>
          <p:nvPr/>
        </p:nvSpPr>
        <p:spPr>
          <a:xfrm xmlns:a="http://schemas.openxmlformats.org/drawingml/2006/main">
            <a:off x="8629650" y="30670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E0F1B6E7-8BD9-4A26-939F-FBD66FE68566}"/>
              </a:ext>
            </a:extLst>
          </p:cNvPr>
          <p:cNvSpPr>
            <a:spLocks xmlns:a="http://schemas.openxmlformats.org/drawingml/2006/main" noGrp="1"/>
          </p:cNvSpPr>
          <p:nvPr/>
        </p:nvSpPr>
        <p:spPr>
          <a:xfrm xmlns:a="http://schemas.openxmlformats.org/drawingml/2006/main">
            <a:off x="88773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SUCCESS</a:t>
            </a:r>
          </a:p>
        </p:txBody>
      </p:sp>
      <p:sp>
        <p:nvSpPr>
          <p:cNvPr id="59" name="">
            <a:extLst xmlns:a="http://schemas.openxmlformats.org/drawingml/2006/main">
              <a:ext uri="{FF2B5EF4-FFF2-40B4-BE49-F238E27FC236}">
                <a16:creationId xmlns:a16="http://schemas.microsoft.com/office/drawing/2014/main" id="{7292FFBF-865F-4E2D-B0EA-8C69DC0404CF}"/>
              </a:ext>
            </a:extLst>
          </p:cNvPr>
          <p:cNvSpPr>
            <a:spLocks xmlns:a="http://schemas.openxmlformats.org/drawingml/2006/main" noGrp="1"/>
          </p:cNvSpPr>
          <p:nvPr/>
        </p:nvSpPr>
        <p:spPr>
          <a:xfrm xmlns:a="http://schemas.openxmlformats.org/drawingml/2006/main">
            <a:off x="88773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Full-DAG · 19.10.2026</a:t>
            </a:r>
          </a:p>
        </p:txBody>
      </p:sp>
      <p:sp>
        <p:nvSpPr>
          <p:cNvPr id="60" name="">
            <a:extLst xmlns:a="http://schemas.openxmlformats.org/drawingml/2006/main">
              <a:ext uri="{FF2B5EF4-FFF2-40B4-BE49-F238E27FC236}">
                <a16:creationId xmlns:a16="http://schemas.microsoft.com/office/drawing/2014/main" id="{64FF55D5-DB70-4D3D-968C-C24D4797371D}"/>
              </a:ext>
            </a:extLst>
          </p:cNvPr>
          <p:cNvSpPr>
            <a:spLocks xmlns:a="http://schemas.openxmlformats.org/drawingml/2006/main" noGrp="1"/>
          </p:cNvSpPr>
          <p:nvPr/>
        </p:nvSpPr>
        <p:spPr>
          <a:xfrm xmlns:a="http://schemas.openxmlformats.org/drawingml/2006/main">
            <a:off x="685800" y="4705350"/>
            <a:ext cx="10325100" cy="876300"/>
          </a:xfrm>
          <a:prstGeom xmlns:a="http://schemas.openxmlformats.org/drawingml/2006/main" prst="roundRect">
            <a:avLst>
              <a:gd name="adj" fmla="val 13043"/>
            </a:avLst>
          </a:prstGeom>
          <a:solidFill xmlns:a="http://schemas.openxmlformats.org/drawingml/2006/main">
            <a:srgbClr val="0A1822"/>
          </a:solidFill>
          <a:ln xmlns:a="http://schemas.openxmlformats.org/drawingml/2006/main" w="9525">
            <a:solidFill>
              <a:srgbClr val="0A1822"/>
            </a:solidFill>
            <a:prstDash val="solid"/>
          </a:ln>
        </p:spPr>
      </p:sp>
      <p:sp>
        <p:nvSpPr>
          <p:cNvPr id="61" name="">
            <a:extLst xmlns:a="http://schemas.openxmlformats.org/drawingml/2006/main">
              <a:ext uri="{FF2B5EF4-FFF2-40B4-BE49-F238E27FC236}">
                <a16:creationId xmlns:a16="http://schemas.microsoft.com/office/drawing/2014/main" id="{35E28D3B-E23B-4B86-868E-BC7C9C33F3EE}"/>
              </a:ext>
            </a:extLst>
          </p:cNvPr>
          <p:cNvSpPr>
            <a:spLocks xmlns:a="http://schemas.openxmlformats.org/drawingml/2006/main" noGrp="1"/>
          </p:cNvSpPr>
          <p:nvPr/>
        </p:nvSpPr>
        <p:spPr>
          <a:xfrm xmlns:a="http://schemas.openxmlformats.org/drawingml/2006/main">
            <a:off x="933450" y="4914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F4A261"/>
                </a:solidFill>
                <a:latin typeface="Arial"/>
                <a:ea typeface="Arial"/>
                <a:cs typeface="Arial"/>
              </a:defRPr>
            </a:defPPr>
          </a:lstStyle>
          <a:p xmlns:a="http://schemas.openxmlformats.org/drawingml/2006/main">
            <a:pPr algn="l">
              <a:defRPr sz="1200" b="1">
                <a:solidFill>
                  <a:srgbClr val="F4A261"/>
                </a:solidFill>
                <a:latin typeface="Arial"/>
                <a:ea typeface="Arial"/>
                <a:cs typeface="Arial"/>
              </a:defRPr>
            </a:pPr>
            <a:r>
              <a:rPr sz="1200" b="1">
                <a:solidFill>
                  <a:srgbClr val="F4A261"/>
                </a:solidFill>
                <a:latin typeface="Arial"/>
                <a:ea typeface="Arial"/>
                <a:cs typeface="Arial"/>
              </a:rPr>
              <a:t>Robustheit</a:t>
            </a:r>
          </a:p>
        </p:txBody>
      </p:sp>
      <p:sp>
        <p:nvSpPr>
          <p:cNvPr id="62" name="">
            <a:extLst xmlns:a="http://schemas.openxmlformats.org/drawingml/2006/main">
              <a:ext uri="{FF2B5EF4-FFF2-40B4-BE49-F238E27FC236}">
                <a16:creationId xmlns:a16="http://schemas.microsoft.com/office/drawing/2014/main" id="{C9D0040F-D13A-4870-97F0-76E3699B8339}"/>
              </a:ext>
            </a:extLst>
          </p:cNvPr>
          <p:cNvSpPr>
            <a:spLocks xmlns:a="http://schemas.openxmlformats.org/drawingml/2006/main" noGrp="1"/>
          </p:cNvSpPr>
          <p:nvPr/>
        </p:nvSpPr>
        <p:spPr>
          <a:xfrm xmlns:a="http://schemas.openxmlformats.org/drawingml/2006/main">
            <a:off x="2381250" y="49053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46"/>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Retries · Timeouts · maximal 1 aktiver Lauf · kleine XComs · idempotente Loads</a:t>
            </a:r>
          </a:p>
        </p:txBody>
      </p:sp>
    </p:spTree>
    <p:extLst>
      <p:ext uri="{BB962C8B-B14F-4D97-AF65-F5344CB8AC3E}">
        <p14:creationId xmlns:p14="http://schemas.microsoft.com/office/powerpoint/2010/main" val="44431501"/>
      </p:ext>
    </p:extLst>
  </p:cSld>
</p:sld>
</file>

<file path=ppt/slides/slide7.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0FBABF5-2C49-4C76-8E46-26109BACADC8}"/>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APACHE SPARK</a:t>
            </a:r>
          </a:p>
        </p:txBody>
      </p:sp>
      <p:sp>
        <p:nvSpPr>
          <p:cNvPr id="2" name="">
            <a:extLst xmlns:a="http://schemas.openxmlformats.org/drawingml/2006/main">
              <a:ext uri="{FF2B5EF4-FFF2-40B4-BE49-F238E27FC236}">
                <a16:creationId xmlns:a16="http://schemas.microsoft.com/office/drawing/2014/main" id="{A49D0E80-C6FA-456E-AC96-59CD65152EF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Vom Rohsignal zum leakage-armen Tagesfeature</a:t>
            </a:r>
          </a:p>
        </p:txBody>
      </p:sp>
      <p:sp>
        <p:nvSpPr>
          <p:cNvPr id="3" name="">
            <a:extLst xmlns:a="http://schemas.openxmlformats.org/drawingml/2006/main">
              <a:ext uri="{FF2B5EF4-FFF2-40B4-BE49-F238E27FC236}">
                <a16:creationId xmlns:a16="http://schemas.microsoft.com/office/drawing/2014/main" id="{4539DC02-CABC-498E-9920-71071B38029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EBA562-62D8-432F-AA95-6B303B03508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A4B7EFA-19D4-44C0-9233-F6B423CE03BC}"/>
              </a:ext>
            </a:extLst>
          </p:cNvPr>
          <p:cNvSpPr>
            <a:spLocks xmlns:a="http://schemas.openxmlformats.org/drawingml/2006/main" noGrp="1"/>
          </p:cNvSpPr>
          <p:nvPr/>
        </p:nvSpPr>
        <p:spPr>
          <a:xfrm xmlns:a="http://schemas.openxmlformats.org/drawingml/2006/main">
            <a:off x="5905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F8CA20F2-2294-43C2-A48B-39272C1EDDE9}"/>
              </a:ext>
            </a:extLst>
          </p:cNvPr>
          <p:cNvSpPr>
            <a:spLocks xmlns:a="http://schemas.openxmlformats.org/drawingml/2006/main" noGrp="1"/>
          </p:cNvSpPr>
          <p:nvPr/>
        </p:nvSpPr>
        <p:spPr>
          <a:xfrm xmlns:a="http://schemas.openxmlformats.org/drawingml/2006/main">
            <a:off x="7048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1,0 Mio.</a:t>
            </a:r>
          </a:p>
        </p:txBody>
      </p:sp>
      <p:sp>
        <p:nvSpPr>
          <p:cNvPr id="7" name="">
            <a:extLst xmlns:a="http://schemas.openxmlformats.org/drawingml/2006/main">
              <a:ext uri="{FF2B5EF4-FFF2-40B4-BE49-F238E27FC236}">
                <a16:creationId xmlns:a16="http://schemas.microsoft.com/office/drawing/2014/main" id="{B80AEBD2-73AC-4E21-BE06-789F6BBCE1F1}"/>
              </a:ext>
            </a:extLst>
          </p:cNvPr>
          <p:cNvSpPr>
            <a:spLocks xmlns:a="http://schemas.openxmlformats.org/drawingml/2006/main" noGrp="1"/>
          </p:cNvSpPr>
          <p:nvPr/>
        </p:nvSpPr>
        <p:spPr>
          <a:xfrm xmlns:a="http://schemas.openxmlformats.org/drawingml/2006/main">
            <a:off x="7048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JSONL lesen</a:t>
            </a:r>
          </a:p>
        </p:txBody>
      </p:sp>
      <p:sp>
        <p:nvSpPr>
          <p:cNvPr id="8" name="">
            <a:extLst xmlns:a="http://schemas.openxmlformats.org/drawingml/2006/main">
              <a:ext uri="{FF2B5EF4-FFF2-40B4-BE49-F238E27FC236}">
                <a16:creationId xmlns:a16="http://schemas.microsoft.com/office/drawing/2014/main" id="{695BE096-7AE6-4243-8474-C42797DB498C}"/>
              </a:ext>
            </a:extLst>
          </p:cNvPr>
          <p:cNvSpPr>
            <a:spLocks xmlns:a="http://schemas.openxmlformats.org/drawingml/2006/main" noGrp="1"/>
          </p:cNvSpPr>
          <p:nvPr/>
        </p:nvSpPr>
        <p:spPr>
          <a:xfrm xmlns:a="http://schemas.openxmlformats.org/drawingml/2006/main">
            <a:off x="21907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9DB22CE9-B57F-4B5B-9794-DFD494BCF391}"/>
              </a:ext>
            </a:extLst>
          </p:cNvPr>
          <p:cNvSpPr>
            <a:spLocks xmlns:a="http://schemas.openxmlformats.org/drawingml/2006/main" noGrp="1"/>
          </p:cNvSpPr>
          <p:nvPr/>
        </p:nvSpPr>
        <p:spPr>
          <a:xfrm xmlns:a="http://schemas.openxmlformats.org/drawingml/2006/main">
            <a:off x="248602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EACC91C4-748B-4169-A34A-8D5567B9830C}"/>
              </a:ext>
            </a:extLst>
          </p:cNvPr>
          <p:cNvSpPr>
            <a:spLocks xmlns:a="http://schemas.openxmlformats.org/drawingml/2006/main" noGrp="1"/>
          </p:cNvSpPr>
          <p:nvPr/>
        </p:nvSpPr>
        <p:spPr>
          <a:xfrm xmlns:a="http://schemas.openxmlformats.org/drawingml/2006/main">
            <a:off x="26003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994.905</a:t>
            </a:r>
          </a:p>
        </p:txBody>
      </p:sp>
      <p:sp>
        <p:nvSpPr>
          <p:cNvPr id="11" name="">
            <a:extLst xmlns:a="http://schemas.openxmlformats.org/drawingml/2006/main">
              <a:ext uri="{FF2B5EF4-FFF2-40B4-BE49-F238E27FC236}">
                <a16:creationId xmlns:a16="http://schemas.microsoft.com/office/drawing/2014/main" id="{3FCE0265-F8EF-4623-893C-87FED19B1CCF}"/>
              </a:ext>
            </a:extLst>
          </p:cNvPr>
          <p:cNvSpPr>
            <a:spLocks xmlns:a="http://schemas.openxmlformats.org/drawingml/2006/main" noGrp="1"/>
          </p:cNvSpPr>
          <p:nvPr/>
        </p:nvSpPr>
        <p:spPr>
          <a:xfrm xmlns:a="http://schemas.openxmlformats.org/drawingml/2006/main">
            <a:off x="26003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validieren</a:t>
            </a:r>
          </a:p>
        </p:txBody>
      </p:sp>
      <p:sp>
        <p:nvSpPr>
          <p:cNvPr id="12" name="">
            <a:extLst xmlns:a="http://schemas.openxmlformats.org/drawingml/2006/main">
              <a:ext uri="{FF2B5EF4-FFF2-40B4-BE49-F238E27FC236}">
                <a16:creationId xmlns:a16="http://schemas.microsoft.com/office/drawing/2014/main" id="{894D9103-EB11-4109-BCDC-F66C5CD279C5}"/>
              </a:ext>
            </a:extLst>
          </p:cNvPr>
          <p:cNvSpPr>
            <a:spLocks xmlns:a="http://schemas.openxmlformats.org/drawingml/2006/main" noGrp="1"/>
          </p:cNvSpPr>
          <p:nvPr/>
        </p:nvSpPr>
        <p:spPr>
          <a:xfrm xmlns:a="http://schemas.openxmlformats.org/drawingml/2006/main">
            <a:off x="408622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0F1A50A2-4CB1-45E9-A15E-A9B7C20A41D4}"/>
              </a:ext>
            </a:extLst>
          </p:cNvPr>
          <p:cNvSpPr>
            <a:spLocks xmlns:a="http://schemas.openxmlformats.org/drawingml/2006/main" noGrp="1"/>
          </p:cNvSpPr>
          <p:nvPr/>
        </p:nvSpPr>
        <p:spPr>
          <a:xfrm xmlns:a="http://schemas.openxmlformats.org/drawingml/2006/main">
            <a:off x="438150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ED79DF5F-3E0A-4279-80B1-CE305F1A6C51}"/>
              </a:ext>
            </a:extLst>
          </p:cNvPr>
          <p:cNvSpPr>
            <a:spLocks xmlns:a="http://schemas.openxmlformats.org/drawingml/2006/main" noGrp="1"/>
          </p:cNvSpPr>
          <p:nvPr/>
        </p:nvSpPr>
        <p:spPr>
          <a:xfrm xmlns:a="http://schemas.openxmlformats.org/drawingml/2006/main">
            <a:off x="449580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DataFrame</a:t>
            </a:r>
          </a:p>
        </p:txBody>
      </p:sp>
      <p:sp>
        <p:nvSpPr>
          <p:cNvPr id="15" name="">
            <a:extLst xmlns:a="http://schemas.openxmlformats.org/drawingml/2006/main">
              <a:ext uri="{FF2B5EF4-FFF2-40B4-BE49-F238E27FC236}">
                <a16:creationId xmlns:a16="http://schemas.microsoft.com/office/drawing/2014/main" id="{F21DC1AE-FFA3-4A7A-9ABD-3FEDCF7DC102}"/>
              </a:ext>
            </a:extLst>
          </p:cNvPr>
          <p:cNvSpPr>
            <a:spLocks xmlns:a="http://schemas.openxmlformats.org/drawingml/2006/main" noGrp="1"/>
          </p:cNvSpPr>
          <p:nvPr/>
        </p:nvSpPr>
        <p:spPr>
          <a:xfrm xmlns:a="http://schemas.openxmlformats.org/drawingml/2006/main">
            <a:off x="449580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cast · filter · dedup</a:t>
            </a:r>
          </a:p>
        </p:txBody>
      </p:sp>
      <p:sp>
        <p:nvSpPr>
          <p:cNvPr id="16" name="">
            <a:extLst xmlns:a="http://schemas.openxmlformats.org/drawingml/2006/main">
              <a:ext uri="{FF2B5EF4-FFF2-40B4-BE49-F238E27FC236}">
                <a16:creationId xmlns:a16="http://schemas.microsoft.com/office/drawing/2014/main" id="{CDF68ECD-AAC2-4D1E-82AF-F1FF5DCB32E1}"/>
              </a:ext>
            </a:extLst>
          </p:cNvPr>
          <p:cNvSpPr>
            <a:spLocks xmlns:a="http://schemas.openxmlformats.org/drawingml/2006/main" noGrp="1"/>
          </p:cNvSpPr>
          <p:nvPr/>
        </p:nvSpPr>
        <p:spPr>
          <a:xfrm xmlns:a="http://schemas.openxmlformats.org/drawingml/2006/main">
            <a:off x="598170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5F3ECE64-F52D-4B3C-B9E3-2CAF85874F43}"/>
              </a:ext>
            </a:extLst>
          </p:cNvPr>
          <p:cNvSpPr>
            <a:spLocks xmlns:a="http://schemas.openxmlformats.org/drawingml/2006/main" noGrp="1"/>
          </p:cNvSpPr>
          <p:nvPr/>
        </p:nvSpPr>
        <p:spPr>
          <a:xfrm xmlns:a="http://schemas.openxmlformats.org/drawingml/2006/main">
            <a:off x="627697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7D018179-0731-4618-99FA-A557EA5B629D}"/>
              </a:ext>
            </a:extLst>
          </p:cNvPr>
          <p:cNvSpPr>
            <a:spLocks xmlns:a="http://schemas.openxmlformats.org/drawingml/2006/main" noGrp="1"/>
          </p:cNvSpPr>
          <p:nvPr/>
        </p:nvSpPr>
        <p:spPr>
          <a:xfrm xmlns:a="http://schemas.openxmlformats.org/drawingml/2006/main">
            <a:off x="639127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67"/>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SQL + Joins</a:t>
            </a:r>
          </a:p>
        </p:txBody>
      </p:sp>
      <p:sp>
        <p:nvSpPr>
          <p:cNvPr id="19" name="">
            <a:extLst xmlns:a="http://schemas.openxmlformats.org/drawingml/2006/main">
              <a:ext uri="{FF2B5EF4-FFF2-40B4-BE49-F238E27FC236}">
                <a16:creationId xmlns:a16="http://schemas.microsoft.com/office/drawing/2014/main" id="{77F313AE-CA1B-4441-B001-68CFEA58B4F9}"/>
              </a:ext>
            </a:extLst>
          </p:cNvPr>
          <p:cNvSpPr>
            <a:spLocks xmlns:a="http://schemas.openxmlformats.org/drawingml/2006/main" noGrp="1"/>
          </p:cNvSpPr>
          <p:nvPr/>
        </p:nvSpPr>
        <p:spPr>
          <a:xfrm xmlns:a="http://schemas.openxmlformats.org/drawingml/2006/main">
            <a:off x="639127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Kontext verbinden</a:t>
            </a:r>
          </a:p>
        </p:txBody>
      </p:sp>
      <p:sp>
        <p:nvSpPr>
          <p:cNvPr id="20" name="">
            <a:extLst xmlns:a="http://schemas.openxmlformats.org/drawingml/2006/main">
              <a:ext uri="{FF2B5EF4-FFF2-40B4-BE49-F238E27FC236}">
                <a16:creationId xmlns:a16="http://schemas.microsoft.com/office/drawing/2014/main" id="{59D8708C-5EA4-43E7-8FC8-47522EF7661D}"/>
              </a:ext>
            </a:extLst>
          </p:cNvPr>
          <p:cNvSpPr>
            <a:spLocks xmlns:a="http://schemas.openxmlformats.org/drawingml/2006/main" noGrp="1"/>
          </p:cNvSpPr>
          <p:nvPr/>
        </p:nvSpPr>
        <p:spPr>
          <a:xfrm xmlns:a="http://schemas.openxmlformats.org/drawingml/2006/main">
            <a:off x="787717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B0EF49D9-5478-4EB4-83D2-8EABDA2CB686}"/>
              </a:ext>
            </a:extLst>
          </p:cNvPr>
          <p:cNvSpPr>
            <a:spLocks xmlns:a="http://schemas.openxmlformats.org/drawingml/2006/main" noGrp="1"/>
          </p:cNvSpPr>
          <p:nvPr/>
        </p:nvSpPr>
        <p:spPr>
          <a:xfrm xmlns:a="http://schemas.openxmlformats.org/drawingml/2006/main">
            <a:off x="81724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896891A6-D89C-4270-B521-8A37FD5D3BF8}"/>
              </a:ext>
            </a:extLst>
          </p:cNvPr>
          <p:cNvSpPr>
            <a:spLocks xmlns:a="http://schemas.openxmlformats.org/drawingml/2006/main" noGrp="1"/>
          </p:cNvSpPr>
          <p:nvPr/>
        </p:nvSpPr>
        <p:spPr>
          <a:xfrm xmlns:a="http://schemas.openxmlformats.org/drawingml/2006/main">
            <a:off x="82867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Windows</a:t>
            </a:r>
          </a:p>
        </p:txBody>
      </p:sp>
      <p:sp>
        <p:nvSpPr>
          <p:cNvPr id="23" name="">
            <a:extLst xmlns:a="http://schemas.openxmlformats.org/drawingml/2006/main">
              <a:ext uri="{FF2B5EF4-FFF2-40B4-BE49-F238E27FC236}">
                <a16:creationId xmlns:a16="http://schemas.microsoft.com/office/drawing/2014/main" id="{00A356F1-3266-4566-BFD9-B2DC1471C42C}"/>
              </a:ext>
            </a:extLst>
          </p:cNvPr>
          <p:cNvSpPr>
            <a:spLocks xmlns:a="http://schemas.openxmlformats.org/drawingml/2006/main" noGrp="1"/>
          </p:cNvSpPr>
          <p:nvPr/>
        </p:nvSpPr>
        <p:spPr>
          <a:xfrm xmlns:a="http://schemas.openxmlformats.org/drawingml/2006/main">
            <a:off x="82867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lag · rolling · lead</a:t>
            </a:r>
          </a:p>
        </p:txBody>
      </p:sp>
      <p:sp>
        <p:nvSpPr>
          <p:cNvPr id="24" name="">
            <a:extLst xmlns:a="http://schemas.openxmlformats.org/drawingml/2006/main">
              <a:ext uri="{FF2B5EF4-FFF2-40B4-BE49-F238E27FC236}">
                <a16:creationId xmlns:a16="http://schemas.microsoft.com/office/drawing/2014/main" id="{8D6038B7-ED39-4F3B-8811-17090FC74113}"/>
              </a:ext>
            </a:extLst>
          </p:cNvPr>
          <p:cNvSpPr>
            <a:spLocks xmlns:a="http://schemas.openxmlformats.org/drawingml/2006/main" noGrp="1"/>
          </p:cNvSpPr>
          <p:nvPr/>
        </p:nvSpPr>
        <p:spPr>
          <a:xfrm xmlns:a="http://schemas.openxmlformats.org/drawingml/2006/main">
            <a:off x="97726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B35D12FE-91B7-437D-BDC2-2CDB014205EC}"/>
              </a:ext>
            </a:extLst>
          </p:cNvPr>
          <p:cNvSpPr>
            <a:spLocks xmlns:a="http://schemas.openxmlformats.org/drawingml/2006/main" noGrp="1"/>
          </p:cNvSpPr>
          <p:nvPr/>
        </p:nvSpPr>
        <p:spPr>
          <a:xfrm xmlns:a="http://schemas.openxmlformats.org/drawingml/2006/main">
            <a:off x="10067925" y="1847850"/>
            <a:ext cx="1562100" cy="1581150"/>
          </a:xfrm>
          <a:prstGeom xmlns:a="http://schemas.openxmlformats.org/drawingml/2006/main" prst="roundRect">
            <a:avLst>
              <a:gd name="adj" fmla="val 7317"/>
            </a:avLst>
          </a:prstGeom>
          <a:solidFill xmlns:a="http://schemas.openxmlformats.org/drawingml/2006/main">
            <a:srgbClr val="173C4C"/>
          </a:solidFill>
          <a:ln xmlns:a="http://schemas.openxmlformats.org/drawingml/2006/main" w="9525">
            <a:solidFill>
              <a:srgbClr val="31505D"/>
            </a:solidFill>
            <a:prstDash val="solid"/>
          </a:ln>
        </p:spPr>
      </p:sp>
      <p:sp>
        <p:nvSpPr>
          <p:cNvPr id="26" name="">
            <a:extLst xmlns:a="http://schemas.openxmlformats.org/drawingml/2006/main">
              <a:ext uri="{FF2B5EF4-FFF2-40B4-BE49-F238E27FC236}">
                <a16:creationId xmlns:a16="http://schemas.microsoft.com/office/drawing/2014/main" id="{E5F7F5D9-444F-405F-8FC5-0451A52E0FC6}"/>
              </a:ext>
            </a:extLst>
          </p:cNvPr>
          <p:cNvSpPr>
            <a:spLocks xmlns:a="http://schemas.openxmlformats.org/drawingml/2006/main" noGrp="1"/>
          </p:cNvSpPr>
          <p:nvPr/>
        </p:nvSpPr>
        <p:spPr>
          <a:xfrm xmlns:a="http://schemas.openxmlformats.org/drawingml/2006/main">
            <a:off x="101822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4A261"/>
                </a:solidFill>
                <a:latin typeface="Arial"/>
                <a:ea typeface="Arial"/>
                <a:cs typeface="Arial"/>
              </a:defRPr>
            </a:defPPr>
          </a:lstStyle>
          <a:p xmlns:a="http://schemas.openxmlformats.org/drawingml/2006/main">
            <a:pPr algn="ctr">
              <a:defRPr sz="1725" b="1">
                <a:solidFill>
                  <a:srgbClr val="F4A261"/>
                </a:solidFill>
                <a:latin typeface="Arial"/>
                <a:ea typeface="Arial"/>
                <a:cs typeface="Arial"/>
              </a:defRPr>
            </a:pPr>
            <a:r>
              <a:rPr sz="1725" b="1">
                <a:solidFill>
                  <a:srgbClr val="F4A261"/>
                </a:solidFill>
                <a:latin typeface="Arial"/>
                <a:ea typeface="Arial"/>
                <a:cs typeface="Arial"/>
              </a:rPr>
              <a:t>4.950</a:t>
            </a:r>
          </a:p>
        </p:txBody>
      </p:sp>
      <p:sp>
        <p:nvSpPr>
          <p:cNvPr id="27" name="">
            <a:extLst xmlns:a="http://schemas.openxmlformats.org/drawingml/2006/main">
              <a:ext uri="{FF2B5EF4-FFF2-40B4-BE49-F238E27FC236}">
                <a16:creationId xmlns:a16="http://schemas.microsoft.com/office/drawing/2014/main" id="{484EA31E-ADAE-4B00-8682-47781166F155}"/>
              </a:ext>
            </a:extLst>
          </p:cNvPr>
          <p:cNvSpPr>
            <a:spLocks xmlns:a="http://schemas.openxmlformats.org/drawingml/2006/main" noGrp="1"/>
          </p:cNvSpPr>
          <p:nvPr/>
        </p:nvSpPr>
        <p:spPr>
          <a:xfrm xmlns:a="http://schemas.openxmlformats.org/drawingml/2006/main">
            <a:off x="101822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defRPr sz="1050" b="0">
                <a:solidFill>
                  <a:srgbClr val="B8C8D0"/>
                </a:solidFill>
                <a:latin typeface="Arial"/>
                <a:ea typeface="Arial"/>
                <a:cs typeface="Arial"/>
              </a:defRPr>
            </a:pPr>
            <a:r>
              <a:rPr sz="1050" b="0">
                <a:solidFill>
                  <a:srgbClr val="B8C8D0"/>
                </a:solidFill>
                <a:latin typeface="Arial"/>
                <a:ea typeface="Arial"/>
                <a:cs typeface="Arial"/>
              </a:rPr>
              <a:t>Parquet Features</a:t>
            </a:r>
          </a:p>
        </p:txBody>
      </p:sp>
      <p:sp>
        <p:nvSpPr>
          <p:cNvPr id="28" name="">
            <a:extLst xmlns:a="http://schemas.openxmlformats.org/drawingml/2006/main">
              <a:ext uri="{FF2B5EF4-FFF2-40B4-BE49-F238E27FC236}">
                <a16:creationId xmlns:a16="http://schemas.microsoft.com/office/drawing/2014/main" id="{5D133B06-601C-48FF-A410-096F39C0DDFF}"/>
              </a:ext>
            </a:extLst>
          </p:cNvPr>
          <p:cNvSpPr>
            <a:spLocks xmlns:a="http://schemas.openxmlformats.org/drawingml/2006/main" noGrp="1"/>
          </p:cNvSpPr>
          <p:nvPr/>
        </p:nvSpPr>
        <p:spPr>
          <a:xfrm xmlns:a="http://schemas.openxmlformats.org/drawingml/2006/main">
            <a:off x="990600" y="4000500"/>
            <a:ext cx="10191750" cy="1219200"/>
          </a:xfrm>
          <a:prstGeom xmlns:a="http://schemas.openxmlformats.org/drawingml/2006/main" prst="roundRect">
            <a:avLst>
              <a:gd name="adj" fmla="val 9375"/>
            </a:avLst>
          </a:prstGeom>
          <a:solidFill xmlns:a="http://schemas.openxmlformats.org/drawingml/2006/main">
            <a:srgbClr val="0E3544"/>
          </a:solidFill>
          <a:ln xmlns:a="http://schemas.openxmlformats.org/drawingml/2006/main" w="9525">
            <a:solidFill>
              <a:srgbClr val="31505D"/>
            </a:solidFill>
            <a:prstDash val="solid"/>
          </a:ln>
        </p:spPr>
      </p:sp>
      <p:sp>
        <p:nvSpPr>
          <p:cNvPr id="29" name="">
            <a:extLst xmlns:a="http://schemas.openxmlformats.org/drawingml/2006/main">
              <a:ext uri="{FF2B5EF4-FFF2-40B4-BE49-F238E27FC236}">
                <a16:creationId xmlns:a16="http://schemas.microsoft.com/office/drawing/2014/main" id="{D8E238DC-C83D-454A-BF4E-5048404BF4A1}"/>
              </a:ext>
            </a:extLst>
          </p:cNvPr>
          <p:cNvSpPr>
            <a:spLocks xmlns:a="http://schemas.openxmlformats.org/drawingml/2006/main" noGrp="1"/>
          </p:cNvSpPr>
          <p:nvPr/>
        </p:nvSpPr>
        <p:spPr>
          <a:xfrm xmlns:a="http://schemas.openxmlformats.org/drawingml/2006/main">
            <a:off x="1314450" y="4229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l">
              <a:defRPr sz="1275" b="1">
                <a:solidFill>
                  <a:srgbClr val="F4A261"/>
                </a:solidFill>
                <a:latin typeface="Arial"/>
                <a:ea typeface="Arial"/>
                <a:cs typeface="Arial"/>
              </a:defRPr>
            </a:defPPr>
          </a:lstStyle>
          <a:p xmlns:a="http://schemas.openxmlformats.org/drawingml/2006/main">
            <a:pPr algn="l">
              <a:defRPr sz="1275" b="1">
                <a:solidFill>
                  <a:srgbClr val="F4A261"/>
                </a:solidFill>
                <a:latin typeface="Arial"/>
                <a:ea typeface="Arial"/>
                <a:cs typeface="Arial"/>
              </a:defRPr>
            </a:pPr>
            <a:r>
              <a:rPr sz="1275" b="1">
                <a:solidFill>
                  <a:srgbClr val="F4A261"/>
                </a:solidFill>
                <a:latin typeface="Arial"/>
                <a:ea typeface="Arial"/>
                <a:cs typeface="Arial"/>
              </a:rPr>
              <a:t>Zeitreihenregel</a:t>
            </a:r>
          </a:p>
        </p:txBody>
      </p:sp>
      <p:sp>
        <p:nvSpPr>
          <p:cNvPr id="30" name="">
            <a:extLst xmlns:a="http://schemas.openxmlformats.org/drawingml/2006/main">
              <a:ext uri="{FF2B5EF4-FFF2-40B4-BE49-F238E27FC236}">
                <a16:creationId xmlns:a16="http://schemas.microsoft.com/office/drawing/2014/main" id="{972A17F1-1063-4D62-95FF-5345ACA9B0C5}"/>
              </a:ext>
            </a:extLst>
          </p:cNvPr>
          <p:cNvSpPr>
            <a:spLocks xmlns:a="http://schemas.openxmlformats.org/drawingml/2006/main" noGrp="1"/>
          </p:cNvSpPr>
          <p:nvPr/>
        </p:nvSpPr>
        <p:spPr>
          <a:xfrm xmlns:a="http://schemas.openxmlformats.org/drawingml/2006/main">
            <a:off x="1314450" y="4629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Features aus Tag t</a:t>
            </a:r>
          </a:p>
        </p:txBody>
      </p:sp>
      <p:sp>
        <p:nvSpPr>
          <p:cNvPr id="31" name="">
            <a:extLst xmlns:a="http://schemas.openxmlformats.org/drawingml/2006/main">
              <a:ext uri="{FF2B5EF4-FFF2-40B4-BE49-F238E27FC236}">
                <a16:creationId xmlns:a16="http://schemas.microsoft.com/office/drawing/2014/main" id="{0DD73D7E-A70C-45F8-B67B-7C7100DD31BF}"/>
              </a:ext>
            </a:extLst>
          </p:cNvPr>
          <p:cNvSpPr>
            <a:spLocks xmlns:a="http://schemas.openxmlformats.org/drawingml/2006/main" noGrp="1"/>
          </p:cNvSpPr>
          <p:nvPr/>
        </p:nvSpPr>
        <p:spPr>
          <a:xfrm xmlns:a="http://schemas.openxmlformats.org/drawingml/2006/main">
            <a:off x="4076700" y="4667250"/>
            <a:ext cx="80010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2" name="">
            <a:extLst xmlns:a="http://schemas.openxmlformats.org/drawingml/2006/main">
              <a:ext uri="{FF2B5EF4-FFF2-40B4-BE49-F238E27FC236}">
                <a16:creationId xmlns:a16="http://schemas.microsoft.com/office/drawing/2014/main" id="{8E43F697-24ED-45AB-9BC3-539D22150EED}"/>
              </a:ext>
            </a:extLst>
          </p:cNvPr>
          <p:cNvSpPr>
            <a:spLocks xmlns:a="http://schemas.openxmlformats.org/drawingml/2006/main" noGrp="1"/>
          </p:cNvSpPr>
          <p:nvPr/>
        </p:nvSpPr>
        <p:spPr>
          <a:xfrm xmlns:a="http://schemas.openxmlformats.org/drawingml/2006/main">
            <a:off x="5162550" y="46291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Ziel ausschließlich aus Tag t+1</a:t>
            </a:r>
          </a:p>
        </p:txBody>
      </p:sp>
      <p:sp>
        <p:nvSpPr>
          <p:cNvPr id="33" name="">
            <a:extLst xmlns:a="http://schemas.openxmlformats.org/drawingml/2006/main">
              <a:ext uri="{FF2B5EF4-FFF2-40B4-BE49-F238E27FC236}">
                <a16:creationId xmlns:a16="http://schemas.microsoft.com/office/drawing/2014/main" id="{6A2647A3-EF92-40A9-A76E-89D4D086F7F4}"/>
              </a:ext>
            </a:extLst>
          </p:cNvPr>
          <p:cNvSpPr>
            <a:spLocks xmlns:a="http://schemas.openxmlformats.org/drawingml/2006/main" noGrp="1"/>
          </p:cNvSpPr>
          <p:nvPr/>
        </p:nvSpPr>
        <p:spPr>
          <a:xfrm xmlns:a="http://schemas.openxmlformats.org/drawingml/2006/main">
            <a:off x="5162550" y="49815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B8C8D0"/>
                </a:solidFill>
                <a:latin typeface="Arial"/>
                <a:ea typeface="Arial"/>
                <a:cs typeface="Arial"/>
              </a:defRPr>
            </a:defPPr>
          </a:lstStyle>
          <a:p xmlns:a="http://schemas.openxmlformats.org/drawingml/2006/main">
            <a:pPr algn="l">
              <a:defRPr sz="1050" b="0">
                <a:solidFill>
                  <a:srgbClr val="B8C8D0"/>
                </a:solidFill>
                <a:latin typeface="Arial"/>
                <a:ea typeface="Arial"/>
                <a:cs typeface="Arial"/>
              </a:defRPr>
            </a:pPr>
            <a:r>
              <a:rPr sz="1050" b="0">
                <a:solidFill>
                  <a:srgbClr val="B8C8D0"/>
                </a:solidFill>
                <a:latin typeface="Arial"/>
                <a:ea typeface="Arial"/>
                <a:cs typeface="Arial"/>
              </a:rPr>
              <a:t>Kein zukünftiges Outcome als Merkmal desselben Tages</a:t>
            </a:r>
          </a:p>
        </p:txBody>
      </p:sp>
    </p:spTree>
    <p:extLst>
      <p:ext uri="{BB962C8B-B14F-4D97-AF65-F5344CB8AC3E}">
        <p14:creationId xmlns:p14="http://schemas.microsoft.com/office/powerpoint/2010/main" val="894829267"/>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263703E-7965-4E78-9048-DBFCE0E78B2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SPARK MLLIB</a:t>
            </a:r>
          </a:p>
        </p:txBody>
      </p:sp>
      <p:sp>
        <p:nvSpPr>
          <p:cNvPr id="2" name="">
            <a:extLst xmlns:a="http://schemas.openxmlformats.org/drawingml/2006/main">
              <a:ext uri="{FF2B5EF4-FFF2-40B4-BE49-F238E27FC236}">
                <a16:creationId xmlns:a16="http://schemas.microsoft.com/office/drawing/2014/main" id="{98D5D1E7-C8EF-4F98-9F5E-42D7DD2A2E7A}"/>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Drei Aufgaben – Metriken mit Kontext</a:t>
            </a:r>
          </a:p>
        </p:txBody>
      </p:sp>
      <p:sp>
        <p:nvSpPr>
          <p:cNvPr id="3" name="">
            <a:extLst xmlns:a="http://schemas.openxmlformats.org/drawingml/2006/main">
              <a:ext uri="{FF2B5EF4-FFF2-40B4-BE49-F238E27FC236}">
                <a16:creationId xmlns:a16="http://schemas.microsoft.com/office/drawing/2014/main" id="{CF800303-AA61-4A74-B78E-886B066DC73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62083D-EF99-49E6-AB66-E1AF67ED61A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180BD4F-1664-400A-8BA8-98B2F8457083}"/>
              </a:ext>
            </a:extLst>
          </p:cNvPr>
          <p:cNvSpPr>
            <a:spLocks xmlns:a="http://schemas.openxmlformats.org/drawingml/2006/main" noGrp="1"/>
          </p:cNvSpPr>
          <p:nvPr/>
        </p:nvSpPr>
        <p:spPr>
          <a:xfrm xmlns:a="http://schemas.openxmlformats.org/drawingml/2006/main">
            <a:off x="609600" y="1504950"/>
            <a:ext cx="533400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81FB85B8-AD9C-43BC-B45C-432B0E7994AC}"/>
              </a:ext>
            </a:extLst>
          </p:cNvPr>
          <p:cNvSpPr>
            <a:spLocks xmlns:a="http://schemas.openxmlformats.org/drawingml/2006/main" noGrp="1"/>
          </p:cNvSpPr>
          <p:nvPr/>
        </p:nvSpPr>
        <p:spPr>
          <a:xfrm xmlns:a="http://schemas.openxmlformats.org/drawingml/2006/main">
            <a:off x="8953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102230"/>
                </a:solidFill>
                <a:latin typeface="Arial"/>
                <a:ea typeface="Arial"/>
                <a:cs typeface="Arial"/>
              </a:defRPr>
            </a:defPPr>
          </a:lstStyle>
          <a:p xmlns:a="http://schemas.openxmlformats.org/drawingml/2006/main">
            <a:pPr algn="l">
              <a:defRPr sz="1650" b="1">
                <a:solidFill>
                  <a:srgbClr val="102230"/>
                </a:solidFill>
                <a:latin typeface="Arial"/>
                <a:ea typeface="Arial"/>
                <a:cs typeface="Arial"/>
              </a:defRPr>
            </a:pPr>
            <a:r>
              <a:rPr sz="1650" b="1">
                <a:solidFill>
                  <a:srgbClr val="102230"/>
                </a:solidFill>
                <a:latin typeface="Arial"/>
                <a:ea typeface="Arial"/>
                <a:cs typeface="Arial"/>
              </a:rPr>
              <a:t>Regression schlägt die Baseline</a:t>
            </a:r>
          </a:p>
        </p:txBody>
      </p:sp>
      <p:graphicFrame>
        <p:nvGraphicFramePr>
          <p:cNvPr id="7" name="Chart">
            <a:extLst xmlns:a="http://schemas.openxmlformats.org/drawingml/2006/main">
              <a:ext uri="{FF2B5EF4-FFF2-40B4-BE49-F238E27FC236}">
                <a16:creationId xmlns:a16="http://schemas.microsoft.com/office/drawing/2014/main" id="{8D7769DD-E0CB-49E9-B20F-6E3422EBB867}"/>
              </a:ext>
            </a:extLst>
          </p:cNvPr>
          <p:cNvGraphicFramePr/>
          <p:nvPr/>
        </p:nvGraphicFramePr>
        <p:xfrm>
          <a:off xmlns:a="http://schemas.openxmlformats.org/drawingml/2006/main" x="895350" y="2190750"/>
          <a:ext xmlns:a="http://schemas.openxmlformats.org/drawingml/2006/main" cx="4714875" cy="2476500"/>
        </p:xfrm>
        <a:graphic xmlns:a="http://schemas.openxmlformats.org/drawingml/2006/main">
          <a:graphicData uri="http://schemas.openxmlformats.org/drawingml/2006/chart">
            <c:chart xmlns:r="http://schemas.openxmlformats.org/officeDocument/2006/relationships" xmlns:c="http://schemas.openxmlformats.org/drawingml/2006/chart" r:id="Reece7e416d474346"/>
          </a:graphicData>
        </a:graphic>
      </p:graphicFrame>
      <p:sp>
        <p:nvSpPr>
          <p:cNvPr id="8" name="">
            <a:extLst xmlns:a="http://schemas.openxmlformats.org/drawingml/2006/main">
              <a:ext uri="{FF2B5EF4-FFF2-40B4-BE49-F238E27FC236}">
                <a16:creationId xmlns:a16="http://schemas.microsoft.com/office/drawing/2014/main" id="{CD05373D-543A-4644-BD63-BAF8478008DF}"/>
              </a:ext>
            </a:extLst>
          </p:cNvPr>
          <p:cNvSpPr>
            <a:spLocks xmlns:a="http://schemas.openxmlformats.org/drawingml/2006/main" noGrp="1"/>
          </p:cNvSpPr>
          <p:nvPr/>
        </p:nvSpPr>
        <p:spPr>
          <a:xfrm xmlns:a="http://schemas.openxmlformats.org/drawingml/2006/main">
            <a:off x="106680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2A9D6F"/>
                </a:solidFill>
                <a:latin typeface="Arial"/>
                <a:ea typeface="Arial"/>
                <a:cs typeface="Arial"/>
              </a:defRPr>
            </a:defPPr>
          </a:lstStyle>
          <a:p xmlns:a="http://schemas.openxmlformats.org/drawingml/2006/main">
            <a:pPr algn="l">
              <a:defRPr sz="1200" b="1">
                <a:solidFill>
                  <a:srgbClr val="2A9D6F"/>
                </a:solidFill>
                <a:latin typeface="Arial"/>
                <a:ea typeface="Arial"/>
                <a:cs typeface="Arial"/>
              </a:defRPr>
            </a:pPr>
            <a:r>
              <a:rPr sz="1200" b="1">
                <a:solidFill>
                  <a:srgbClr val="2A9D6F"/>
                </a:solidFill>
                <a:latin typeface="Arial"/>
                <a:ea typeface="Arial"/>
                <a:cs typeface="Arial"/>
              </a:rPr>
              <a:t>MAE 0,443 °C</a:t>
            </a:r>
          </a:p>
        </p:txBody>
      </p:sp>
      <p:sp>
        <p:nvSpPr>
          <p:cNvPr id="9" name="">
            <a:extLst xmlns:a="http://schemas.openxmlformats.org/drawingml/2006/main">
              <a:ext uri="{FF2B5EF4-FFF2-40B4-BE49-F238E27FC236}">
                <a16:creationId xmlns:a16="http://schemas.microsoft.com/office/drawing/2014/main" id="{BB2B9F71-324A-48F8-A0A1-C104BF2A27F8}"/>
              </a:ext>
            </a:extLst>
          </p:cNvPr>
          <p:cNvSpPr>
            <a:spLocks xmlns:a="http://schemas.openxmlformats.org/drawingml/2006/main" noGrp="1"/>
          </p:cNvSpPr>
          <p:nvPr/>
        </p:nvSpPr>
        <p:spPr>
          <a:xfrm xmlns:a="http://schemas.openxmlformats.org/drawingml/2006/main">
            <a:off x="333375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536675"/>
                </a:solidFill>
                <a:latin typeface="Arial"/>
                <a:ea typeface="Arial"/>
                <a:cs typeface="Arial"/>
              </a:defRPr>
            </a:defPPr>
          </a:lstStyle>
          <a:p xmlns:a="http://schemas.openxmlformats.org/drawingml/2006/main">
            <a:pPr algn="r">
              <a:defRPr sz="1050" b="0">
                <a:solidFill>
                  <a:srgbClr val="536675"/>
                </a:solidFill>
                <a:latin typeface="Arial"/>
                <a:ea typeface="Arial"/>
                <a:cs typeface="Arial"/>
              </a:defRPr>
            </a:pPr>
            <a:r>
              <a:rPr sz="1050" b="0">
                <a:solidFill>
                  <a:srgbClr val="536675"/>
                </a:solidFill>
                <a:latin typeface="Arial"/>
                <a:ea typeface="Arial"/>
                <a:cs typeface="Arial"/>
              </a:rPr>
              <a:t>chronologischer Holdout</a:t>
            </a:r>
          </a:p>
        </p:txBody>
      </p:sp>
      <p:sp>
        <p:nvSpPr>
          <p:cNvPr id="10" name="">
            <a:extLst xmlns:a="http://schemas.openxmlformats.org/drawingml/2006/main">
              <a:ext uri="{FF2B5EF4-FFF2-40B4-BE49-F238E27FC236}">
                <a16:creationId xmlns:a16="http://schemas.microsoft.com/office/drawing/2014/main" id="{590BA30D-06B2-4A77-9D59-81F5A2160317}"/>
              </a:ext>
            </a:extLst>
          </p:cNvPr>
          <p:cNvSpPr>
            <a:spLocks xmlns:a="http://schemas.openxmlformats.org/drawingml/2006/main" noGrp="1"/>
          </p:cNvSpPr>
          <p:nvPr/>
        </p:nvSpPr>
        <p:spPr>
          <a:xfrm xmlns:a="http://schemas.openxmlformats.org/drawingml/2006/main">
            <a:off x="6229350" y="1504950"/>
            <a:ext cx="5353050" cy="4171950"/>
          </a:xfrm>
          <a:prstGeom xmlns:a="http://schemas.openxmlformats.org/drawingml/2006/main" prst="roundRect">
            <a:avLst>
              <a:gd name="adj" fmla="val 2740"/>
            </a:avLst>
          </a:prstGeom>
          <a:solidFill xmlns:a="http://schemas.openxmlformats.org/drawingml/2006/main">
            <a:srgbClr val="0A1822"/>
          </a:solidFill>
          <a:ln xmlns:a="http://schemas.openxmlformats.org/drawingml/2006/main" w="9525">
            <a:solidFill>
              <a:srgbClr val="0A1822"/>
            </a:solidFill>
            <a:prstDash val="solid"/>
          </a:ln>
        </p:spPr>
      </p:sp>
      <p:sp>
        <p:nvSpPr>
          <p:cNvPr id="11" name="">
            <a:extLst xmlns:a="http://schemas.openxmlformats.org/drawingml/2006/main">
              <a:ext uri="{FF2B5EF4-FFF2-40B4-BE49-F238E27FC236}">
                <a16:creationId xmlns:a16="http://schemas.microsoft.com/office/drawing/2014/main" id="{E28466CB-4267-47CC-B5D0-F621BF5A84AB}"/>
              </a:ext>
            </a:extLst>
          </p:cNvPr>
          <p:cNvSpPr>
            <a:spLocks xmlns:a="http://schemas.openxmlformats.org/drawingml/2006/main" noGrp="1"/>
          </p:cNvSpPr>
          <p:nvPr/>
        </p:nvSpPr>
        <p:spPr>
          <a:xfrm xmlns:a="http://schemas.openxmlformats.org/drawingml/2006/main">
            <a:off x="65341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Klassifikation: die unbequeme Wahrheit</a:t>
            </a:r>
          </a:p>
        </p:txBody>
      </p:sp>
      <p:sp>
        <p:nvSpPr>
          <p:cNvPr id="12" name="">
            <a:extLst xmlns:a="http://schemas.openxmlformats.org/drawingml/2006/main">
              <a:ext uri="{FF2B5EF4-FFF2-40B4-BE49-F238E27FC236}">
                <a16:creationId xmlns:a16="http://schemas.microsoft.com/office/drawing/2014/main" id="{0CF580A9-8708-4593-AD06-A8DAC329DA52}"/>
              </a:ext>
            </a:extLst>
          </p:cNvPr>
          <p:cNvSpPr>
            <a:spLocks xmlns:a="http://schemas.openxmlformats.org/drawingml/2006/main" noGrp="1"/>
          </p:cNvSpPr>
          <p:nvPr/>
        </p:nvSpPr>
        <p:spPr>
          <a:xfrm xmlns:a="http://schemas.openxmlformats.org/drawingml/2006/main">
            <a:off x="6534150" y="22479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3" name="">
            <a:extLst xmlns:a="http://schemas.openxmlformats.org/drawingml/2006/main">
              <a:ext uri="{FF2B5EF4-FFF2-40B4-BE49-F238E27FC236}">
                <a16:creationId xmlns:a16="http://schemas.microsoft.com/office/drawing/2014/main" id="{F8B5EDD5-9A69-46AE-9762-D1264040AC99}"/>
              </a:ext>
            </a:extLst>
          </p:cNvPr>
          <p:cNvSpPr>
            <a:spLocks xmlns:a="http://schemas.openxmlformats.org/drawingml/2006/main" noGrp="1"/>
          </p:cNvSpPr>
          <p:nvPr/>
        </p:nvSpPr>
        <p:spPr>
          <a:xfrm xmlns:a="http://schemas.openxmlformats.org/drawingml/2006/main">
            <a:off x="6534150" y="224790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8318BE-1C81-43F2-8900-81F13C98EBAA}"/>
              </a:ext>
            </a:extLst>
          </p:cNvPr>
          <p:cNvSpPr>
            <a:spLocks xmlns:a="http://schemas.openxmlformats.org/drawingml/2006/main" noGrp="1"/>
          </p:cNvSpPr>
          <p:nvPr/>
        </p:nvSpPr>
        <p:spPr>
          <a:xfrm xmlns:a="http://schemas.openxmlformats.org/drawingml/2006/main">
            <a:off x="6781800" y="24574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0,760</a:t>
            </a:r>
          </a:p>
        </p:txBody>
      </p:sp>
      <p:sp>
        <p:nvSpPr>
          <p:cNvPr id="15" name="">
            <a:extLst xmlns:a="http://schemas.openxmlformats.org/drawingml/2006/main">
              <a:ext uri="{FF2B5EF4-FFF2-40B4-BE49-F238E27FC236}">
                <a16:creationId xmlns:a16="http://schemas.microsoft.com/office/drawing/2014/main" id="{F6DD65A1-877F-4920-80C6-7A524A8B5725}"/>
              </a:ext>
            </a:extLst>
          </p:cNvPr>
          <p:cNvSpPr>
            <a:spLocks xmlns:a="http://schemas.openxmlformats.org/drawingml/2006/main" noGrp="1"/>
          </p:cNvSpPr>
          <p:nvPr/>
        </p:nvSpPr>
        <p:spPr>
          <a:xfrm xmlns:a="http://schemas.openxmlformats.org/drawingml/2006/main">
            <a:off x="6781800" y="29718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Accuracy</a:t>
            </a:r>
          </a:p>
        </p:txBody>
      </p:sp>
      <p:sp>
        <p:nvSpPr>
          <p:cNvPr id="16" name="">
            <a:extLst xmlns:a="http://schemas.openxmlformats.org/drawingml/2006/main">
              <a:ext uri="{FF2B5EF4-FFF2-40B4-BE49-F238E27FC236}">
                <a16:creationId xmlns:a16="http://schemas.microsoft.com/office/drawing/2014/main" id="{35B51E66-18BB-4CE6-8A95-EBC278EFEEA4}"/>
              </a:ext>
            </a:extLst>
          </p:cNvPr>
          <p:cNvSpPr>
            <a:spLocks xmlns:a="http://schemas.openxmlformats.org/drawingml/2006/main" noGrp="1"/>
          </p:cNvSpPr>
          <p:nvPr/>
        </p:nvSpPr>
        <p:spPr>
          <a:xfrm xmlns:a="http://schemas.openxmlformats.org/drawingml/2006/main">
            <a:off x="8896350" y="22479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7" name="">
            <a:extLst xmlns:a="http://schemas.openxmlformats.org/drawingml/2006/main">
              <a:ext uri="{FF2B5EF4-FFF2-40B4-BE49-F238E27FC236}">
                <a16:creationId xmlns:a16="http://schemas.microsoft.com/office/drawing/2014/main" id="{3557AE18-4574-4F72-9222-7D36EED01359}"/>
              </a:ext>
            </a:extLst>
          </p:cNvPr>
          <p:cNvSpPr>
            <a:spLocks xmlns:a="http://schemas.openxmlformats.org/drawingml/2006/main" noGrp="1"/>
          </p:cNvSpPr>
          <p:nvPr/>
        </p:nvSpPr>
        <p:spPr>
          <a:xfrm xmlns:a="http://schemas.openxmlformats.org/drawingml/2006/main">
            <a:off x="8896350" y="224790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B9A90A8-6960-4896-A70C-4CF636A20E6C}"/>
              </a:ext>
            </a:extLst>
          </p:cNvPr>
          <p:cNvSpPr>
            <a:spLocks xmlns:a="http://schemas.openxmlformats.org/drawingml/2006/main" noGrp="1"/>
          </p:cNvSpPr>
          <p:nvPr/>
        </p:nvSpPr>
        <p:spPr>
          <a:xfrm xmlns:a="http://schemas.openxmlformats.org/drawingml/2006/main">
            <a:off x="9144000" y="24574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0,656</a:t>
            </a:r>
          </a:p>
        </p:txBody>
      </p:sp>
      <p:sp>
        <p:nvSpPr>
          <p:cNvPr id="19" name="">
            <a:extLst xmlns:a="http://schemas.openxmlformats.org/drawingml/2006/main">
              <a:ext uri="{FF2B5EF4-FFF2-40B4-BE49-F238E27FC236}">
                <a16:creationId xmlns:a16="http://schemas.microsoft.com/office/drawing/2014/main" id="{21C2F27C-BEC9-460C-BE13-7D87F758EA5A}"/>
              </a:ext>
            </a:extLst>
          </p:cNvPr>
          <p:cNvSpPr>
            <a:spLocks xmlns:a="http://schemas.openxmlformats.org/drawingml/2006/main" noGrp="1"/>
          </p:cNvSpPr>
          <p:nvPr/>
        </p:nvSpPr>
        <p:spPr>
          <a:xfrm xmlns:a="http://schemas.openxmlformats.org/drawingml/2006/main">
            <a:off x="9144000" y="29718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defRPr sz="1125" b="0">
                <a:solidFill>
                  <a:srgbClr val="B8C8D0"/>
                </a:solidFill>
                <a:latin typeface="Arial"/>
                <a:ea typeface="Arial"/>
                <a:cs typeface="Arial"/>
              </a:defRPr>
            </a:pPr>
            <a:r>
              <a:rPr sz="1125" b="0">
                <a:solidFill>
                  <a:srgbClr val="B8C8D0"/>
                </a:solidFill>
                <a:latin typeface="Arial"/>
                <a:ea typeface="Arial"/>
                <a:cs typeface="Arial"/>
              </a:rPr>
              <a:t>F1 gewichtet</a:t>
            </a:r>
          </a:p>
        </p:txBody>
      </p:sp>
      <p:sp>
        <p:nvSpPr>
          <p:cNvPr id="20" name="">
            <a:extLst xmlns:a="http://schemas.openxmlformats.org/drawingml/2006/main">
              <a:ext uri="{FF2B5EF4-FFF2-40B4-BE49-F238E27FC236}">
                <a16:creationId xmlns:a16="http://schemas.microsoft.com/office/drawing/2014/main" id="{FA1DF62A-D022-4AE2-B5BD-E88385C38DEE}"/>
              </a:ext>
            </a:extLst>
          </p:cNvPr>
          <p:cNvSpPr>
            <a:spLocks xmlns:a="http://schemas.openxmlformats.org/drawingml/2006/main" noGrp="1"/>
          </p:cNvSpPr>
          <p:nvPr/>
        </p:nvSpPr>
        <p:spPr>
          <a:xfrm xmlns:a="http://schemas.openxmlformats.org/drawingml/2006/main">
            <a:off x="6534150" y="3733800"/>
            <a:ext cx="4457700" cy="1085850"/>
          </a:xfrm>
          <a:prstGeom xmlns:a="http://schemas.openxmlformats.org/drawingml/2006/main" prst="roundRect">
            <a:avLst>
              <a:gd name="adj" fmla="val 10526"/>
            </a:avLst>
          </a:prstGeom>
          <a:solidFill xmlns:a="http://schemas.openxmlformats.org/drawingml/2006/main">
            <a:srgbClr val="351D1B"/>
          </a:solidFill>
          <a:ln xmlns:a="http://schemas.openxmlformats.org/drawingml/2006/main" w="9525">
            <a:solidFill>
              <a:srgbClr val="734039"/>
            </a:solidFill>
            <a:prstDash val="solid"/>
          </a:ln>
        </p:spPr>
      </p:sp>
      <p:sp>
        <p:nvSpPr>
          <p:cNvPr id="21" name="">
            <a:extLst xmlns:a="http://schemas.openxmlformats.org/drawingml/2006/main">
              <a:ext uri="{FF2B5EF4-FFF2-40B4-BE49-F238E27FC236}">
                <a16:creationId xmlns:a16="http://schemas.microsoft.com/office/drawing/2014/main" id="{3FFBF4E3-B5D3-419D-9DE8-244134CFC419}"/>
              </a:ext>
            </a:extLst>
          </p:cNvPr>
          <p:cNvSpPr>
            <a:spLocks xmlns:a="http://schemas.openxmlformats.org/drawingml/2006/main" noGrp="1"/>
          </p:cNvSpPr>
          <p:nvPr/>
        </p:nvSpPr>
        <p:spPr>
          <a:xfrm xmlns:a="http://schemas.openxmlformats.org/drawingml/2006/main">
            <a:off x="6819900" y="3924300"/>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760</a:t>
            </a:r>
          </a:p>
        </p:txBody>
      </p:sp>
      <p:sp>
        <p:nvSpPr>
          <p:cNvPr id="22" name="">
            <a:extLst xmlns:a="http://schemas.openxmlformats.org/drawingml/2006/main">
              <a:ext uri="{FF2B5EF4-FFF2-40B4-BE49-F238E27FC236}">
                <a16:creationId xmlns:a16="http://schemas.microsoft.com/office/drawing/2014/main" id="{91064061-804D-4C09-85F0-5D90D1383CB5}"/>
              </a:ext>
            </a:extLst>
          </p:cNvPr>
          <p:cNvSpPr>
            <a:spLocks xmlns:a="http://schemas.openxmlformats.org/drawingml/2006/main" noGrp="1"/>
          </p:cNvSpPr>
          <p:nvPr/>
        </p:nvSpPr>
        <p:spPr>
          <a:xfrm xmlns:a="http://schemas.openxmlformats.org/drawingml/2006/main">
            <a:off x="68199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E5C9C4"/>
                </a:solidFill>
                <a:latin typeface="Arial"/>
                <a:ea typeface="Arial"/>
                <a:cs typeface="Arial"/>
              </a:defRPr>
            </a:defPPr>
          </a:lstStyle>
          <a:p xmlns:a="http://schemas.openxmlformats.org/drawingml/2006/main">
            <a:pPr algn="l">
              <a:defRPr sz="1050" b="0">
                <a:solidFill>
                  <a:srgbClr val="E5C9C4"/>
                </a:solidFill>
                <a:latin typeface="Arial"/>
                <a:ea typeface="Arial"/>
                <a:cs typeface="Arial"/>
              </a:defRPr>
            </a:pPr>
            <a:r>
              <a:rPr sz="1050" b="0">
                <a:solidFill>
                  <a:srgbClr val="E5C9C4"/>
                </a:solidFill>
                <a:latin typeface="Arial"/>
                <a:ea typeface="Arial"/>
                <a:cs typeface="Arial"/>
              </a:rPr>
              <a:t>richtig positiv</a:t>
            </a:r>
          </a:p>
        </p:txBody>
      </p:sp>
      <p:sp>
        <p:nvSpPr>
          <p:cNvPr id="23" name="">
            <a:extLst xmlns:a="http://schemas.openxmlformats.org/drawingml/2006/main">
              <a:ext uri="{FF2B5EF4-FFF2-40B4-BE49-F238E27FC236}">
                <a16:creationId xmlns:a16="http://schemas.microsoft.com/office/drawing/2014/main" id="{558C33E1-F5AE-4530-8061-6D294BEBD645}"/>
              </a:ext>
            </a:extLst>
          </p:cNvPr>
          <p:cNvSpPr>
            <a:spLocks xmlns:a="http://schemas.openxmlformats.org/drawingml/2006/main" noGrp="1"/>
          </p:cNvSpPr>
          <p:nvPr/>
        </p:nvSpPr>
        <p:spPr>
          <a:xfrm xmlns:a="http://schemas.openxmlformats.org/drawingml/2006/main">
            <a:off x="8839200" y="3924300"/>
            <a:ext cx="104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C8553D"/>
                </a:solidFill>
                <a:latin typeface="Arial"/>
                <a:ea typeface="Arial"/>
                <a:cs typeface="Arial"/>
              </a:defRPr>
            </a:defPPr>
          </a:lstStyle>
          <a:p xmlns:a="http://schemas.openxmlformats.org/drawingml/2006/main">
            <a:pPr algn="l">
              <a:defRPr sz="2100" b="1">
                <a:solidFill>
                  <a:srgbClr val="C8553D"/>
                </a:solidFill>
                <a:latin typeface="Arial"/>
                <a:ea typeface="Arial"/>
                <a:cs typeface="Arial"/>
              </a:defRPr>
            </a:pPr>
            <a:r>
              <a:rPr sz="2100" b="1">
                <a:solidFill>
                  <a:srgbClr val="C8553D"/>
                </a:solidFill>
                <a:latin typeface="Arial"/>
                <a:ea typeface="Arial"/>
                <a:cs typeface="Arial"/>
              </a:rPr>
              <a:t>240</a:t>
            </a:r>
          </a:p>
        </p:txBody>
      </p:sp>
      <p:sp>
        <p:nvSpPr>
          <p:cNvPr id="24" name="">
            <a:extLst xmlns:a="http://schemas.openxmlformats.org/drawingml/2006/main">
              <a:ext uri="{FF2B5EF4-FFF2-40B4-BE49-F238E27FC236}">
                <a16:creationId xmlns:a16="http://schemas.microsoft.com/office/drawing/2014/main" id="{305744A7-9AEE-4D11-8AC6-EFD2E04DF6E5}"/>
              </a:ext>
            </a:extLst>
          </p:cNvPr>
          <p:cNvSpPr>
            <a:spLocks xmlns:a="http://schemas.openxmlformats.org/drawingml/2006/main" noGrp="1"/>
          </p:cNvSpPr>
          <p:nvPr/>
        </p:nvSpPr>
        <p:spPr>
          <a:xfrm xmlns:a="http://schemas.openxmlformats.org/drawingml/2006/main">
            <a:off x="88392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E5C9C4"/>
                </a:solidFill>
                <a:latin typeface="Arial"/>
                <a:ea typeface="Arial"/>
                <a:cs typeface="Arial"/>
              </a:defRPr>
            </a:defPPr>
          </a:lstStyle>
          <a:p xmlns:a="http://schemas.openxmlformats.org/drawingml/2006/main">
            <a:pPr algn="l">
              <a:defRPr sz="1050" b="0">
                <a:solidFill>
                  <a:srgbClr val="E5C9C4"/>
                </a:solidFill>
                <a:latin typeface="Arial"/>
                <a:ea typeface="Arial"/>
                <a:cs typeface="Arial"/>
              </a:defRPr>
            </a:pPr>
            <a:r>
              <a:rPr sz="1050" b="0">
                <a:solidFill>
                  <a:srgbClr val="E5C9C4"/>
                </a:solidFill>
                <a:latin typeface="Arial"/>
                <a:ea typeface="Arial"/>
                <a:cs typeface="Arial"/>
              </a:rPr>
              <a:t>falsch positiv</a:t>
            </a:r>
          </a:p>
        </p:txBody>
      </p:sp>
      <p:sp>
        <p:nvSpPr>
          <p:cNvPr id="25" name="">
            <a:extLst xmlns:a="http://schemas.openxmlformats.org/drawingml/2006/main">
              <a:ext uri="{FF2B5EF4-FFF2-40B4-BE49-F238E27FC236}">
                <a16:creationId xmlns:a16="http://schemas.microsoft.com/office/drawing/2014/main" id="{690515B9-80F5-4973-922B-3C2B42EFC4DD}"/>
              </a:ext>
            </a:extLst>
          </p:cNvPr>
          <p:cNvSpPr>
            <a:spLocks xmlns:a="http://schemas.openxmlformats.org/drawingml/2006/main" noGrp="1"/>
          </p:cNvSpPr>
          <p:nvPr/>
        </p:nvSpPr>
        <p:spPr>
          <a:xfrm xmlns:a="http://schemas.openxmlformats.org/drawingml/2006/main">
            <a:off x="6610350" y="5029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072"/>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defRPr sz="1200" b="1">
                <a:solidFill>
                  <a:srgbClr val="F4A261"/>
                </a:solidFill>
                <a:latin typeface="Arial"/>
                <a:ea typeface="Arial"/>
                <a:cs typeface="Arial"/>
              </a:defRPr>
            </a:pPr>
            <a:r>
              <a:rPr sz="1200" b="1">
                <a:solidFill>
                  <a:srgbClr val="F4A261"/>
                </a:solidFill>
                <a:latin typeface="Arial"/>
                <a:ea typeface="Arial"/>
                <a:cs typeface="Arial"/>
              </a:rPr>
              <a:t>Alle 1.000 Testfälle als positiv vorhergesagt → keine Trennschärfe</a:t>
            </a:r>
          </a:p>
        </p:txBody>
      </p:sp>
      <p:sp>
        <p:nvSpPr>
          <p:cNvPr id="26" name="">
            <a:extLst xmlns:a="http://schemas.openxmlformats.org/drawingml/2006/main">
              <a:ext uri="{FF2B5EF4-FFF2-40B4-BE49-F238E27FC236}">
                <a16:creationId xmlns:a16="http://schemas.microsoft.com/office/drawing/2014/main" id="{C7DDBCEF-4104-4360-8876-0EEDA1AC6763}"/>
              </a:ext>
            </a:extLst>
          </p:cNvPr>
          <p:cNvSpPr>
            <a:spLocks xmlns:a="http://schemas.openxmlformats.org/drawingml/2006/main" noGrp="1"/>
          </p:cNvSpPr>
          <p:nvPr/>
        </p:nvSpPr>
        <p:spPr>
          <a:xfrm xmlns:a="http://schemas.openxmlformats.org/drawingml/2006/main">
            <a:off x="762000" y="59055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536675"/>
                </a:solidFill>
                <a:latin typeface="Arial"/>
                <a:ea typeface="Arial"/>
                <a:cs typeface="Arial"/>
              </a:defRPr>
            </a:defPPr>
          </a:lstStyle>
          <a:p xmlns:a="http://schemas.openxmlformats.org/drawingml/2006/main">
            <a:pPr algn="ctr">
              <a:defRPr sz="1200" b="1">
                <a:solidFill>
                  <a:srgbClr val="536675"/>
                </a:solidFill>
                <a:latin typeface="Arial"/>
                <a:ea typeface="Arial"/>
                <a:cs typeface="Arial"/>
              </a:defRPr>
            </a:pPr>
            <a:r>
              <a:rPr sz="1200" b="1">
                <a:solidFill>
                  <a:srgbClr val="536675"/>
                </a:solidFill>
                <a:latin typeface="Arial"/>
                <a:ea typeface="Arial"/>
                <a:cs typeface="Arial"/>
              </a:rPr>
              <a:t>KMeans: Silhouette 0,362 · kleiner Anomaliecluster n=85</a:t>
            </a:r>
          </a:p>
        </p:txBody>
      </p:sp>
    </p:spTree>
    <p:extLst>
      <p:ext uri="{BB962C8B-B14F-4D97-AF65-F5344CB8AC3E}">
        <p14:creationId xmlns:p14="http://schemas.microsoft.com/office/powerpoint/2010/main" val="1360611021"/>
      </p:ext>
    </p:extLst>
  </p:cSld>
</p:sld>
</file>

<file path=ppt/slides/slide9.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E135ACC-4AE5-4260-BEBC-1D8BD8D8A8A7}"/>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defRPr sz="900" b="1">
                <a:solidFill>
                  <a:srgbClr val="1B7F8C"/>
                </a:solidFill>
                <a:latin typeface="Arial"/>
                <a:ea typeface="Arial"/>
                <a:cs typeface="Arial"/>
              </a:defRPr>
            </a:pPr>
            <a:r>
              <a:rPr sz="900" b="1">
                <a:solidFill>
                  <a:srgbClr val="1B7F8C"/>
                </a:solidFill>
                <a:latin typeface="Arial"/>
                <a:ea typeface="Arial"/>
                <a:cs typeface="Arial"/>
              </a:rPr>
              <a:t>ERGEBNISSE &amp; LIVE-DEMO</a:t>
            </a:r>
          </a:p>
        </p:txBody>
      </p:sp>
      <p:sp>
        <p:nvSpPr>
          <p:cNvPr id="2" name="">
            <a:extLst xmlns:a="http://schemas.openxmlformats.org/drawingml/2006/main">
              <a:ext uri="{FF2B5EF4-FFF2-40B4-BE49-F238E27FC236}">
                <a16:creationId xmlns:a16="http://schemas.microsoft.com/office/drawing/2014/main" id="{524882E1-382F-465B-92DD-B20A676770D0}"/>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defRPr sz="2550" b="1">
                <a:solidFill>
                  <a:srgbClr val="102230"/>
                </a:solidFill>
                <a:latin typeface="Arial"/>
                <a:ea typeface="Arial"/>
                <a:cs typeface="Arial"/>
              </a:defRPr>
            </a:pPr>
            <a:r>
              <a:rPr sz="2550" b="1">
                <a:solidFill>
                  <a:srgbClr val="102230"/>
                </a:solidFill>
                <a:latin typeface="Arial"/>
                <a:ea typeface="Arial"/>
                <a:cs typeface="Arial"/>
              </a:rPr>
              <a:t>Full-Run-Evidenz auf einen Blick</a:t>
            </a:r>
          </a:p>
        </p:txBody>
      </p:sp>
      <p:sp>
        <p:nvSpPr>
          <p:cNvPr id="3" name="">
            <a:extLst xmlns:a="http://schemas.openxmlformats.org/drawingml/2006/main">
              <a:ext uri="{FF2B5EF4-FFF2-40B4-BE49-F238E27FC236}">
                <a16:creationId xmlns:a16="http://schemas.microsoft.com/office/drawing/2014/main" id="{8834558D-3B49-46F6-9778-25D382EB6B20}"/>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740331-13F4-4DC5-AC56-941472AB37A4}"/>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defRPr sz="825" b="1">
                <a:solidFill>
                  <a:srgbClr val="80929D"/>
                </a:solidFill>
                <a:latin typeface="Arial"/>
                <a:ea typeface="Arial"/>
                <a:cs typeface="Arial"/>
              </a:defRPr>
            </a:pPr>
            <a:r>
              <a:rPr sz="825" b="1">
                <a:solidFill>
                  <a:srgbClr val="80929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E56B099-B847-407D-9792-F058934F23DD}"/>
              </a:ext>
            </a:extLst>
          </p:cNvPr>
          <p:cNvSpPr>
            <a:spLocks xmlns:a="http://schemas.openxmlformats.org/drawingml/2006/main" noGrp="1"/>
          </p:cNvSpPr>
          <p:nvPr/>
        </p:nvSpPr>
        <p:spPr>
          <a:xfrm xmlns:a="http://schemas.openxmlformats.org/drawingml/2006/main">
            <a:off x="6286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8D7394C6-E41E-43AC-9FBD-FA9B01E1EAD7}"/>
              </a:ext>
            </a:extLst>
          </p:cNvPr>
          <p:cNvSpPr>
            <a:spLocks xmlns:a="http://schemas.openxmlformats.org/drawingml/2006/main" noGrp="1"/>
          </p:cNvSpPr>
          <p:nvPr/>
        </p:nvSpPr>
        <p:spPr>
          <a:xfrm xmlns:a="http://schemas.openxmlformats.org/drawingml/2006/main">
            <a:off x="628650" y="15049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A4979E-8233-451B-BE31-4851402F9E57}"/>
              </a:ext>
            </a:extLst>
          </p:cNvPr>
          <p:cNvSpPr>
            <a:spLocks xmlns:a="http://schemas.openxmlformats.org/drawingml/2006/main" noGrp="1"/>
          </p:cNvSpPr>
          <p:nvPr/>
        </p:nvSpPr>
        <p:spPr>
          <a:xfrm xmlns:a="http://schemas.openxmlformats.org/drawingml/2006/main">
            <a:off x="8763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6829D284-A342-47A3-85F6-90A8EFA15A7E}"/>
              </a:ext>
            </a:extLst>
          </p:cNvPr>
          <p:cNvSpPr>
            <a:spLocks xmlns:a="http://schemas.openxmlformats.org/drawingml/2006/main" noGrp="1"/>
          </p:cNvSpPr>
          <p:nvPr/>
        </p:nvSpPr>
        <p:spPr>
          <a:xfrm xmlns:a="http://schemas.openxmlformats.org/drawingml/2006/main">
            <a:off x="8763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MongoDB-Dokumente</a:t>
            </a:r>
          </a:p>
        </p:txBody>
      </p:sp>
      <p:sp>
        <p:nvSpPr>
          <p:cNvPr id="9" name="">
            <a:extLst xmlns:a="http://schemas.openxmlformats.org/drawingml/2006/main">
              <a:ext uri="{FF2B5EF4-FFF2-40B4-BE49-F238E27FC236}">
                <a16:creationId xmlns:a16="http://schemas.microsoft.com/office/drawing/2014/main" id="{FB7216BF-E41F-429E-9C48-5E5C6FC87E4B}"/>
              </a:ext>
            </a:extLst>
          </p:cNvPr>
          <p:cNvSpPr>
            <a:spLocks xmlns:a="http://schemas.openxmlformats.org/drawingml/2006/main" noGrp="1"/>
          </p:cNvSpPr>
          <p:nvPr/>
        </p:nvSpPr>
        <p:spPr>
          <a:xfrm xmlns:a="http://schemas.openxmlformats.org/drawingml/2006/main">
            <a:off x="33337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CF1ED1AD-4786-45D2-8FC0-173A5687618F}"/>
              </a:ext>
            </a:extLst>
          </p:cNvPr>
          <p:cNvSpPr>
            <a:spLocks xmlns:a="http://schemas.openxmlformats.org/drawingml/2006/main" noGrp="1"/>
          </p:cNvSpPr>
          <p:nvPr/>
        </p:nvSpPr>
        <p:spPr>
          <a:xfrm xmlns:a="http://schemas.openxmlformats.org/drawingml/2006/main">
            <a:off x="3333750" y="1504950"/>
            <a:ext cx="66675" cy="12001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693F81-18C9-4F61-8D55-8A7963EEB52C}"/>
              </a:ext>
            </a:extLst>
          </p:cNvPr>
          <p:cNvSpPr>
            <a:spLocks xmlns:a="http://schemas.openxmlformats.org/drawingml/2006/main" noGrp="1"/>
          </p:cNvSpPr>
          <p:nvPr/>
        </p:nvSpPr>
        <p:spPr>
          <a:xfrm xmlns:a="http://schemas.openxmlformats.org/drawingml/2006/main">
            <a:off x="35814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1.000</a:t>
            </a:r>
          </a:p>
        </p:txBody>
      </p:sp>
      <p:sp>
        <p:nvSpPr>
          <p:cNvPr id="12" name="">
            <a:extLst xmlns:a="http://schemas.openxmlformats.org/drawingml/2006/main">
              <a:ext uri="{FF2B5EF4-FFF2-40B4-BE49-F238E27FC236}">
                <a16:creationId xmlns:a16="http://schemas.microsoft.com/office/drawing/2014/main" id="{318BAD69-C1C2-4A31-B121-CB36E5E85FEB}"/>
              </a:ext>
            </a:extLst>
          </p:cNvPr>
          <p:cNvSpPr>
            <a:spLocks xmlns:a="http://schemas.openxmlformats.org/drawingml/2006/main" noGrp="1"/>
          </p:cNvSpPr>
          <p:nvPr/>
        </p:nvSpPr>
        <p:spPr>
          <a:xfrm xmlns:a="http://schemas.openxmlformats.org/drawingml/2006/main">
            <a:off x="35814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PostgreSQL-Prognosen</a:t>
            </a:r>
          </a:p>
        </p:txBody>
      </p:sp>
      <p:sp>
        <p:nvSpPr>
          <p:cNvPr id="13" name="">
            <a:extLst xmlns:a="http://schemas.openxmlformats.org/drawingml/2006/main">
              <a:ext uri="{FF2B5EF4-FFF2-40B4-BE49-F238E27FC236}">
                <a16:creationId xmlns:a16="http://schemas.microsoft.com/office/drawing/2014/main" id="{1584CB67-060A-4E7E-8D2A-4065FA96AA99}"/>
              </a:ext>
            </a:extLst>
          </p:cNvPr>
          <p:cNvSpPr>
            <a:spLocks xmlns:a="http://schemas.openxmlformats.org/drawingml/2006/main" noGrp="1"/>
          </p:cNvSpPr>
          <p:nvPr/>
        </p:nvSpPr>
        <p:spPr>
          <a:xfrm xmlns:a="http://schemas.openxmlformats.org/drawingml/2006/main">
            <a:off x="60388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FCAF578B-9BC8-4586-9DA0-D86226D4B563}"/>
              </a:ext>
            </a:extLst>
          </p:cNvPr>
          <p:cNvSpPr>
            <a:spLocks xmlns:a="http://schemas.openxmlformats.org/drawingml/2006/main" noGrp="1"/>
          </p:cNvSpPr>
          <p:nvPr/>
        </p:nvSpPr>
        <p:spPr>
          <a:xfrm xmlns:a="http://schemas.openxmlformats.org/drawingml/2006/main">
            <a:off x="6038850" y="15049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A6B29D5-EF2F-4162-82BE-B9479C06B0E1}"/>
              </a:ext>
            </a:extLst>
          </p:cNvPr>
          <p:cNvSpPr>
            <a:spLocks xmlns:a="http://schemas.openxmlformats.org/drawingml/2006/main" noGrp="1"/>
          </p:cNvSpPr>
          <p:nvPr/>
        </p:nvSpPr>
        <p:spPr>
          <a:xfrm xmlns:a="http://schemas.openxmlformats.org/drawingml/2006/main">
            <a:off x="62865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400</a:t>
            </a:r>
          </a:p>
        </p:txBody>
      </p:sp>
      <p:sp>
        <p:nvSpPr>
          <p:cNvPr id="16" name="">
            <a:extLst xmlns:a="http://schemas.openxmlformats.org/drawingml/2006/main">
              <a:ext uri="{FF2B5EF4-FFF2-40B4-BE49-F238E27FC236}">
                <a16:creationId xmlns:a16="http://schemas.microsoft.com/office/drawing/2014/main" id="{073937C8-6E7C-49A1-9A16-59C3393EC652}"/>
              </a:ext>
            </a:extLst>
          </p:cNvPr>
          <p:cNvSpPr>
            <a:spLocks xmlns:a="http://schemas.openxmlformats.org/drawingml/2006/main" noGrp="1"/>
          </p:cNvSpPr>
          <p:nvPr/>
        </p:nvSpPr>
        <p:spPr>
          <a:xfrm xmlns:a="http://schemas.openxmlformats.org/drawingml/2006/main">
            <a:off x="62865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Neo4j-Beziehungen</a:t>
            </a:r>
          </a:p>
        </p:txBody>
      </p:sp>
      <p:sp>
        <p:nvSpPr>
          <p:cNvPr id="17" name="">
            <a:extLst xmlns:a="http://schemas.openxmlformats.org/drawingml/2006/main">
              <a:ext uri="{FF2B5EF4-FFF2-40B4-BE49-F238E27FC236}">
                <a16:creationId xmlns:a16="http://schemas.microsoft.com/office/drawing/2014/main" id="{BC49D6C5-F8D1-44E8-8B7A-122FD208B9CD}"/>
              </a:ext>
            </a:extLst>
          </p:cNvPr>
          <p:cNvSpPr>
            <a:spLocks xmlns:a="http://schemas.openxmlformats.org/drawingml/2006/main" noGrp="1"/>
          </p:cNvSpPr>
          <p:nvPr/>
        </p:nvSpPr>
        <p:spPr>
          <a:xfrm xmlns:a="http://schemas.openxmlformats.org/drawingml/2006/main">
            <a:off x="87439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CC5C862A-303E-4E9B-8F6C-20E9330E26EF}"/>
              </a:ext>
            </a:extLst>
          </p:cNvPr>
          <p:cNvSpPr>
            <a:spLocks xmlns:a="http://schemas.openxmlformats.org/drawingml/2006/main" noGrp="1"/>
          </p:cNvSpPr>
          <p:nvPr/>
        </p:nvSpPr>
        <p:spPr>
          <a:xfrm xmlns:a="http://schemas.openxmlformats.org/drawingml/2006/main">
            <a:off x="8743950" y="15049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E3E3599-E658-4CDA-9603-BBA3B8B22D2C}"/>
              </a:ext>
            </a:extLst>
          </p:cNvPr>
          <p:cNvSpPr>
            <a:spLocks xmlns:a="http://schemas.openxmlformats.org/drawingml/2006/main" noGrp="1"/>
          </p:cNvSpPr>
          <p:nvPr/>
        </p:nvSpPr>
        <p:spPr>
          <a:xfrm xmlns:a="http://schemas.openxmlformats.org/drawingml/2006/main">
            <a:off x="89916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defRPr sz="2400" b="1">
                <a:solidFill>
                  <a:srgbClr val="102230"/>
                </a:solidFill>
                <a:latin typeface="Arial"/>
                <a:ea typeface="Arial"/>
                <a:cs typeface="Arial"/>
              </a:defRPr>
            </a:pPr>
            <a:r>
              <a:rPr sz="2400" b="1">
                <a:solidFill>
                  <a:srgbClr val="102230"/>
                </a:solidFill>
                <a:latin typeface="Arial"/>
                <a:ea typeface="Arial"/>
                <a:cs typeface="Arial"/>
              </a:rPr>
              <a:t>16 / 16</a:t>
            </a:r>
          </a:p>
        </p:txBody>
      </p:sp>
      <p:sp>
        <p:nvSpPr>
          <p:cNvPr id="20" name="">
            <a:extLst xmlns:a="http://schemas.openxmlformats.org/drawingml/2006/main">
              <a:ext uri="{FF2B5EF4-FFF2-40B4-BE49-F238E27FC236}">
                <a16:creationId xmlns:a16="http://schemas.microsoft.com/office/drawing/2014/main" id="{2A976893-010A-405C-AE62-2507CCAB1C9D}"/>
              </a:ext>
            </a:extLst>
          </p:cNvPr>
          <p:cNvSpPr>
            <a:spLocks xmlns:a="http://schemas.openxmlformats.org/drawingml/2006/main" noGrp="1"/>
          </p:cNvSpPr>
          <p:nvPr/>
        </p:nvSpPr>
        <p:spPr>
          <a:xfrm xmlns:a="http://schemas.openxmlformats.org/drawingml/2006/main">
            <a:off x="89916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ausgeführte Tests bestanden</a:t>
            </a:r>
          </a:p>
        </p:txBody>
      </p:sp>
      <p:sp>
        <p:nvSpPr>
          <p:cNvPr id="21" name="">
            <a:extLst xmlns:a="http://schemas.openxmlformats.org/drawingml/2006/main">
              <a:ext uri="{FF2B5EF4-FFF2-40B4-BE49-F238E27FC236}">
                <a16:creationId xmlns:a16="http://schemas.microsoft.com/office/drawing/2014/main" id="{D0FCDBD1-0FF3-454B-B8A3-6AE271F0840E}"/>
              </a:ext>
            </a:extLst>
          </p:cNvPr>
          <p:cNvSpPr>
            <a:spLocks xmlns:a="http://schemas.openxmlformats.org/drawingml/2006/main" noGrp="1"/>
          </p:cNvSpPr>
          <p:nvPr/>
        </p:nvSpPr>
        <p:spPr>
          <a:xfrm xmlns:a="http://schemas.openxmlformats.org/drawingml/2006/main">
            <a:off x="628650" y="3105150"/>
            <a:ext cx="6819900" cy="2438400"/>
          </a:xfrm>
          <a:prstGeom xmlns:a="http://schemas.openxmlformats.org/drawingml/2006/main" prst="roundRect">
            <a:avLst>
              <a:gd name="adj" fmla="val 4688"/>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B8AF2704-AAB6-41A3-8FCF-041B79F372D9}"/>
              </a:ext>
            </a:extLst>
          </p:cNvPr>
          <p:cNvSpPr>
            <a:spLocks xmlns:a="http://schemas.openxmlformats.org/drawingml/2006/main" noGrp="1"/>
          </p:cNvSpPr>
          <p:nvPr/>
        </p:nvSpPr>
        <p:spPr>
          <a:xfrm xmlns:a="http://schemas.openxmlformats.org/drawingml/2006/main">
            <a:off x="914400" y="3352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defPPr algn="l">
              <a:defRPr sz="1800" b="1">
                <a:solidFill>
                  <a:srgbClr val="102230"/>
                </a:solidFill>
                <a:latin typeface="Arial"/>
                <a:ea typeface="Arial"/>
                <a:cs typeface="Arial"/>
              </a:defRPr>
            </a:defPPr>
          </a:lstStyle>
          <a:p xmlns:a="http://schemas.openxmlformats.org/drawingml/2006/main">
            <a:pPr algn="l">
              <a:defRPr sz="1800" b="1">
                <a:solidFill>
                  <a:srgbClr val="102230"/>
                </a:solidFill>
                <a:latin typeface="Arial"/>
                <a:ea typeface="Arial"/>
                <a:cs typeface="Arial"/>
              </a:defRPr>
            </a:pPr>
            <a:r>
              <a:rPr sz="1800" b="1">
                <a:solidFill>
                  <a:srgbClr val="102230"/>
                </a:solidFill>
                <a:latin typeface="Arial"/>
                <a:ea typeface="Arial"/>
                <a:cs typeface="Arial"/>
              </a:rPr>
              <a:t>Live-Demo in 90 Sekunden</a:t>
            </a:r>
          </a:p>
        </p:txBody>
      </p:sp>
      <p:sp>
        <p:nvSpPr>
          <p:cNvPr id="23" name="">
            <a:extLst xmlns:a="http://schemas.openxmlformats.org/drawingml/2006/main">
              <a:ext uri="{FF2B5EF4-FFF2-40B4-BE49-F238E27FC236}">
                <a16:creationId xmlns:a16="http://schemas.microsoft.com/office/drawing/2014/main" id="{5EF7E73E-0CB3-41C4-AFF7-B35ABC440F1C}"/>
              </a:ext>
            </a:extLst>
          </p:cNvPr>
          <p:cNvSpPr>
            <a:spLocks xmlns:a="http://schemas.openxmlformats.org/drawingml/2006/main" noGrp="1"/>
          </p:cNvSpPr>
          <p:nvPr/>
        </p:nvSpPr>
        <p:spPr>
          <a:xfrm xmlns:a="http://schemas.openxmlformats.org/drawingml/2006/main">
            <a:off x="933450" y="3867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EB32EC8B-4250-4D64-A82D-71CE2A8BAF00}"/>
              </a:ext>
            </a:extLst>
          </p:cNvPr>
          <p:cNvSpPr>
            <a:spLocks xmlns:a="http://schemas.openxmlformats.org/drawingml/2006/main" noGrp="1"/>
          </p:cNvSpPr>
          <p:nvPr/>
        </p:nvSpPr>
        <p:spPr>
          <a:xfrm xmlns:a="http://schemas.openxmlformats.org/drawingml/2006/main">
            <a:off x="1371600" y="38671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docker compose ps</a:t>
            </a:r>
          </a:p>
        </p:txBody>
      </p:sp>
      <p:sp>
        <p:nvSpPr>
          <p:cNvPr id="25" name="">
            <a:extLst xmlns:a="http://schemas.openxmlformats.org/drawingml/2006/main">
              <a:ext uri="{FF2B5EF4-FFF2-40B4-BE49-F238E27FC236}">
                <a16:creationId xmlns:a16="http://schemas.microsoft.com/office/drawing/2014/main" id="{273826DE-3316-44A4-BD9F-603E7811C802}"/>
              </a:ext>
            </a:extLst>
          </p:cNvPr>
          <p:cNvSpPr>
            <a:spLocks xmlns:a="http://schemas.openxmlformats.org/drawingml/2006/main" noGrp="1"/>
          </p:cNvSpPr>
          <p:nvPr/>
        </p:nvSpPr>
        <p:spPr>
          <a:xfrm xmlns:a="http://schemas.openxmlformats.org/drawingml/2006/main">
            <a:off x="3905250" y="3867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gesunder Stack</a:t>
            </a:r>
          </a:p>
        </p:txBody>
      </p:sp>
      <p:sp>
        <p:nvSpPr>
          <p:cNvPr id="26" name="">
            <a:extLst xmlns:a="http://schemas.openxmlformats.org/drawingml/2006/main">
              <a:ext uri="{FF2B5EF4-FFF2-40B4-BE49-F238E27FC236}">
                <a16:creationId xmlns:a16="http://schemas.microsoft.com/office/drawing/2014/main" id="{7D1302C5-872E-4911-A957-A36C7D9496E1}"/>
              </a:ext>
            </a:extLst>
          </p:cNvPr>
          <p:cNvSpPr>
            <a:spLocks xmlns:a="http://schemas.openxmlformats.org/drawingml/2006/main" noGrp="1"/>
          </p:cNvSpPr>
          <p:nvPr/>
        </p:nvSpPr>
        <p:spPr>
          <a:xfrm xmlns:a="http://schemas.openxmlformats.org/drawingml/2006/main">
            <a:off x="933450" y="4257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02</a:t>
            </a:r>
          </a:p>
        </p:txBody>
      </p:sp>
      <p:sp>
        <p:nvSpPr>
          <p:cNvPr id="27" name="">
            <a:extLst xmlns:a="http://schemas.openxmlformats.org/drawingml/2006/main">
              <a:ext uri="{FF2B5EF4-FFF2-40B4-BE49-F238E27FC236}">
                <a16:creationId xmlns:a16="http://schemas.microsoft.com/office/drawing/2014/main" id="{04136929-A78D-417F-AB98-DDDDFDDB92C9}"/>
              </a:ext>
            </a:extLst>
          </p:cNvPr>
          <p:cNvSpPr>
            <a:spLocks xmlns:a="http://schemas.openxmlformats.org/drawingml/2006/main" noGrp="1"/>
          </p:cNvSpPr>
          <p:nvPr/>
        </p:nvSpPr>
        <p:spPr>
          <a:xfrm xmlns:a="http://schemas.openxmlformats.org/drawingml/2006/main">
            <a:off x="1371600" y="425767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/health</a:t>
            </a:r>
          </a:p>
        </p:txBody>
      </p:sp>
      <p:sp>
        <p:nvSpPr>
          <p:cNvPr id="28" name="">
            <a:extLst xmlns:a="http://schemas.openxmlformats.org/drawingml/2006/main">
              <a:ext uri="{FF2B5EF4-FFF2-40B4-BE49-F238E27FC236}">
                <a16:creationId xmlns:a16="http://schemas.microsoft.com/office/drawing/2014/main" id="{93C03774-ED80-4C10-9B55-B08655569328}"/>
              </a:ext>
            </a:extLst>
          </p:cNvPr>
          <p:cNvSpPr>
            <a:spLocks xmlns:a="http://schemas.openxmlformats.org/drawingml/2006/main" noGrp="1"/>
          </p:cNvSpPr>
          <p:nvPr/>
        </p:nvSpPr>
        <p:spPr>
          <a:xfrm xmlns:a="http://schemas.openxmlformats.org/drawingml/2006/main">
            <a:off x="3905250" y="42576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Artefakte verfügbar</a:t>
            </a:r>
          </a:p>
        </p:txBody>
      </p:sp>
      <p:sp>
        <p:nvSpPr>
          <p:cNvPr id="29" name="">
            <a:extLst xmlns:a="http://schemas.openxmlformats.org/drawingml/2006/main">
              <a:ext uri="{FF2B5EF4-FFF2-40B4-BE49-F238E27FC236}">
                <a16:creationId xmlns:a16="http://schemas.microsoft.com/office/drawing/2014/main" id="{6397C04B-DE1B-4525-8E2F-DA0F646115BD}"/>
              </a:ext>
            </a:extLst>
          </p:cNvPr>
          <p:cNvSpPr>
            <a:spLocks xmlns:a="http://schemas.openxmlformats.org/drawingml/2006/main" noGrp="1"/>
          </p:cNvSpPr>
          <p:nvPr/>
        </p:nvSpPr>
        <p:spPr>
          <a:xfrm xmlns:a="http://schemas.openxmlformats.org/drawingml/2006/main">
            <a:off x="933450" y="4648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340E38DF-8CE5-426B-8F4D-24FAF5A17B3B}"/>
              </a:ext>
            </a:extLst>
          </p:cNvPr>
          <p:cNvSpPr>
            <a:spLocks xmlns:a="http://schemas.openxmlformats.org/drawingml/2006/main" noGrp="1"/>
          </p:cNvSpPr>
          <p:nvPr/>
        </p:nvSpPr>
        <p:spPr>
          <a:xfrm xmlns:a="http://schemas.openxmlformats.org/drawingml/2006/main">
            <a:off x="1371600" y="464820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GET /predictions</a:t>
            </a:r>
          </a:p>
        </p:txBody>
      </p:sp>
      <p:sp>
        <p:nvSpPr>
          <p:cNvPr id="31" name="">
            <a:extLst xmlns:a="http://schemas.openxmlformats.org/drawingml/2006/main">
              <a:ext uri="{FF2B5EF4-FFF2-40B4-BE49-F238E27FC236}">
                <a16:creationId xmlns:a16="http://schemas.microsoft.com/office/drawing/2014/main" id="{BD5A7A30-D415-47A3-B78C-4BD9EA1BECEC}"/>
              </a:ext>
            </a:extLst>
          </p:cNvPr>
          <p:cNvSpPr>
            <a:spLocks xmlns:a="http://schemas.openxmlformats.org/drawingml/2006/main" noGrp="1"/>
          </p:cNvSpPr>
          <p:nvPr/>
        </p:nvSpPr>
        <p:spPr>
          <a:xfrm xmlns:a="http://schemas.openxmlformats.org/drawingml/2006/main">
            <a:off x="390525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Risikowerte abrufen</a:t>
            </a:r>
          </a:p>
        </p:txBody>
      </p:sp>
      <p:sp>
        <p:nvSpPr>
          <p:cNvPr id="32" name="">
            <a:extLst xmlns:a="http://schemas.openxmlformats.org/drawingml/2006/main">
              <a:ext uri="{FF2B5EF4-FFF2-40B4-BE49-F238E27FC236}">
                <a16:creationId xmlns:a16="http://schemas.microsoft.com/office/drawing/2014/main" id="{2CA3D51C-24E6-46D2-B002-9FFC328B2C83}"/>
              </a:ext>
            </a:extLst>
          </p:cNvPr>
          <p:cNvSpPr>
            <a:spLocks xmlns:a="http://schemas.openxmlformats.org/drawingml/2006/main" noGrp="1"/>
          </p:cNvSpPr>
          <p:nvPr/>
        </p:nvSpPr>
        <p:spPr>
          <a:xfrm xmlns:a="http://schemas.openxmlformats.org/drawingml/2006/main">
            <a:off x="933450" y="50387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BDD9FCD0-16D0-4789-AA4B-91993B89C5B6}"/>
              </a:ext>
            </a:extLst>
          </p:cNvPr>
          <p:cNvSpPr>
            <a:spLocks xmlns:a="http://schemas.openxmlformats.org/drawingml/2006/main" noGrp="1"/>
          </p:cNvSpPr>
          <p:nvPr/>
        </p:nvSpPr>
        <p:spPr>
          <a:xfrm xmlns:a="http://schemas.openxmlformats.org/drawingml/2006/main">
            <a:off x="1371600" y="503872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defRPr sz="1200" b="1">
                <a:solidFill>
                  <a:srgbClr val="102230"/>
                </a:solidFill>
                <a:latin typeface="Arial"/>
                <a:ea typeface="Arial"/>
                <a:cs typeface="Arial"/>
              </a:defRPr>
            </a:pPr>
            <a:r>
              <a:rPr sz="1200" b="1">
                <a:solidFill>
                  <a:srgbClr val="102230"/>
                </a:solidFill>
                <a:latin typeface="Arial"/>
                <a:ea typeface="Arial"/>
                <a:cs typeface="Arial"/>
              </a:rPr>
              <a:t>Airflow / Neo4j</a:t>
            </a:r>
          </a:p>
        </p:txBody>
      </p:sp>
      <p:sp>
        <p:nvSpPr>
          <p:cNvPr id="34" name="">
            <a:extLst xmlns:a="http://schemas.openxmlformats.org/drawingml/2006/main">
              <a:ext uri="{FF2B5EF4-FFF2-40B4-BE49-F238E27FC236}">
                <a16:creationId xmlns:a16="http://schemas.microsoft.com/office/drawing/2014/main" id="{0048C38E-F62A-40E5-9BCE-FDFF22031AF2}"/>
              </a:ext>
            </a:extLst>
          </p:cNvPr>
          <p:cNvSpPr>
            <a:spLocks xmlns:a="http://schemas.openxmlformats.org/drawingml/2006/main" noGrp="1"/>
          </p:cNvSpPr>
          <p:nvPr/>
        </p:nvSpPr>
        <p:spPr>
          <a:xfrm xmlns:a="http://schemas.openxmlformats.org/drawingml/2006/main">
            <a:off x="3905250" y="50387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defRPr sz="1125" b="0">
                <a:solidFill>
                  <a:srgbClr val="536675"/>
                </a:solidFill>
                <a:latin typeface="Arial"/>
                <a:ea typeface="Arial"/>
                <a:cs typeface="Arial"/>
              </a:defRPr>
            </a:pPr>
            <a:r>
              <a:rPr sz="1125" b="0">
                <a:solidFill>
                  <a:srgbClr val="536675"/>
                </a:solidFill>
                <a:latin typeface="Arial"/>
                <a:ea typeface="Arial"/>
                <a:cs typeface="Arial"/>
              </a:rPr>
              <a:t>Ablauf + Kontext</a:t>
            </a:r>
          </a:p>
        </p:txBody>
      </p:sp>
      <p:sp>
        <p:nvSpPr>
          <p:cNvPr id="35" name="">
            <a:extLst xmlns:a="http://schemas.openxmlformats.org/drawingml/2006/main">
              <a:ext uri="{FF2B5EF4-FFF2-40B4-BE49-F238E27FC236}">
                <a16:creationId xmlns:a16="http://schemas.microsoft.com/office/drawing/2014/main" id="{968B3152-C9CC-410C-8E94-1118D5961F82}"/>
              </a:ext>
            </a:extLst>
          </p:cNvPr>
          <p:cNvSpPr>
            <a:spLocks xmlns:a="http://schemas.openxmlformats.org/drawingml/2006/main" noGrp="1"/>
          </p:cNvSpPr>
          <p:nvPr/>
        </p:nvSpPr>
        <p:spPr>
          <a:xfrm xmlns:a="http://schemas.openxmlformats.org/drawingml/2006/main">
            <a:off x="7734300" y="3105150"/>
            <a:ext cx="3467100" cy="2438400"/>
          </a:xfrm>
          <a:prstGeom xmlns:a="http://schemas.openxmlformats.org/drawingml/2006/main" prst="roundRect">
            <a:avLst>
              <a:gd name="adj" fmla="val 4688"/>
            </a:avLst>
          </a:prstGeom>
          <a:solidFill xmlns:a="http://schemas.openxmlformats.org/drawingml/2006/main">
            <a:srgbClr val="0A1822"/>
          </a:solidFill>
          <a:ln xmlns:a="http://schemas.openxmlformats.org/drawingml/2006/main" w="9525">
            <a:solidFill>
              <a:srgbClr val="0A1822"/>
            </a:solidFill>
            <a:prstDash val="solid"/>
          </a:ln>
        </p:spPr>
      </p:sp>
      <p:sp>
        <p:nvSpPr>
          <p:cNvPr id="36" name="">
            <a:extLst xmlns:a="http://schemas.openxmlformats.org/drawingml/2006/main">
              <a:ext uri="{FF2B5EF4-FFF2-40B4-BE49-F238E27FC236}">
                <a16:creationId xmlns:a16="http://schemas.microsoft.com/office/drawing/2014/main" id="{44B4264A-2A21-4116-ACDD-9440D841A937}"/>
              </a:ext>
            </a:extLst>
          </p:cNvPr>
          <p:cNvSpPr>
            <a:spLocks xmlns:a="http://schemas.openxmlformats.org/drawingml/2006/main" noGrp="1"/>
          </p:cNvSpPr>
          <p:nvPr/>
        </p:nvSpPr>
        <p:spPr>
          <a:xfrm xmlns:a="http://schemas.openxmlformats.org/drawingml/2006/main">
            <a:off x="8039100" y="3371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defRPr sz="1200" b="1">
                <a:solidFill>
                  <a:srgbClr val="F4A261"/>
                </a:solidFill>
                <a:latin typeface="Arial"/>
                <a:ea typeface="Arial"/>
                <a:cs typeface="Arial"/>
              </a:defRPr>
            </a:pPr>
            <a:r>
              <a:rPr sz="1200" b="1">
                <a:solidFill>
                  <a:srgbClr val="F4A261"/>
                </a:solidFill>
                <a:latin typeface="Arial"/>
                <a:ea typeface="Arial"/>
                <a:cs typeface="Arial"/>
              </a:rPr>
              <a:t>Top-Priorität</a:t>
            </a:r>
          </a:p>
        </p:txBody>
      </p:sp>
      <p:sp>
        <p:nvSpPr>
          <p:cNvPr id="37" name="">
            <a:extLst xmlns:a="http://schemas.openxmlformats.org/drawingml/2006/main">
              <a:ext uri="{FF2B5EF4-FFF2-40B4-BE49-F238E27FC236}">
                <a16:creationId xmlns:a16="http://schemas.microsoft.com/office/drawing/2014/main" id="{9A9EFF80-BAE8-4021-930D-D86E0561ECD7}"/>
              </a:ext>
            </a:extLst>
          </p:cNvPr>
          <p:cNvSpPr>
            <a:spLocks xmlns:a="http://schemas.openxmlformats.org/drawingml/2006/main" noGrp="1"/>
          </p:cNvSpPr>
          <p:nvPr/>
        </p:nvSpPr>
        <p:spPr>
          <a:xfrm xmlns:a="http://schemas.openxmlformats.org/drawingml/2006/main">
            <a:off x="8039100" y="37909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225" b="1">
                <a:solidFill>
                  <a:srgbClr val="FFFFFF"/>
                </a:solidFill>
                <a:latin typeface="Arial"/>
                <a:ea typeface="Arial"/>
                <a:cs typeface="Arial"/>
              </a:defRPr>
            </a:defPPr>
          </a:lstStyle>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M-017</a:t>
            </a:r>
          </a:p>
        </p:txBody>
      </p:sp>
      <p:sp>
        <p:nvSpPr>
          <p:cNvPr id="38" name="">
            <a:extLst xmlns:a="http://schemas.openxmlformats.org/drawingml/2006/main">
              <a:ext uri="{FF2B5EF4-FFF2-40B4-BE49-F238E27FC236}">
                <a16:creationId xmlns:a16="http://schemas.microsoft.com/office/drawing/2014/main" id="{70409573-5D7F-4537-B339-47A88B75821A}"/>
              </a:ext>
            </a:extLst>
          </p:cNvPr>
          <p:cNvSpPr>
            <a:spLocks xmlns:a="http://schemas.openxmlformats.org/drawingml/2006/main" noGrp="1"/>
          </p:cNvSpPr>
          <p:nvPr/>
        </p:nvSpPr>
        <p:spPr>
          <a:xfrm xmlns:a="http://schemas.openxmlformats.org/drawingml/2006/main">
            <a:off x="8039100" y="4476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defPPr algn="ctr">
              <a:defRPr sz="1425" b="1">
                <a:solidFill>
                  <a:srgbClr val="C8D7DD"/>
                </a:solidFill>
                <a:latin typeface="Arial"/>
                <a:ea typeface="Arial"/>
                <a:cs typeface="Arial"/>
              </a:defRPr>
            </a:defPPr>
          </a:lstStyle>
          <a:p xmlns:a="http://schemas.openxmlformats.org/drawingml/2006/main">
            <a:pPr algn="ctr">
              <a:defRPr sz="1425" b="1">
                <a:solidFill>
                  <a:srgbClr val="C8D7DD"/>
                </a:solidFill>
                <a:latin typeface="Arial"/>
                <a:ea typeface="Arial"/>
                <a:cs typeface="Arial"/>
              </a:defRPr>
            </a:pPr>
            <a:r>
              <a:rPr sz="1425" b="1">
                <a:solidFill>
                  <a:srgbClr val="C8D7DD"/>
                </a:solidFill>
                <a:latin typeface="Arial"/>
                <a:ea typeface="Arial"/>
                <a:cs typeface="Arial"/>
              </a:rPr>
              <a:t>Baseline-Risiko 0,581</a:t>
            </a:r>
          </a:p>
        </p:txBody>
      </p:sp>
      <p:sp>
        <p:nvSpPr>
          <p:cNvPr id="39" name="">
            <a:extLst xmlns:a="http://schemas.openxmlformats.org/drawingml/2006/main">
              <a:ext uri="{FF2B5EF4-FFF2-40B4-BE49-F238E27FC236}">
                <a16:creationId xmlns:a16="http://schemas.microsoft.com/office/drawing/2014/main" id="{F13A9449-5DCD-4C1A-9296-48E622320803}"/>
              </a:ext>
            </a:extLst>
          </p:cNvPr>
          <p:cNvSpPr>
            <a:spLocks xmlns:a="http://schemas.openxmlformats.org/drawingml/2006/main" noGrp="1"/>
          </p:cNvSpPr>
          <p:nvPr/>
        </p:nvSpPr>
        <p:spPr>
          <a:xfrm xmlns:a="http://schemas.openxmlformats.org/drawingml/2006/main">
            <a:off x="8039100" y="4933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8FA6B0"/>
                </a:solidFill>
                <a:latin typeface="Arial"/>
                <a:ea typeface="Arial"/>
                <a:cs typeface="Arial"/>
              </a:defRPr>
            </a:defPPr>
          </a:lstStyle>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transparent-rule-baseline-v1</a:t>
            </a:r>
          </a:p>
          <a:p xmlns:a="http://schemas.openxmlformats.org/drawingml/2006/main">
            <a:pPr algn="ctr">
              <a:defRPr sz="1050" b="0">
                <a:solidFill>
                  <a:srgbClr val="8FA6B0"/>
                </a:solidFill>
                <a:latin typeface="Arial"/>
                <a:ea typeface="Arial"/>
                <a:cs typeface="Arial"/>
              </a:defRPr>
            </a:pPr>
            <a:r>
              <a:rPr sz="1050" b="0">
                <a:solidFill>
                  <a:srgbClr val="8FA6B0"/>
                </a:solidFill>
                <a:latin typeface="Arial"/>
                <a:ea typeface="Arial"/>
                <a:cs typeface="Arial"/>
              </a:rPr>
              <a:t>≠ MLlib-Modell</a:t>
            </a:r>
          </a:p>
        </p:txBody>
      </p:sp>
    </p:spTree>
    <p:extLst>
      <p:ext uri="{BB962C8B-B14F-4D97-AF65-F5344CB8AC3E}">
        <p14:creationId xmlns:p14="http://schemas.microsoft.com/office/powerpoint/2010/main" val="937513382"/>
      </p:ext>
    </p:extLst>
  </p:cSld>
</p:sld>
</file>

<file path=ppt/slides/slide10.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7A3D8F-9374-4FDB-BA0E-B5EECCB29443}"/>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FAZIT</a:t>
            </a:r>
          </a:p>
        </p:txBody>
      </p:sp>
      <p:sp>
        <p:nvSpPr>
          <p:cNvPr id="2" name="">
            <a:extLst xmlns:a="http://schemas.openxmlformats.org/drawingml/2006/main">
              <a:ext uri="{FF2B5EF4-FFF2-40B4-BE49-F238E27FC236}">
                <a16:creationId xmlns:a16="http://schemas.microsoft.com/office/drawing/2014/main" id="{FC0E5F08-30F1-42D2-A57A-2EA8EB773DCC}"/>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Technik abgeschlossen. Modellkritik bleibt Teil des Ergebnisses.</a:t>
            </a:r>
          </a:p>
        </p:txBody>
      </p:sp>
      <p:sp>
        <p:nvSpPr>
          <p:cNvPr id="3" name="">
            <a:extLst xmlns:a="http://schemas.openxmlformats.org/drawingml/2006/main">
              <a:ext uri="{FF2B5EF4-FFF2-40B4-BE49-F238E27FC236}">
                <a16:creationId xmlns:a16="http://schemas.microsoft.com/office/drawing/2014/main" id="{47AFA4AA-2FA9-4257-A6FB-7A6D4E4076AF}"/>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01F74E-3C1C-4D88-9C30-7D0CA67F66DC}"/>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defRPr sz="825" b="1">
                <a:solidFill>
                  <a:srgbClr val="9CB0BB"/>
                </a:solidFill>
                <a:latin typeface="Arial"/>
                <a:ea typeface="Arial"/>
                <a:cs typeface="Arial"/>
              </a:defRPr>
            </a:pPr>
            <a:r>
              <a:rPr sz="825" b="1">
                <a:solidFill>
                  <a:srgbClr val="9CB0B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32B720F-F569-42FE-953A-90184F292DFC}"/>
              </a:ext>
            </a:extLst>
          </p:cNvPr>
          <p:cNvSpPr>
            <a:spLocks xmlns:a="http://schemas.openxmlformats.org/drawingml/2006/main" noGrp="1"/>
          </p:cNvSpPr>
          <p:nvPr/>
        </p:nvSpPr>
        <p:spPr>
          <a:xfrm xmlns:a="http://schemas.openxmlformats.org/drawingml/2006/main">
            <a:off x="628650" y="1562100"/>
            <a:ext cx="5124450" cy="3600450"/>
          </a:xfrm>
          <a:prstGeom xmlns:a="http://schemas.openxmlformats.org/drawingml/2006/main" prst="roundRect">
            <a:avLst>
              <a:gd name="adj" fmla="val 3175"/>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4BF69D63-C36C-46D0-91B2-62770948B4E7}"/>
              </a:ext>
            </a:extLst>
          </p:cNvPr>
          <p:cNvSpPr>
            <a:spLocks xmlns:a="http://schemas.openxmlformats.org/drawingml/2006/main" noGrp="1"/>
          </p:cNvSpPr>
          <p:nvPr/>
        </p:nvSpPr>
        <p:spPr>
          <a:xfrm xmlns:a="http://schemas.openxmlformats.org/drawingml/2006/main">
            <a:off x="933450" y="18669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Erreicht</a:t>
            </a:r>
          </a:p>
        </p:txBody>
      </p:sp>
      <p:sp>
        <p:nvSpPr>
          <p:cNvPr id="7" name="">
            <a:extLst xmlns:a="http://schemas.openxmlformats.org/drawingml/2006/main">
              <a:ext uri="{FF2B5EF4-FFF2-40B4-BE49-F238E27FC236}">
                <a16:creationId xmlns:a16="http://schemas.microsoft.com/office/drawing/2014/main" id="{8307EF29-3D92-4F13-BCD4-BA5EC9320289}"/>
              </a:ext>
            </a:extLst>
          </p:cNvPr>
          <p:cNvSpPr>
            <a:spLocks xmlns:a="http://schemas.openxmlformats.org/drawingml/2006/main" noGrp="1"/>
          </p:cNvSpPr>
          <p:nvPr/>
        </p:nvSpPr>
        <p:spPr>
          <a:xfrm xmlns:a="http://schemas.openxmlformats.org/drawingml/2006/main">
            <a:off x="971550" y="2476500"/>
            <a:ext cx="428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End-to-End-Plattform statt Demo-Skripte</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Full-DAG mit 1 Mio. Messungen erfolgreich</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Polyglot Persistence + Spark + MLlib + API</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Tests, Reports und Präsentation reproduzierbar</a:t>
            </a:r>
          </a:p>
        </p:txBody>
      </p:sp>
      <p:sp>
        <p:nvSpPr>
          <p:cNvPr id="8" name="">
            <a:extLst xmlns:a="http://schemas.openxmlformats.org/drawingml/2006/main">
              <a:ext uri="{FF2B5EF4-FFF2-40B4-BE49-F238E27FC236}">
                <a16:creationId xmlns:a16="http://schemas.microsoft.com/office/drawing/2014/main" id="{83AD9BD3-7846-47C7-B4D0-08107DF14EC6}"/>
              </a:ext>
            </a:extLst>
          </p:cNvPr>
          <p:cNvSpPr>
            <a:spLocks xmlns:a="http://schemas.openxmlformats.org/drawingml/2006/main" noGrp="1"/>
          </p:cNvSpPr>
          <p:nvPr/>
        </p:nvSpPr>
        <p:spPr>
          <a:xfrm xmlns:a="http://schemas.openxmlformats.org/drawingml/2006/main">
            <a:off x="6076950" y="1562100"/>
            <a:ext cx="5486400" cy="3600450"/>
          </a:xfrm>
          <a:prstGeom xmlns:a="http://schemas.openxmlformats.org/drawingml/2006/main" prst="roundRect">
            <a:avLst>
              <a:gd name="adj" fmla="val 3175"/>
            </a:avLst>
          </a:prstGeom>
          <a:solidFill xmlns:a="http://schemas.openxmlformats.org/drawingml/2006/main">
            <a:srgbClr val="0E3544"/>
          </a:solidFill>
          <a:ln xmlns:a="http://schemas.openxmlformats.org/drawingml/2006/main" w="9525">
            <a:solidFill>
              <a:srgbClr val="31505D"/>
            </a:solidFill>
            <a:prstDash val="solid"/>
          </a:ln>
        </p:spPr>
      </p:sp>
      <p:sp>
        <p:nvSpPr>
          <p:cNvPr id="9" name="">
            <a:extLst xmlns:a="http://schemas.openxmlformats.org/drawingml/2006/main">
              <a:ext uri="{FF2B5EF4-FFF2-40B4-BE49-F238E27FC236}">
                <a16:creationId xmlns:a16="http://schemas.microsoft.com/office/drawing/2014/main" id="{EA47230E-BEAA-44F5-B30E-5811AFCC1082}"/>
              </a:ext>
            </a:extLst>
          </p:cNvPr>
          <p:cNvSpPr>
            <a:spLocks xmlns:a="http://schemas.openxmlformats.org/drawingml/2006/main" noGrp="1"/>
          </p:cNvSpPr>
          <p:nvPr/>
        </p:nvSpPr>
        <p:spPr>
          <a:xfrm xmlns:a="http://schemas.openxmlformats.org/drawingml/2006/main">
            <a:off x="6400800" y="1866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4A261"/>
                </a:solidFill>
                <a:latin typeface="Arial"/>
                <a:ea typeface="Arial"/>
                <a:cs typeface="Arial"/>
              </a:defRPr>
            </a:defPPr>
          </a:lstStyle>
          <a:p xmlns:a="http://schemas.openxmlformats.org/drawingml/2006/main">
            <a:pPr algn="l">
              <a:defRPr sz="2100" b="1">
                <a:solidFill>
                  <a:srgbClr val="F4A261"/>
                </a:solidFill>
                <a:latin typeface="Arial"/>
                <a:ea typeface="Arial"/>
                <a:cs typeface="Arial"/>
              </a:defRPr>
            </a:pPr>
            <a:r>
              <a:rPr sz="2100" b="1">
                <a:solidFill>
                  <a:srgbClr val="F4A261"/>
                </a:solidFill>
                <a:latin typeface="Arial"/>
                <a:ea typeface="Arial"/>
                <a:cs typeface="Arial"/>
              </a:rPr>
              <a:t>Nächste Ausbaustufe</a:t>
            </a:r>
          </a:p>
        </p:txBody>
      </p:sp>
      <p:sp>
        <p:nvSpPr>
          <p:cNvPr id="10" name="">
            <a:extLst xmlns:a="http://schemas.openxmlformats.org/drawingml/2006/main">
              <a:ext uri="{FF2B5EF4-FFF2-40B4-BE49-F238E27FC236}">
                <a16:creationId xmlns:a16="http://schemas.microsoft.com/office/drawing/2014/main" id="{A963FC31-3784-4E0B-9677-398468B05729}"/>
              </a:ext>
            </a:extLst>
          </p:cNvPr>
          <p:cNvSpPr>
            <a:spLocks xmlns:a="http://schemas.openxmlformats.org/drawingml/2006/main" noGrp="1"/>
          </p:cNvSpPr>
          <p:nvPr/>
        </p:nvSpPr>
        <p:spPr>
          <a:xfrm xmlns:a="http://schemas.openxmlformats.org/drawingml/2006/main">
            <a:off x="6438900" y="2476500"/>
            <a:ext cx="4572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echte Historien und fachlich validierte Labels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Kosten falscher Alarme und Threshold-Tuning</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Registry, Drift-Monitoring, Security, Streaming</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GitHub-Push nach verifizierter CLI-Identität</a:t>
            </a:r>
          </a:p>
        </p:txBody>
      </p:sp>
      <p:sp>
        <p:nvSpPr>
          <p:cNvPr id="11" name="">
            <a:extLst xmlns:a="http://schemas.openxmlformats.org/drawingml/2006/main">
              <a:ext uri="{FF2B5EF4-FFF2-40B4-BE49-F238E27FC236}">
                <a16:creationId xmlns:a16="http://schemas.microsoft.com/office/drawing/2014/main" id="{F02E0045-7150-4057-B7C3-2094FC378A88}"/>
              </a:ext>
            </a:extLst>
          </p:cNvPr>
          <p:cNvSpPr>
            <a:spLocks xmlns:a="http://schemas.openxmlformats.org/drawingml/2006/main" noGrp="1"/>
          </p:cNvSpPr>
          <p:nvPr/>
        </p:nvSpPr>
        <p:spPr>
          <a:xfrm xmlns:a="http://schemas.openxmlformats.org/drawingml/2006/main">
            <a:off x="1524000" y="5505450"/>
            <a:ext cx="9144000" cy="495300"/>
          </a:xfrm>
          <a:prstGeom xmlns:a="http://schemas.openxmlformats.org/drawingml/2006/main" prst="roundRect">
            <a:avLst>
              <a:gd name="adj" fmla="val 23077"/>
            </a:avLst>
          </a:prstGeom>
          <a:solidFill xmlns:a="http://schemas.openxmlformats.org/drawingml/2006/main">
            <a:srgbClr val="F4A261"/>
          </a:solidFill>
          <a:ln xmlns:a="http://schemas.openxmlformats.org/drawingml/2006/main" w="9525">
            <a:solidFill>
              <a:srgbClr val="F4A261"/>
            </a:solidFill>
            <a:prstDash val="solid"/>
          </a:ln>
        </p:spPr>
      </p:sp>
      <p:sp>
        <p:nvSpPr>
          <p:cNvPr id="12" name="">
            <a:extLst xmlns:a="http://schemas.openxmlformats.org/drawingml/2006/main">
              <a:ext uri="{FF2B5EF4-FFF2-40B4-BE49-F238E27FC236}">
                <a16:creationId xmlns:a16="http://schemas.microsoft.com/office/drawing/2014/main" id="{F505998A-4F86-404C-8E9C-E025C31F24EE}"/>
              </a:ext>
            </a:extLst>
          </p:cNvPr>
          <p:cNvSpPr>
            <a:spLocks xmlns:a="http://schemas.openxmlformats.org/drawingml/2006/main" noGrp="1"/>
          </p:cNvSpPr>
          <p:nvPr/>
        </p:nvSpPr>
        <p:spPr>
          <a:xfrm xmlns:a="http://schemas.openxmlformats.org/drawingml/2006/main">
            <a:off x="1809750" y="562927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defPPr algn="ctr">
              <a:defRPr sz="1575" b="1">
                <a:solidFill>
                  <a:srgbClr val="0A1822"/>
                </a:solidFill>
                <a:latin typeface="Arial"/>
                <a:ea typeface="Arial"/>
                <a:cs typeface="Arial"/>
              </a:defRPr>
            </a:defPPr>
          </a:lstStyle>
          <a:p xmlns:a="http://schemas.openxmlformats.org/drawingml/2006/main">
            <a:pPr algn="ctr">
              <a:defRPr sz="1575" b="1">
                <a:solidFill>
                  <a:srgbClr val="0A1822"/>
                </a:solidFill>
                <a:latin typeface="Arial"/>
                <a:ea typeface="Arial"/>
                <a:cs typeface="Arial"/>
              </a:defRPr>
            </a:pPr>
            <a:r>
              <a:rPr sz="1575" b="1">
                <a:solidFill>
                  <a:srgbClr val="0A1822"/>
                </a:solidFill>
                <a:latin typeface="Arial"/>
                <a:ea typeface="Arial"/>
                <a:cs typeface="Arial"/>
              </a:rPr>
              <a:t>Eine funktionierende Pipeline ist nicht automatisch ein gutes Modell.</a:t>
            </a:r>
          </a:p>
        </p:txBody>
      </p:sp>
    </p:spTree>
    <p:extLst>
      <p:ext uri="{BB962C8B-B14F-4D97-AF65-F5344CB8AC3E}">
        <p14:creationId xmlns:p14="http://schemas.microsoft.com/office/powerpoint/2010/main" val="18050437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2026-10-19T07:09:00.4300000Z</dcterms:created>
  <dcterms:modified xsi:type="dcterms:W3CDTF">2026-10-19T07:09:00.4300000Z</dcterms:modified>
</coreProperties>
</file>