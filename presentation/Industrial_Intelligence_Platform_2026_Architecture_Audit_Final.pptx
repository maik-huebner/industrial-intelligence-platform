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bdcc03556948d0" /><Relationship Type="http://schemas.openxmlformats.org/officeDocument/2006/relationships/extended-properties" Target="/docProps/app.xml" Id="R71eb851175a3433c" /><Relationship Type="http://schemas.openxmlformats.org/officeDocument/2006/relationships/officeDocument" Target="/ppt/presentation.xml" Id="R5901e44e6d9d4351" /></Relationships>
</file>

<file path=ppt/presentation.xml><?xml version="1.0" encoding="utf-8"?>
<p:presentation xmlns:p="http://schemas.openxmlformats.org/presentationml/2006/main">
  <p:sldMasterIdLst>
    <p:sldMasterId xmlns:r="http://schemas.openxmlformats.org/officeDocument/2006/relationships" id="2147483648" r:id="Rf5213f557411423d"/>
  </p:sldMasterIdLst>
  <p:notesMasterIdLst>
    <p:notesMasterId xmlns:r="http://schemas.openxmlformats.org/officeDocument/2006/relationships" r:id="R5699f76801cf4f11"/>
  </p:notesMasterIdLst>
  <p:sldIdLst>
    <p:sldId xmlns:r="http://schemas.openxmlformats.org/officeDocument/2006/relationships" id="256" r:id="R87bbc5b2ab5342e8"/>
    <p:sldId xmlns:r="http://schemas.openxmlformats.org/officeDocument/2006/relationships" id="257" r:id="Rd07d9f3b14834850"/>
    <p:sldId xmlns:r="http://schemas.openxmlformats.org/officeDocument/2006/relationships" id="258" r:id="R7cdae220279f4a41"/>
    <p:sldId xmlns:r="http://schemas.openxmlformats.org/officeDocument/2006/relationships" id="259" r:id="R094d4d422b244c7c"/>
    <p:sldId xmlns:r="http://schemas.openxmlformats.org/officeDocument/2006/relationships" id="260" r:id="R663ef3f26cba42d4"/>
    <p:sldId xmlns:r="http://schemas.openxmlformats.org/officeDocument/2006/relationships" id="261" r:id="R8e603f4786b84a26"/>
    <p:sldId xmlns:r="http://schemas.openxmlformats.org/officeDocument/2006/relationships" id="262" r:id="R7c93582d6b4e465e"/>
    <p:sldId xmlns:r="http://schemas.openxmlformats.org/officeDocument/2006/relationships" id="263" r:id="Rd4d234a4b8514e0e"/>
    <p:sldId xmlns:r="http://schemas.openxmlformats.org/officeDocument/2006/relationships" id="264" r:id="R92714e119b4941bc"/>
    <p:sldId xmlns:r="http://schemas.openxmlformats.org/officeDocument/2006/relationships" id="265" r:id="Raa5c7b21e12b4c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91ab31fbfc4f8e" /><Relationship Type="http://schemas.openxmlformats.org/officeDocument/2006/relationships/slideMaster" Target="/ppt/slideMasters/slideMaster1.xml" Id="Rf5213f557411423d" /><Relationship Type="http://schemas.openxmlformats.org/officeDocument/2006/relationships/notesMaster" Target="/ppt/notesMasters/notesMaster1.xml" Id="R5699f76801cf4f11" /><Relationship Type="http://schemas.openxmlformats.org/officeDocument/2006/relationships/presProps" Target="/ppt/presProps.xml" Id="Rb588a1592b3447fa" /><Relationship Type="http://schemas.openxmlformats.org/officeDocument/2006/relationships/tableStyles" Target="/ppt/tableStyles.xml" Id="Rf0a16fef976547ac" /><Relationship Type="http://schemas.openxmlformats.org/officeDocument/2006/relationships/slide" Target="/ppt/slides/slide1.xml" Id="R87bbc5b2ab5342e8" /><Relationship Type="http://schemas.openxmlformats.org/officeDocument/2006/relationships/slide" Target="/ppt/slides/slide2.xml" Id="Rd07d9f3b14834850" /><Relationship Type="http://schemas.openxmlformats.org/officeDocument/2006/relationships/slide" Target="/ppt/slides/slide3.xml" Id="R7cdae220279f4a41" /><Relationship Type="http://schemas.openxmlformats.org/officeDocument/2006/relationships/slide" Target="/ppt/slides/slide4.xml" Id="R094d4d422b244c7c" /><Relationship Type="http://schemas.openxmlformats.org/officeDocument/2006/relationships/slide" Target="/ppt/slides/slide5.xml" Id="R663ef3f26cba42d4" /><Relationship Type="http://schemas.openxmlformats.org/officeDocument/2006/relationships/slide" Target="/ppt/slides/slide6.xml" Id="R8e603f4786b84a26" /><Relationship Type="http://schemas.openxmlformats.org/officeDocument/2006/relationships/slide" Target="/ppt/slides/slide7.xml" Id="R7c93582d6b4e465e" /><Relationship Type="http://schemas.openxmlformats.org/officeDocument/2006/relationships/slide" Target="/ppt/slides/slide8.xml" Id="Rd4d234a4b8514e0e" /><Relationship Type="http://schemas.openxmlformats.org/officeDocument/2006/relationships/slide" Target="/ppt/slides/slide9.xml" Id="R92714e119b4941bc" /><Relationship Type="http://schemas.openxmlformats.org/officeDocument/2006/relationships/slide" Target="/ppt/slides/slide10.xml" Id="Raa5c7b21e12b4c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72b581c26641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6ed0e3ac734848" /><Relationship Type="http://schemas.openxmlformats.org/officeDocument/2006/relationships/notesMaster" Target="/ppt/notesMasters/notesMaster1.xml" Id="R5d7b0bfb52bd48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9ecfc504e14c15" /><Relationship Type="http://schemas.openxmlformats.org/officeDocument/2006/relationships/notesMaster" Target="/ppt/notesMasters/notesMaster1.xml" Id="R78b7e6284d8c45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8e7bc166934ab6" /><Relationship Type="http://schemas.openxmlformats.org/officeDocument/2006/relationships/notesMaster" Target="/ppt/notesMasters/notesMaster1.xml" Id="R9455a714e4fd4f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88658ff3b643df" /><Relationship Type="http://schemas.openxmlformats.org/officeDocument/2006/relationships/notesMaster" Target="/ppt/notesMasters/notesMaster1.xml" Id="Rde116feecf3c46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24e854f78c41f7" /><Relationship Type="http://schemas.openxmlformats.org/officeDocument/2006/relationships/notesMaster" Target="/ppt/notesMasters/notesMaster1.xml" Id="R72c450b978b742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e832d3d0534ad5" /><Relationship Type="http://schemas.openxmlformats.org/officeDocument/2006/relationships/notesMaster" Target="/ppt/notesMasters/notesMaster1.xml" Id="R25a96c4a2bae41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64925ba3fb4723" /><Relationship Type="http://schemas.openxmlformats.org/officeDocument/2006/relationships/notesMaster" Target="/ppt/notesMasters/notesMaster1.xml" Id="R70ae2c401b9946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603746aaa7450e" /><Relationship Type="http://schemas.openxmlformats.org/officeDocument/2006/relationships/notesMaster" Target="/ppt/notesMasters/notesMaster1.xml" Id="R6d7529a327d840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e7179b10544829" /><Relationship Type="http://schemas.openxmlformats.org/officeDocument/2006/relationships/notesMaster" Target="/ppt/notesMasters/notesMaster1.xml" Id="R2732c4da19d443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381d5764c74b01" /><Relationship Type="http://schemas.openxmlformats.org/officeDocument/2006/relationships/notesMaster" Target="/ppt/notesMasters/notesMaster1.xml" Id="Rb4ca35c138b640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Ich stelle die Industrial Intelligence Platform vor. Das Projekt verbindet Data Engineering, Big-Data-Verarbeitung und Predictive Maintenance in einer durchgängigen Anwendung. Die Plattform erzeugt reproduzierbare Fabrikdaten, verarbeitet eine Million Sensormessungen mit Spark und macht Risiken über eine API zugänglich. Es ist ein vollständiges Ausbildungs- und Portfolioprojekt auf synthetischen Daten, kein freigegebenes Wartungssystem.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einem Werk liegen Informationen verteilt: Stammdaten und Aufträge sind relational, Sensordaten dokumentenorientiert, Wartungen kommen aus CSV, Störungen aus JSON und technische Abhängigkeiten bilden einen Graphen. Erst zusammen mit Alter, Last, Störungen, Wartung und Komponenten entsteht eine nachvollziehbare Entscheidungsgrundlage.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Lösung musste reproduzierbare Daten bis eine Million Messungen, echte Nutzung von drei Datenbanken, einen orchestrierten ETL-Pfad, drei MLlib-Aufgaben sowie belastbare Tests und Dokumentation liefern. Fehlerhafte Messungen werden mit einem fachlichen Grund quarantänisiert.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Airflow steuert zehn fachliche Tasks. Die Qualitätsstufe trennt gültige von fehlerhaften Zeilen. Spark erzeugt Tagesmerkmale mit SQL, Joins, Fenstern und Aggregationen. MLlib trainiert Modelle. PostgreSQL speichert Resultate und Neo4j hält technischen Kontext. FastAPI liest dagegen die erzeugten CSV- und JSON-Artefakte vom gemeinsamen Volume. Messreihen werden bewusst nicht als Graphknoten modelliert.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sichert strukturierte Fakten und Ergebnisse. MongoDB passt zu verschachtelten Sensordokumenten und Batch-Upserts. Neo4j beantwortet Beziehungsfragen. Im verifizierten Stand liegen 1.950 versionierte Prognosen in PostgreSQL, eine Million Sensordokumente in MongoDB sowie 50 Maschinen, 220 Komponenten und 400 Beziehungen in Neo4j. Die API liest diese Datenbanken derzeit nicht direkt.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DAG bildet den Ablauf in zehn Tasks ab. Große Daten werden nicht über XCom verschoben. Retries, Timeouts und ein Quality Gate sind konfiguriert. Im Full-DAG wurden 994.905 Messungen akzeptiert und 5.095 quarantänisiert. Der gesamte Lauf endete erfolgreich. Das Gate liegt derzeit nach der Persistenz und sollte für eine Produktionshärtung vor die Veröffentlichung verschoben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 nutzt DataFrames, Spark SQL, Joins und Window Functions. Die neuen Merkmale verwenden ausschließlich aktuelle oder frühere Tage. Das Label stammt aus dem Folgetag. Je ein Purge-Tag verhindert, dass der eintägige Target-Horizont über eine Split-Grenze reicht. Aus einer Million Eingaben entstanden 994.905 gültige Messungen und 4.950 Tagesfeatures.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neue Benchmark vergleicht Majority-Baseline, logistische Regression, Decision Tree, Random Forest und Gradient Boosted Trees. Die Auswahl nutzt nur Training und Validierung. Das finale logistische Modell erreicht auf 950 unabhängigen Testzeilen Macro-F1 0,534 statt 0,432 sowie Balanced Accuracy 0,537 statt 0,500. Die Confusion-Matrix enthält 41 richtig negative und 646 richtig positive Fälle. Recall für Klasse 0 bleibt mit 0,180 schwach.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zeige ich den gesunden Stack, den API-Healthcheck, dateibasiert ausgelieferte Prognosen und den Benchmark-Report. Die neue Modellversion enthält 950 Testprognosen und beide vorhergesagten Klassen. Dieselben Zeilen liegen zusätzlich versioniert in PostgreSQL. Der Full-Lauf hat außerdem eine Million MongoDB-Dokumente und 400 Neo4j-Beziehungen nachgewiesen.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Projekt erfüllt die lokale technische Zielsetzung und verbessert die Klassifikation messbar gegenüber der Majority-Baseline. Die Einschränkung bleibt sichtbar: Der synthetische Vibrationsgrenzwert dominiert das Label und die negative Klasse wird noch zu selten erkannt. Nächste Schritte sind echte Historien, fachlich validierte Labels, ein separat versionierter Generator mit Druckdaten sowie Kosten- und Drift-Monitoring.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af9db68fbf44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3cd9fc133143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48a19a60f044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79e4ae79fd4f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edb2ca45f947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833d7c50b144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60A08-59D2-4E9D-BC4C-580FADCEEE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97234F-D4F5-4BDA-B895-8BE562E2C9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E9205A-4B00-4FDF-B14D-31F3DF5F48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D8F3C7-2636-46EB-840E-AD44778A8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E2017E-58FC-41EC-8275-A028641675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E26556-6CB3-47B0-B68F-933BC3C019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98D322-2E0B-4556-B14B-37788ED7A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DDA4A6-9CA9-4982-B819-2256680966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00F6BC-BADD-4A16-8524-617315DCF1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BA4C59-53BA-4420-A109-00869D1218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0ddc0e1bf1494d" /><Relationship Type="http://schemas.openxmlformats.org/officeDocument/2006/relationships/slideLayout" Target="/ppt/slideLayouts/slideLayout1.xml" Id="Rc21fc435f9a44b87" /><Relationship Type="http://schemas.openxmlformats.org/officeDocument/2006/relationships/slideLayout" Target="/ppt/slideLayouts/slideLayout2.xml" Id="Ra6e235596c124a29" /><Relationship Type="http://schemas.openxmlformats.org/officeDocument/2006/relationships/slideLayout" Target="/ppt/slideLayouts/slideLayout3.xml" Id="R44f7f8f5055545b4" /><Relationship Type="http://schemas.openxmlformats.org/officeDocument/2006/relationships/slideLayout" Target="/ppt/slideLayouts/slideLayout4.xml" Id="Rae50c58270fe4b2f" /><Relationship Type="http://schemas.openxmlformats.org/officeDocument/2006/relationships/slideLayout" Target="/ppt/slideLayouts/slideLayout5.xml" Id="R7d516a96ed21456e" /><Relationship Type="http://schemas.openxmlformats.org/officeDocument/2006/relationships/slideLayout" Target="/ppt/slideLayouts/slideLayout6.xml" Id="R08063999c7b847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fc435f9a44b87"/>
    <p:sldLayoutId xmlns:r="http://schemas.openxmlformats.org/officeDocument/2006/relationships" id="2147483650" r:id="Ra6e235596c124a29"/>
    <p:sldLayoutId xmlns:r="http://schemas.openxmlformats.org/officeDocument/2006/relationships" id="2147483651" r:id="R44f7f8f5055545b4"/>
    <p:sldLayoutId xmlns:r="http://schemas.openxmlformats.org/officeDocument/2006/relationships" id="2147483652" r:id="Rae50c58270fe4b2f"/>
    <p:sldLayoutId xmlns:r="http://schemas.openxmlformats.org/officeDocument/2006/relationships" id="2147483653" r:id="R7d516a96ed21456e"/>
    <p:sldLayoutId xmlns:r="http://schemas.openxmlformats.org/officeDocument/2006/relationships" id="2147483654" r:id="R08063999c7b847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fe5df6ce7d4afa" /><Relationship Type="http://schemas.openxmlformats.org/officeDocument/2006/relationships/notesSlide" Target="/ppt/notesSlides/notesSlide1.xml" Id="R387551bce5784c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4167496a3b4a69" /><Relationship Type="http://schemas.openxmlformats.org/officeDocument/2006/relationships/notesSlide" Target="/ppt/notesSlides/notesSlide2.xml" Id="R0512427f69994d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ac471bf1f54a9e" /><Relationship Type="http://schemas.openxmlformats.org/officeDocument/2006/relationships/notesSlide" Target="/ppt/notesSlides/notesSlide3.xml" Id="Rc3ebe7426b4e40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15f40f6dba4737" /><Relationship Type="http://schemas.openxmlformats.org/officeDocument/2006/relationships/notesSlide" Target="/ppt/notesSlides/notesSlide4.xml" Id="Rec385d3d7ab348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6655fe88d54494" /><Relationship Type="http://schemas.openxmlformats.org/officeDocument/2006/relationships/notesSlide" Target="/ppt/notesSlides/notesSlide5.xml" Id="R88011e4dbd3647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5f494d6dad468a" /><Relationship Type="http://schemas.openxmlformats.org/officeDocument/2006/relationships/notesSlide" Target="/ppt/notesSlides/notesSlide6.xml" Id="R4bf37f3de7d14c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949491639544e2" /><Relationship Type="http://schemas.openxmlformats.org/officeDocument/2006/relationships/notesSlide" Target="/ppt/notesSlides/notesSlide7.xml" Id="Rbf175302405a42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ca268535254bc4" /><Relationship Type="http://schemas.openxmlformats.org/officeDocument/2006/relationships/chart" Target="/ppt/slides/charts/chart1.xml" Id="Rb0c20d5f96504f1b" /><Relationship Type="http://schemas.openxmlformats.org/officeDocument/2006/relationships/notesSlide" Target="/ppt/notesSlides/notesSlide8.xml" Id="Ra9e0faddb21f42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acabdc08cd4631" /><Relationship Type="http://schemas.openxmlformats.org/officeDocument/2006/relationships/notesSlide" Target="/ppt/notesSlides/notesSlide9.xml" Id="R9221fce9226c4d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276e37c1a84b05" /><Relationship Type="http://schemas.openxmlformats.org/officeDocument/2006/relationships/notesSlide" Target="/ppt/notesSlides/notesSlide10.xml" Id="R396d76b2bba043c4" /></Relationships>
</file>

<file path=ppt/slides/charts/chart1.xml><?xml version="1.0" encoding="utf-8"?>
<c:chartSpace xmlns:c="http://schemas.openxmlformats.org/drawingml/2006/chart">
  <c:lang val="en-US"/>
  <c:chart>
    <c:plotArea>
      <c:barChart>
        <c:barDir val="bar"/>
        <c:grouping val="clustered"/>
        <c:varyColors val="0"/>
        <c:ser>
          <c:idx val="0"/>
          <c:order val="0"/>
          <c:tx>
            <c:v>RMSE °C</c:v>
          </c:tx>
          <c:spPr>
            <a:solidFill xmlns:a="http://schemas.openxmlformats.org/drawingml/2006/main">
              <a:srgbClr val="1B7F8C"/>
            </a:solidFill>
          </c:spPr>
          <c:invertIfNegative val="0"/>
          <c:cat>
            <c:strLit>
              <c:ptCount val="2"/>
              <c:pt idx="0">
                <c:v>Lineare Regression</c:v>
              </c:pt>
              <c:pt idx="1">
                <c:v>Mittelwert-Baseline</c:v>
              </c:pt>
            </c:strLit>
          </c:cat>
          <c:val>
            <c:numLit>
              <c:formatCode>General</c:formatCode>
              <c:ptCount val="2"/>
              <c:pt idx="0">
                <c:v>0.521</c:v>
              </c:pt>
              <c:pt idx="1">
                <c:v>3.536</c:v>
              </c:pt>
            </c:numLit>
          </c:val>
        </c:ser>
        <c:dLbls>
          <c:numFmt formatCode="0.000" sourceLinked="0"/>
          <c:txPr>
            <a:bodyPr xmlns:a="http://schemas.openxmlformats.org/drawingml/2006/main" anchorCtr="1"/>
            <a:lstStyle xmlns:a="http://schemas.openxmlformats.org/drawingml/2006/main"/>
            <a:p xmlns:a="http://schemas.openxmlformats.org/drawingml/2006/main">
              <a:pPr>
                <a:defRPr sz="975" b="1">
                  <a:solidFill>
                    <a:srgbClr val="10223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36675"/>
                    </a:solidFill>
                  </a:rPr>
                  <a:t>RMSE in °C</a:t>
                </a:r>
              </a:p>
            </c:rich>
          </c:tx>
          <c:overlay val="0"/>
          <c:txPr>
            <a:bodyPr xmlns:a="http://schemas.openxmlformats.org/drawingml/2006/main" anchorCtr="1"/>
            <a:lstStyle xmlns:a="http://schemas.openxmlformats.org/drawingml/2006/main"/>
            <a:p xmlns:a="http://schemas.openxmlformats.org/drawingml/2006/main">
              <a:pPr>
                <a:defRPr sz="900">
                  <a:solidFill>
                    <a:srgbClr val="53667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675"/>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E5E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102230"/>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6564618-6397-4774-9F2E-3CCFF15D16B7}"/>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1D426330-63EB-48C7-BBD9-EA56067BFC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82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54F08E-C3E3-4084-8E02-52D98AD251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75D455-FD5F-490F-B371-D97AEB4B617D}"/>
              </a:ext>
            </a:extLst>
          </p:cNvPr>
          <p:cNvSpPr>
            <a:spLocks xmlns:a="http://schemas.openxmlformats.org/drawingml/2006/main" noGrp="1"/>
          </p:cNvSpPr>
          <p:nvPr/>
        </p:nvSpPr>
        <p:spPr>
          <a:xfrm xmlns:a="http://schemas.openxmlformats.org/drawingml/2006/main">
            <a:off x="781050" y="723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050" b="1">
                <a:solidFill>
                  <a:srgbClr val="F4A261"/>
                </a:solidFill>
                <a:latin typeface="Arial"/>
                <a:ea typeface="Arial"/>
                <a:cs typeface="Arial"/>
              </a:defRPr>
            </a:defPPr>
          </a:lstStyle>
          <a:p xmlns:a="http://schemas.openxmlformats.org/drawingml/2006/main">
            <a:pPr algn="l">
              <a:defRPr sz="1050" b="1">
                <a:solidFill>
                  <a:srgbClr val="F4A261"/>
                </a:solidFill>
                <a:latin typeface="Arial"/>
                <a:ea typeface="Arial"/>
                <a:cs typeface="Arial"/>
              </a:defRPr>
            </a:pPr>
            <a:r>
              <a:rPr sz="1050" b="1">
                <a:solidFill>
                  <a:srgbClr val="F4A261"/>
                </a:solidFill>
                <a:latin typeface="Arial"/>
                <a:ea typeface="Arial"/>
                <a:cs typeface="Arial"/>
              </a:rPr>
              <a:t>INDUSTRIAL DATA ENGINEERING · PREDICTIVE MAINTENANCE</a:t>
            </a:r>
          </a:p>
        </p:txBody>
      </p:sp>
      <p:sp>
        <p:nvSpPr>
          <p:cNvPr id="5" name="">
            <a:extLst xmlns:a="http://schemas.openxmlformats.org/drawingml/2006/main">
              <a:ext uri="{FF2B5EF4-FFF2-40B4-BE49-F238E27FC236}">
                <a16:creationId xmlns:a16="http://schemas.microsoft.com/office/drawing/2014/main" id="{65D954B1-EFF4-4473-8F5D-B9C3EED8126B}"/>
              </a:ext>
            </a:extLst>
          </p:cNvPr>
          <p:cNvSpPr>
            <a:spLocks xmlns:a="http://schemas.openxmlformats.org/drawingml/2006/main" noGrp="1"/>
          </p:cNvSpPr>
          <p:nvPr/>
        </p:nvSpPr>
        <p:spPr>
          <a:xfrm xmlns:a="http://schemas.openxmlformats.org/drawingml/2006/main">
            <a:off x="781050" y="1409700"/>
            <a:ext cx="6572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4275" b="1">
                <a:solidFill>
                  <a:srgbClr val="FFFFFF"/>
                </a:solidFill>
                <a:latin typeface="Arial"/>
                <a:ea typeface="Arial"/>
                <a:cs typeface="Arial"/>
              </a:defRPr>
            </a:defPPr>
          </a:lstStyle>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Industrial</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Intelligence</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Platform</a:t>
            </a:r>
          </a:p>
        </p:txBody>
      </p:sp>
      <p:sp>
        <p:nvSpPr>
          <p:cNvPr id="6" name="">
            <a:extLst xmlns:a="http://schemas.openxmlformats.org/drawingml/2006/main">
              <a:ext uri="{FF2B5EF4-FFF2-40B4-BE49-F238E27FC236}">
                <a16:creationId xmlns:a16="http://schemas.microsoft.com/office/drawing/2014/main" id="{0CCFB32D-0998-4723-8EB4-62AF2AD83EEA}"/>
              </a:ext>
            </a:extLst>
          </p:cNvPr>
          <p:cNvSpPr>
            <a:spLocks xmlns:a="http://schemas.openxmlformats.org/drawingml/2006/main" noGrp="1"/>
          </p:cNvSpPr>
          <p:nvPr/>
        </p:nvSpPr>
        <p:spPr>
          <a:xfrm xmlns:a="http://schemas.openxmlformats.org/drawingml/2006/main">
            <a:off x="819150" y="39052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800" b="0">
                <a:solidFill>
                  <a:srgbClr val="C7D4DA"/>
                </a:solidFill>
                <a:latin typeface="Arial"/>
                <a:ea typeface="Arial"/>
                <a:cs typeface="Arial"/>
              </a:defRPr>
            </a:defPPr>
          </a:lstStyle>
          <a:p xmlns:a="http://schemas.openxmlformats.org/drawingml/2006/main">
            <a:pPr algn="l">
              <a:defRPr sz="1800" b="0">
                <a:solidFill>
                  <a:srgbClr val="C7D4DA"/>
                </a:solidFill>
                <a:latin typeface="Arial"/>
                <a:ea typeface="Arial"/>
                <a:cs typeface="Arial"/>
              </a:defRPr>
            </a:pPr>
            <a:r>
              <a:rPr sz="1800" b="0">
                <a:solidFill>
                  <a:srgbClr val="C7D4DA"/>
                </a:solidFill>
                <a:latin typeface="Arial"/>
                <a:ea typeface="Arial"/>
                <a:cs typeface="Arial"/>
              </a:rPr>
              <a:t>Von heterogenen Fabrikdaten zur nachvollziehbaren Wartungspriorität</a:t>
            </a:r>
          </a:p>
        </p:txBody>
      </p:sp>
      <p:sp>
        <p:nvSpPr>
          <p:cNvPr id="7" name="">
            <a:extLst xmlns:a="http://schemas.openxmlformats.org/drawingml/2006/main">
              <a:ext uri="{FF2B5EF4-FFF2-40B4-BE49-F238E27FC236}">
                <a16:creationId xmlns:a16="http://schemas.microsoft.com/office/drawing/2014/main" id="{DA9368CC-EFC4-44D0-9F02-C9C308E8BEFB}"/>
              </a:ext>
            </a:extLst>
          </p:cNvPr>
          <p:cNvSpPr>
            <a:spLocks xmlns:a="http://schemas.openxmlformats.org/drawingml/2006/main" noGrp="1"/>
          </p:cNvSpPr>
          <p:nvPr/>
        </p:nvSpPr>
        <p:spPr>
          <a:xfrm xmlns:a="http://schemas.openxmlformats.org/drawingml/2006/main">
            <a:off x="7924800" y="1028700"/>
            <a:ext cx="2990850" cy="3981450"/>
          </a:xfrm>
          <a:prstGeom xmlns:a="http://schemas.openxmlformats.org/drawingml/2006/main" prst="roundRect">
            <a:avLst>
              <a:gd name="adj" fmla="val 3822"/>
            </a:avLst>
          </a:prstGeom>
          <a:solidFill xmlns:a="http://schemas.openxmlformats.org/drawingml/2006/main">
            <a:srgbClr val="102B38"/>
          </a:solidFill>
          <a:ln xmlns:a="http://schemas.openxmlformats.org/drawingml/2006/main" w="9525">
            <a:solidFill>
              <a:srgbClr val="31505D"/>
            </a:solidFill>
            <a:prstDash val="solid"/>
          </a:ln>
        </p:spPr>
      </p:sp>
      <p:sp>
        <p:nvSpPr>
          <p:cNvPr id="8" name="">
            <a:extLst xmlns:a="http://schemas.openxmlformats.org/drawingml/2006/main">
              <a:ext uri="{FF2B5EF4-FFF2-40B4-BE49-F238E27FC236}">
                <a16:creationId xmlns:a16="http://schemas.microsoft.com/office/drawing/2014/main" id="{398D9476-505A-4E1B-9B1E-ADFBEA6093C8}"/>
              </a:ext>
            </a:extLst>
          </p:cNvPr>
          <p:cNvSpPr>
            <a:spLocks xmlns:a="http://schemas.openxmlformats.org/drawingml/2006/main" noGrp="1"/>
          </p:cNvSpPr>
          <p:nvPr/>
        </p:nvSpPr>
        <p:spPr>
          <a:xfrm xmlns:a="http://schemas.openxmlformats.org/drawingml/2006/main">
            <a:off x="8334375" y="1524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000" b="1">
                <a:solidFill>
                  <a:srgbClr val="FFFFFF"/>
                </a:solidFill>
                <a:latin typeface="Arial"/>
                <a:ea typeface="Arial"/>
                <a:cs typeface="Arial"/>
              </a:defRPr>
            </a:defPPr>
          </a:lstStyle>
          <a:p xmlns:a="http://schemas.openxmlformats.org/drawingml/2006/main">
            <a:pPr algn="ctr">
              <a:defRPr sz="3000" b="1">
                <a:solidFill>
                  <a:srgbClr val="FFFFFF"/>
                </a:solidFill>
                <a:latin typeface="Arial"/>
                <a:ea typeface="Arial"/>
                <a:cs typeface="Arial"/>
              </a:defRPr>
            </a:pPr>
            <a:r>
              <a:rPr sz="3000" b="1">
                <a:solidFill>
                  <a:srgbClr val="FFFFFF"/>
                </a:solidFill>
                <a:latin typeface="Arial"/>
                <a:ea typeface="Arial"/>
                <a:cs typeface="Arial"/>
              </a:rPr>
              <a:t>1.000.000</a:t>
            </a:r>
          </a:p>
        </p:txBody>
      </p:sp>
      <p:sp>
        <p:nvSpPr>
          <p:cNvPr id="9" name="">
            <a:extLst xmlns:a="http://schemas.openxmlformats.org/drawingml/2006/main">
              <a:ext uri="{FF2B5EF4-FFF2-40B4-BE49-F238E27FC236}">
                <a16:creationId xmlns:a16="http://schemas.microsoft.com/office/drawing/2014/main" id="{D75D7BB4-427A-4865-B143-F2FAD1E71059}"/>
              </a:ext>
            </a:extLst>
          </p:cNvPr>
          <p:cNvSpPr>
            <a:spLocks xmlns:a="http://schemas.openxmlformats.org/drawingml/2006/main" noGrp="1"/>
          </p:cNvSpPr>
          <p:nvPr/>
        </p:nvSpPr>
        <p:spPr>
          <a:xfrm xmlns:a="http://schemas.openxmlformats.org/drawingml/2006/main">
            <a:off x="8334375"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ctr">
              <a:defRPr sz="1275" b="0">
                <a:solidFill>
                  <a:srgbClr val="B8C8D0"/>
                </a:solidFill>
                <a:latin typeface="Arial"/>
                <a:ea typeface="Arial"/>
                <a:cs typeface="Arial"/>
              </a:defRPr>
            </a:defPPr>
          </a:lstStyle>
          <a:p xmlns:a="http://schemas.openxmlformats.org/drawingml/2006/main">
            <a:pPr algn="ctr">
              <a:defRPr sz="1275" b="0">
                <a:solidFill>
                  <a:srgbClr val="B8C8D0"/>
                </a:solidFill>
                <a:latin typeface="Arial"/>
                <a:ea typeface="Arial"/>
                <a:cs typeface="Arial"/>
              </a:defRPr>
            </a:pPr>
            <a:r>
              <a:rPr sz="1275" b="0">
                <a:solidFill>
                  <a:srgbClr val="B8C8D0"/>
                </a:solidFill>
                <a:latin typeface="Arial"/>
                <a:ea typeface="Arial"/>
                <a:cs typeface="Arial"/>
              </a:rPr>
              <a:t>Sensormessungen</a:t>
            </a:r>
          </a:p>
        </p:txBody>
      </p:sp>
      <p:sp>
        <p:nvSpPr>
          <p:cNvPr id="10" name="">
            <a:extLst xmlns:a="http://schemas.openxmlformats.org/drawingml/2006/main">
              <a:ext uri="{FF2B5EF4-FFF2-40B4-BE49-F238E27FC236}">
                <a16:creationId xmlns:a16="http://schemas.microsoft.com/office/drawing/2014/main" id="{5AE61485-81C0-4B6A-943F-73089B799BB1}"/>
              </a:ext>
            </a:extLst>
          </p:cNvPr>
          <p:cNvSpPr>
            <a:spLocks xmlns:a="http://schemas.openxmlformats.org/drawingml/2006/main" noGrp="1"/>
          </p:cNvSpPr>
          <p:nvPr/>
        </p:nvSpPr>
        <p:spPr>
          <a:xfrm xmlns:a="http://schemas.openxmlformats.org/drawingml/2006/main">
            <a:off x="8401050" y="2762250"/>
            <a:ext cx="2057400" cy="190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3F4225-AE4B-405C-AF83-F53B5A4AF013}"/>
              </a:ext>
            </a:extLst>
          </p:cNvPr>
          <p:cNvSpPr>
            <a:spLocks xmlns:a="http://schemas.openxmlformats.org/drawingml/2006/main" noGrp="1"/>
          </p:cNvSpPr>
          <p:nvPr/>
        </p:nvSpPr>
        <p:spPr>
          <a:xfrm xmlns:a="http://schemas.openxmlformats.org/drawingml/2006/main">
            <a:off x="8286750" y="3067050"/>
            <a:ext cx="2286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PostgreSQL</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MongoDB</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Neo4j</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Airflow · Spark · MLlib</a:t>
            </a:r>
          </a:p>
        </p:txBody>
      </p:sp>
      <p:sp>
        <p:nvSpPr>
          <p:cNvPr id="12" name="">
            <a:extLst xmlns:a="http://schemas.openxmlformats.org/drawingml/2006/main">
              <a:ext uri="{FF2B5EF4-FFF2-40B4-BE49-F238E27FC236}">
                <a16:creationId xmlns:a16="http://schemas.microsoft.com/office/drawing/2014/main" id="{B6A66335-150B-4FFB-99A7-C30F5B8A62CF}"/>
              </a:ext>
            </a:extLst>
          </p:cNvPr>
          <p:cNvSpPr>
            <a:spLocks xmlns:a="http://schemas.openxmlformats.org/drawingml/2006/main" noGrp="1"/>
          </p:cNvSpPr>
          <p:nvPr/>
        </p:nvSpPr>
        <p:spPr>
          <a:xfrm xmlns:a="http://schemas.openxmlformats.org/drawingml/2006/main">
            <a:off x="8001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0">
                <a:solidFill>
                  <a:srgbClr val="92A7B2"/>
                </a:solidFill>
                <a:latin typeface="Arial"/>
                <a:ea typeface="Arial"/>
                <a:cs typeface="Arial"/>
              </a:defRPr>
            </a:defPPr>
          </a:lstStyle>
          <a:p xmlns:a="http://schemas.openxmlformats.org/drawingml/2006/main">
            <a:pPr algn="l">
              <a:defRPr sz="1125" b="0">
                <a:solidFill>
                  <a:srgbClr val="92A7B2"/>
                </a:solidFill>
                <a:latin typeface="Arial"/>
                <a:ea typeface="Arial"/>
                <a:cs typeface="Arial"/>
              </a:defRPr>
            </a:pPr>
            <a:r>
              <a:rPr sz="1125" b="0">
                <a:solidFill>
                  <a:srgbClr val="92A7B2"/>
                </a:solidFill>
                <a:latin typeface="Arial"/>
                <a:ea typeface="Arial"/>
                <a:cs typeface="Arial"/>
              </a:rPr>
              <a:t>AI Engineer Abschlussprojekt · 2026</a:t>
            </a:r>
          </a:p>
        </p:txBody>
      </p:sp>
    </p:spTree>
    <p:extLst>
      <p:ext uri="{BB962C8B-B14F-4D97-AF65-F5344CB8AC3E}">
        <p14:creationId xmlns:p14="http://schemas.microsoft.com/office/powerpoint/2010/main" val="1064474716"/>
      </p:ext>
    </p:extLst>
  </p:cSld>
</p:sld>
</file>

<file path=ppt/slides/slide2.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DC5C9B6-EB71-42F1-9E80-AFB9B7035269}"/>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INDUSTRIELLES PROBLEM</a:t>
            </a:r>
          </a:p>
        </p:txBody>
      </p:sp>
      <p:sp>
        <p:nvSpPr>
          <p:cNvPr id="2" name="">
            <a:extLst xmlns:a="http://schemas.openxmlformats.org/drawingml/2006/main">
              <a:ext uri="{FF2B5EF4-FFF2-40B4-BE49-F238E27FC236}">
                <a16:creationId xmlns:a16="http://schemas.microsoft.com/office/drawing/2014/main" id="{10B0F745-D2C4-497A-8E3D-E8362ACFE840}"/>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Verteilte Daten verhindern gemeinsame Entscheidungen</a:t>
            </a:r>
          </a:p>
        </p:txBody>
      </p:sp>
      <p:sp>
        <p:nvSpPr>
          <p:cNvPr id="3" name="">
            <a:extLst xmlns:a="http://schemas.openxmlformats.org/drawingml/2006/main">
              <a:ext uri="{FF2B5EF4-FFF2-40B4-BE49-F238E27FC236}">
                <a16:creationId xmlns:a16="http://schemas.microsoft.com/office/drawing/2014/main" id="{F53D1C4F-D459-4D1E-9AA4-D063CB0D5CA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B0AC3E8-15D2-4061-9A08-35ADCA2D91B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DAED092-2252-4E71-9E12-C358577AA38A}"/>
              </a:ext>
            </a:extLst>
          </p:cNvPr>
          <p:cNvSpPr>
            <a:spLocks xmlns:a="http://schemas.openxmlformats.org/drawingml/2006/main" noGrp="1"/>
          </p:cNvSpPr>
          <p:nvPr/>
        </p:nvSpPr>
        <p:spPr>
          <a:xfrm xmlns:a="http://schemas.openxmlformats.org/drawingml/2006/main">
            <a:off x="723900" y="158115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CB5CEABF-1EF2-4227-AB9C-D9C5E0DC80A2}"/>
              </a:ext>
            </a:extLst>
          </p:cNvPr>
          <p:cNvSpPr>
            <a:spLocks xmlns:a="http://schemas.openxmlformats.org/drawingml/2006/main" noGrp="1"/>
          </p:cNvSpPr>
          <p:nvPr/>
        </p:nvSpPr>
        <p:spPr>
          <a:xfrm xmlns:a="http://schemas.openxmlformats.org/drawingml/2006/main">
            <a:off x="9525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Stammdaten &amp; Aufträge</a:t>
            </a:r>
          </a:p>
        </p:txBody>
      </p:sp>
      <p:sp>
        <p:nvSpPr>
          <p:cNvPr id="7" name="">
            <a:extLst xmlns:a="http://schemas.openxmlformats.org/drawingml/2006/main">
              <a:ext uri="{FF2B5EF4-FFF2-40B4-BE49-F238E27FC236}">
                <a16:creationId xmlns:a16="http://schemas.microsoft.com/office/drawing/2014/main" id="{61580672-57F9-42BA-B11B-38141B94B743}"/>
              </a:ext>
            </a:extLst>
          </p:cNvPr>
          <p:cNvSpPr>
            <a:spLocks xmlns:a="http://schemas.openxmlformats.org/drawingml/2006/main" noGrp="1"/>
          </p:cNvSpPr>
          <p:nvPr/>
        </p:nvSpPr>
        <p:spPr>
          <a:xfrm xmlns:a="http://schemas.openxmlformats.org/drawingml/2006/main">
            <a:off x="952500" y="2009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relational</a:t>
            </a:r>
          </a:p>
        </p:txBody>
      </p:sp>
      <p:sp>
        <p:nvSpPr>
          <p:cNvPr id="8" name="">
            <a:extLst xmlns:a="http://schemas.openxmlformats.org/drawingml/2006/main">
              <a:ext uri="{FF2B5EF4-FFF2-40B4-BE49-F238E27FC236}">
                <a16:creationId xmlns:a16="http://schemas.microsoft.com/office/drawing/2014/main" id="{F1F60B80-91E3-41C7-A262-CA98E5DBDC42}"/>
              </a:ext>
            </a:extLst>
          </p:cNvPr>
          <p:cNvSpPr>
            <a:spLocks xmlns:a="http://schemas.openxmlformats.org/drawingml/2006/main" noGrp="1"/>
          </p:cNvSpPr>
          <p:nvPr/>
        </p:nvSpPr>
        <p:spPr>
          <a:xfrm xmlns:a="http://schemas.openxmlformats.org/drawingml/2006/main">
            <a:off x="723900" y="258127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9" name="">
            <a:extLst xmlns:a="http://schemas.openxmlformats.org/drawingml/2006/main">
              <a:ext uri="{FF2B5EF4-FFF2-40B4-BE49-F238E27FC236}">
                <a16:creationId xmlns:a16="http://schemas.microsoft.com/office/drawing/2014/main" id="{AA6A14DD-14EE-4BF6-B12F-0ECA1DEA39CC}"/>
              </a:ext>
            </a:extLst>
          </p:cNvPr>
          <p:cNvSpPr>
            <a:spLocks xmlns:a="http://schemas.openxmlformats.org/drawingml/2006/main" noGrp="1"/>
          </p:cNvSpPr>
          <p:nvPr/>
        </p:nvSpPr>
        <p:spPr>
          <a:xfrm xmlns:a="http://schemas.openxmlformats.org/drawingml/2006/main">
            <a:off x="952500" y="27146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Sensorströme</a:t>
            </a:r>
          </a:p>
        </p:txBody>
      </p:sp>
      <p:sp>
        <p:nvSpPr>
          <p:cNvPr id="10" name="">
            <a:extLst xmlns:a="http://schemas.openxmlformats.org/drawingml/2006/main">
              <a:ext uri="{FF2B5EF4-FFF2-40B4-BE49-F238E27FC236}">
                <a16:creationId xmlns:a16="http://schemas.microsoft.com/office/drawing/2014/main" id="{3912275B-1A5E-443E-9502-2B052058A38F}"/>
              </a:ext>
            </a:extLst>
          </p:cNvPr>
          <p:cNvSpPr>
            <a:spLocks xmlns:a="http://schemas.openxmlformats.org/drawingml/2006/main" noGrp="1"/>
          </p:cNvSpPr>
          <p:nvPr/>
        </p:nvSpPr>
        <p:spPr>
          <a:xfrm xmlns:a="http://schemas.openxmlformats.org/drawingml/2006/main">
            <a:off x="952500" y="30099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verschachtelt</a:t>
            </a:r>
          </a:p>
        </p:txBody>
      </p:sp>
      <p:sp>
        <p:nvSpPr>
          <p:cNvPr id="11" name="">
            <a:extLst xmlns:a="http://schemas.openxmlformats.org/drawingml/2006/main">
              <a:ext uri="{FF2B5EF4-FFF2-40B4-BE49-F238E27FC236}">
                <a16:creationId xmlns:a16="http://schemas.microsoft.com/office/drawing/2014/main" id="{F184B00C-97BD-4224-86E9-2F55395286E7}"/>
              </a:ext>
            </a:extLst>
          </p:cNvPr>
          <p:cNvSpPr>
            <a:spLocks xmlns:a="http://schemas.openxmlformats.org/drawingml/2006/main" noGrp="1"/>
          </p:cNvSpPr>
          <p:nvPr/>
        </p:nvSpPr>
        <p:spPr>
          <a:xfrm xmlns:a="http://schemas.openxmlformats.org/drawingml/2006/main">
            <a:off x="723900" y="358140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DF52DB8D-2A2A-4072-851F-6ED484C03542}"/>
              </a:ext>
            </a:extLst>
          </p:cNvPr>
          <p:cNvSpPr>
            <a:spLocks xmlns:a="http://schemas.openxmlformats.org/drawingml/2006/main" noGrp="1"/>
          </p:cNvSpPr>
          <p:nvPr/>
        </p:nvSpPr>
        <p:spPr>
          <a:xfrm xmlns:a="http://schemas.openxmlformats.org/drawingml/2006/main">
            <a:off x="952500" y="3714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Wartung &amp; Störung</a:t>
            </a:r>
          </a:p>
        </p:txBody>
      </p:sp>
      <p:sp>
        <p:nvSpPr>
          <p:cNvPr id="13" name="">
            <a:extLst xmlns:a="http://schemas.openxmlformats.org/drawingml/2006/main">
              <a:ext uri="{FF2B5EF4-FFF2-40B4-BE49-F238E27FC236}">
                <a16:creationId xmlns:a16="http://schemas.microsoft.com/office/drawing/2014/main" id="{F96759AE-5E92-4FC1-9CF0-64279E157C8B}"/>
              </a:ext>
            </a:extLst>
          </p:cNvPr>
          <p:cNvSpPr>
            <a:spLocks xmlns:a="http://schemas.openxmlformats.org/drawingml/2006/main" noGrp="1"/>
          </p:cNvSpPr>
          <p:nvPr/>
        </p:nvSpPr>
        <p:spPr>
          <a:xfrm xmlns:a="http://schemas.openxmlformats.org/drawingml/2006/main">
            <a:off x="952500" y="40100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CSV / JSON</a:t>
            </a:r>
          </a:p>
        </p:txBody>
      </p:sp>
      <p:sp>
        <p:nvSpPr>
          <p:cNvPr id="14" name="">
            <a:extLst xmlns:a="http://schemas.openxmlformats.org/drawingml/2006/main">
              <a:ext uri="{FF2B5EF4-FFF2-40B4-BE49-F238E27FC236}">
                <a16:creationId xmlns:a16="http://schemas.microsoft.com/office/drawing/2014/main" id="{70322DBE-6166-40DE-96B9-17F133710EE4}"/>
              </a:ext>
            </a:extLst>
          </p:cNvPr>
          <p:cNvSpPr>
            <a:spLocks xmlns:a="http://schemas.openxmlformats.org/drawingml/2006/main" noGrp="1"/>
          </p:cNvSpPr>
          <p:nvPr/>
        </p:nvSpPr>
        <p:spPr>
          <a:xfrm xmlns:a="http://schemas.openxmlformats.org/drawingml/2006/main">
            <a:off x="723900" y="458152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5" name="">
            <a:extLst xmlns:a="http://schemas.openxmlformats.org/drawingml/2006/main">
              <a:ext uri="{FF2B5EF4-FFF2-40B4-BE49-F238E27FC236}">
                <a16:creationId xmlns:a16="http://schemas.microsoft.com/office/drawing/2014/main" id="{4C7293E5-1F0B-4FB6-894C-2CC39D0EC3DB}"/>
              </a:ext>
            </a:extLst>
          </p:cNvPr>
          <p:cNvSpPr>
            <a:spLocks xmlns:a="http://schemas.openxmlformats.org/drawingml/2006/main" noGrp="1"/>
          </p:cNvSpPr>
          <p:nvPr/>
        </p:nvSpPr>
        <p:spPr>
          <a:xfrm xmlns:a="http://schemas.openxmlformats.org/drawingml/2006/main">
            <a:off x="952500" y="4714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Anlagenstruktur</a:t>
            </a:r>
          </a:p>
        </p:txBody>
      </p:sp>
      <p:sp>
        <p:nvSpPr>
          <p:cNvPr id="16" name="">
            <a:extLst xmlns:a="http://schemas.openxmlformats.org/drawingml/2006/main">
              <a:ext uri="{FF2B5EF4-FFF2-40B4-BE49-F238E27FC236}">
                <a16:creationId xmlns:a16="http://schemas.microsoft.com/office/drawing/2014/main" id="{6DDD5FD9-63DF-4E95-8F13-BE90BC041A0D}"/>
              </a:ext>
            </a:extLst>
          </p:cNvPr>
          <p:cNvSpPr>
            <a:spLocks xmlns:a="http://schemas.openxmlformats.org/drawingml/2006/main" noGrp="1"/>
          </p:cNvSpPr>
          <p:nvPr/>
        </p:nvSpPr>
        <p:spPr>
          <a:xfrm xmlns:a="http://schemas.openxmlformats.org/drawingml/2006/main">
            <a:off x="952500" y="50101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Graph</a:t>
            </a:r>
          </a:p>
        </p:txBody>
      </p:sp>
      <p:sp>
        <p:nvSpPr>
          <p:cNvPr id="17" name="">
            <a:extLst xmlns:a="http://schemas.openxmlformats.org/drawingml/2006/main">
              <a:ext uri="{FF2B5EF4-FFF2-40B4-BE49-F238E27FC236}">
                <a16:creationId xmlns:a16="http://schemas.microsoft.com/office/drawing/2014/main" id="{5CFE3ACC-FE66-4F00-AC30-CF041AB10FFB}"/>
              </a:ext>
            </a:extLst>
          </p:cNvPr>
          <p:cNvSpPr>
            <a:spLocks xmlns:a="http://schemas.openxmlformats.org/drawingml/2006/main" noGrp="1"/>
          </p:cNvSpPr>
          <p:nvPr/>
        </p:nvSpPr>
        <p:spPr>
          <a:xfrm xmlns:a="http://schemas.openxmlformats.org/drawingml/2006/main">
            <a:off x="4191000" y="3095625"/>
            <a:ext cx="7429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8" name="">
            <a:extLst xmlns:a="http://schemas.openxmlformats.org/drawingml/2006/main">
              <a:ext uri="{FF2B5EF4-FFF2-40B4-BE49-F238E27FC236}">
                <a16:creationId xmlns:a16="http://schemas.microsoft.com/office/drawing/2014/main" id="{B92AD9FB-6805-4E25-8B78-CE5515EE8EFF}"/>
              </a:ext>
            </a:extLst>
          </p:cNvPr>
          <p:cNvSpPr>
            <a:spLocks xmlns:a="http://schemas.openxmlformats.org/drawingml/2006/main" noGrp="1"/>
          </p:cNvSpPr>
          <p:nvPr/>
        </p:nvSpPr>
        <p:spPr>
          <a:xfrm xmlns:a="http://schemas.openxmlformats.org/drawingml/2006/main">
            <a:off x="5219700" y="1771650"/>
            <a:ext cx="5810250" cy="3143250"/>
          </a:xfrm>
          <a:prstGeom xmlns:a="http://schemas.openxmlformats.org/drawingml/2006/main" prst="roundRect">
            <a:avLst>
              <a:gd name="adj" fmla="val 3636"/>
            </a:avLst>
          </a:prstGeom>
          <a:solidFill xmlns:a="http://schemas.openxmlformats.org/drawingml/2006/main">
            <a:srgbClr val="0A1822"/>
          </a:solidFill>
          <a:ln xmlns:a="http://schemas.openxmlformats.org/drawingml/2006/main" w="9525">
            <a:solidFill>
              <a:srgbClr val="0A1822"/>
            </a:solidFill>
            <a:prstDash val="solid"/>
          </a:ln>
        </p:spPr>
      </p:sp>
      <p:sp>
        <p:nvSpPr>
          <p:cNvPr id="19" name="">
            <a:extLst xmlns:a="http://schemas.openxmlformats.org/drawingml/2006/main">
              <a:ext uri="{FF2B5EF4-FFF2-40B4-BE49-F238E27FC236}">
                <a16:creationId xmlns:a16="http://schemas.microsoft.com/office/drawing/2014/main" id="{D8602C70-D0F7-4234-AB1D-4BF8C3715343}"/>
              </a:ext>
            </a:extLst>
          </p:cNvPr>
          <p:cNvSpPr>
            <a:spLocks xmlns:a="http://schemas.openxmlformats.org/drawingml/2006/main" noGrp="1"/>
          </p:cNvSpPr>
          <p:nvPr/>
        </p:nvSpPr>
        <p:spPr>
          <a:xfrm xmlns:a="http://schemas.openxmlformats.org/drawingml/2006/main">
            <a:off x="5600700" y="21526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Ohne gemeinsamen Kontext</a:t>
            </a:r>
          </a:p>
        </p:txBody>
      </p:sp>
      <p:sp>
        <p:nvSpPr>
          <p:cNvPr id="20" name="">
            <a:extLst xmlns:a="http://schemas.openxmlformats.org/drawingml/2006/main">
              <a:ext uri="{FF2B5EF4-FFF2-40B4-BE49-F238E27FC236}">
                <a16:creationId xmlns:a16="http://schemas.microsoft.com/office/drawing/2014/main" id="{C6E01E94-85B1-426A-BF40-D3BC37E44D2A}"/>
              </a:ext>
            </a:extLst>
          </p:cNvPr>
          <p:cNvSpPr>
            <a:spLocks xmlns:a="http://schemas.openxmlformats.org/drawingml/2006/main" noGrp="1"/>
          </p:cNvSpPr>
          <p:nvPr/>
        </p:nvSpPr>
        <p:spPr>
          <a:xfrm xmlns:a="http://schemas.openxmlformats.org/drawingml/2006/main">
            <a:off x="5638800" y="28003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650">
                <a:solidFill>
                  <a:srgbClr val="DCE7EB"/>
                </a:solidFill>
                <a:latin typeface="Arial"/>
                <a:ea typeface="Arial"/>
                <a:cs typeface="Arial"/>
              </a:defRPr>
            </a:defPPr>
          </a:lstStyle>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keine belastbare Wartungspriorität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auffällige Werte ohne Maschinenkontext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technische Abhängigkeiten bleiben unsichtbar</a:t>
            </a:r>
          </a:p>
        </p:txBody>
      </p:sp>
      <p:sp>
        <p:nvSpPr>
          <p:cNvPr id="21" name="">
            <a:extLst xmlns:a="http://schemas.openxmlformats.org/drawingml/2006/main">
              <a:ext uri="{FF2B5EF4-FFF2-40B4-BE49-F238E27FC236}">
                <a16:creationId xmlns:a16="http://schemas.microsoft.com/office/drawing/2014/main" id="{33C9E776-2012-40EE-A32C-7B3EDB2A244A}"/>
              </a:ext>
            </a:extLst>
          </p:cNvPr>
          <p:cNvSpPr>
            <a:spLocks xmlns:a="http://schemas.openxmlformats.org/drawingml/2006/main" noGrp="1"/>
          </p:cNvSpPr>
          <p:nvPr/>
        </p:nvSpPr>
        <p:spPr>
          <a:xfrm xmlns:a="http://schemas.openxmlformats.org/drawingml/2006/main">
            <a:off x="5257800" y="520065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897"/>
          </a:bodyPr>
          <a:lstStyle xmlns:a="http://schemas.openxmlformats.org/drawingml/2006/main">
            <a:defPPr algn="ctr">
              <a:defRPr sz="1500" b="1">
                <a:solidFill>
                  <a:srgbClr val="0F4C5C"/>
                </a:solidFill>
                <a:latin typeface="Arial"/>
                <a:ea typeface="Arial"/>
                <a:cs typeface="Arial"/>
              </a:defRPr>
            </a:defPPr>
          </a:lstStyle>
          <a:p xmlns:a="http://schemas.openxmlformats.org/drawingml/2006/main">
            <a:pPr algn="ctr">
              <a:defRPr sz="1500" b="1">
                <a:solidFill>
                  <a:srgbClr val="0F4C5C"/>
                </a:solidFill>
                <a:latin typeface="Arial"/>
                <a:ea typeface="Arial"/>
                <a:cs typeface="Arial"/>
              </a:defRPr>
            </a:pPr>
            <a:r>
              <a:rPr sz="1500" b="1">
                <a:solidFill>
                  <a:srgbClr val="0F4C5C"/>
                </a:solidFill>
                <a:latin typeface="Arial"/>
                <a:ea typeface="Arial"/>
                <a:cs typeface="Arial"/>
              </a:rPr>
              <a:t>Ziel: Signale + Historie + Struktur in einer Entscheidungskette</a:t>
            </a:r>
          </a:p>
        </p:txBody>
      </p:sp>
    </p:spTree>
    <p:extLst>
      <p:ext uri="{BB962C8B-B14F-4D97-AF65-F5344CB8AC3E}">
        <p14:creationId xmlns:p14="http://schemas.microsoft.com/office/powerpoint/2010/main" val="1351314141"/>
      </p:ext>
    </p:extLst>
  </p:cSld>
</p:sld>
</file>

<file path=ppt/slides/slide3.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9B11AF6-9DF9-4B1E-8BC5-5D30E85AECB3}"/>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ZIELE &amp; ANFORDERUNGEN</a:t>
            </a:r>
          </a:p>
        </p:txBody>
      </p:sp>
      <p:sp>
        <p:nvSpPr>
          <p:cNvPr id="2" name="">
            <a:extLst xmlns:a="http://schemas.openxmlformats.org/drawingml/2006/main">
              <a:ext uri="{FF2B5EF4-FFF2-40B4-BE49-F238E27FC236}">
                <a16:creationId xmlns:a16="http://schemas.microsoft.com/office/drawing/2014/main" id="{17BE313D-4474-4901-89F6-1440566D4B8F}"/>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Messbar, reproduzierbar, integrierbar</a:t>
            </a:r>
          </a:p>
        </p:txBody>
      </p:sp>
      <p:sp>
        <p:nvSpPr>
          <p:cNvPr id="3" name="">
            <a:extLst xmlns:a="http://schemas.openxmlformats.org/drawingml/2006/main">
              <a:ext uri="{FF2B5EF4-FFF2-40B4-BE49-F238E27FC236}">
                <a16:creationId xmlns:a16="http://schemas.microsoft.com/office/drawing/2014/main" id="{B710F27A-8BCE-46F5-80A1-800C438A024E}"/>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3AED35-5B3A-4F6E-94BD-B33D328E044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1418BD6-B1F5-4E48-8A6D-D80039E12A19}"/>
              </a:ext>
            </a:extLst>
          </p:cNvPr>
          <p:cNvSpPr>
            <a:spLocks xmlns:a="http://schemas.openxmlformats.org/drawingml/2006/main" noGrp="1"/>
          </p:cNvSpPr>
          <p:nvPr/>
        </p:nvSpPr>
        <p:spPr>
          <a:xfrm xmlns:a="http://schemas.openxmlformats.org/drawingml/2006/main">
            <a:off x="6667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3CD150CD-D4E2-4ABE-966A-03570A3E5669}"/>
              </a:ext>
            </a:extLst>
          </p:cNvPr>
          <p:cNvSpPr>
            <a:spLocks xmlns:a="http://schemas.openxmlformats.org/drawingml/2006/main" noGrp="1"/>
          </p:cNvSpPr>
          <p:nvPr/>
        </p:nvSpPr>
        <p:spPr>
          <a:xfrm xmlns:a="http://schemas.openxmlformats.org/drawingml/2006/main">
            <a:off x="8763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EC9308B-FAB9-475E-8FD3-31F5AAB23E6F}"/>
              </a:ext>
            </a:extLst>
          </p:cNvPr>
          <p:cNvSpPr>
            <a:spLocks xmlns:a="http://schemas.openxmlformats.org/drawingml/2006/main" noGrp="1"/>
          </p:cNvSpPr>
          <p:nvPr/>
        </p:nvSpPr>
        <p:spPr>
          <a:xfrm xmlns:a="http://schemas.openxmlformats.org/drawingml/2006/main">
            <a:off x="8763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Daten</a:t>
            </a:r>
          </a:p>
        </p:txBody>
      </p:sp>
      <p:sp>
        <p:nvSpPr>
          <p:cNvPr id="8" name="">
            <a:extLst xmlns:a="http://schemas.openxmlformats.org/drawingml/2006/main">
              <a:ext uri="{FF2B5EF4-FFF2-40B4-BE49-F238E27FC236}">
                <a16:creationId xmlns:a16="http://schemas.microsoft.com/office/drawing/2014/main" id="{D3BFDD55-8CBC-466B-9D72-50F060D53917}"/>
              </a:ext>
            </a:extLst>
          </p:cNvPr>
          <p:cNvSpPr>
            <a:spLocks xmlns:a="http://schemas.openxmlformats.org/drawingml/2006/main" noGrp="1"/>
          </p:cNvSpPr>
          <p:nvPr/>
        </p:nvSpPr>
        <p:spPr>
          <a:xfrm xmlns:a="http://schemas.openxmlformats.org/drawingml/2006/main">
            <a:off x="8763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24C614-1283-47D0-923E-8A6CCA7564CF}"/>
              </a:ext>
            </a:extLst>
          </p:cNvPr>
          <p:cNvSpPr>
            <a:spLocks xmlns:a="http://schemas.openxmlformats.org/drawingml/2006/main" noGrp="1"/>
          </p:cNvSpPr>
          <p:nvPr/>
        </p:nvSpPr>
        <p:spPr>
          <a:xfrm xmlns:a="http://schemas.openxmlformats.org/drawingml/2006/main">
            <a:off x="8763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1 Mio. Messungen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deterministisch erzeugen</a:t>
            </a:r>
          </a:p>
        </p:txBody>
      </p:sp>
      <p:sp>
        <p:nvSpPr>
          <p:cNvPr id="10" name="">
            <a:extLst xmlns:a="http://schemas.openxmlformats.org/drawingml/2006/main">
              <a:ext uri="{FF2B5EF4-FFF2-40B4-BE49-F238E27FC236}">
                <a16:creationId xmlns:a16="http://schemas.microsoft.com/office/drawing/2014/main" id="{0F766918-4DBA-42F3-BC96-0CB81784B68F}"/>
              </a:ext>
            </a:extLst>
          </p:cNvPr>
          <p:cNvSpPr>
            <a:spLocks xmlns:a="http://schemas.openxmlformats.org/drawingml/2006/main" noGrp="1"/>
          </p:cNvSpPr>
          <p:nvPr/>
        </p:nvSpPr>
        <p:spPr>
          <a:xfrm xmlns:a="http://schemas.openxmlformats.org/drawingml/2006/main">
            <a:off x="286702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1" name="">
            <a:extLst xmlns:a="http://schemas.openxmlformats.org/drawingml/2006/main">
              <a:ext uri="{FF2B5EF4-FFF2-40B4-BE49-F238E27FC236}">
                <a16:creationId xmlns:a16="http://schemas.microsoft.com/office/drawing/2014/main" id="{7D2151E5-8F32-429A-834F-CA4CB7D74342}"/>
              </a:ext>
            </a:extLst>
          </p:cNvPr>
          <p:cNvSpPr>
            <a:spLocks xmlns:a="http://schemas.openxmlformats.org/drawingml/2006/main" noGrp="1"/>
          </p:cNvSpPr>
          <p:nvPr/>
        </p:nvSpPr>
        <p:spPr>
          <a:xfrm xmlns:a="http://schemas.openxmlformats.org/drawingml/2006/main">
            <a:off x="307657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BD417DB-6D49-4E18-B8E5-277D3500FFA0}"/>
              </a:ext>
            </a:extLst>
          </p:cNvPr>
          <p:cNvSpPr>
            <a:spLocks xmlns:a="http://schemas.openxmlformats.org/drawingml/2006/main" noGrp="1"/>
          </p:cNvSpPr>
          <p:nvPr/>
        </p:nvSpPr>
        <p:spPr>
          <a:xfrm xmlns:a="http://schemas.openxmlformats.org/drawingml/2006/main">
            <a:off x="307657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Persistenz</a:t>
            </a:r>
          </a:p>
        </p:txBody>
      </p:sp>
      <p:sp>
        <p:nvSpPr>
          <p:cNvPr id="13" name="">
            <a:extLst xmlns:a="http://schemas.openxmlformats.org/drawingml/2006/main">
              <a:ext uri="{FF2B5EF4-FFF2-40B4-BE49-F238E27FC236}">
                <a16:creationId xmlns:a16="http://schemas.microsoft.com/office/drawing/2014/main" id="{B9E454D1-2794-4C02-AE9D-C9959FB5CC3E}"/>
              </a:ext>
            </a:extLst>
          </p:cNvPr>
          <p:cNvSpPr>
            <a:spLocks xmlns:a="http://schemas.openxmlformats.org/drawingml/2006/main" noGrp="1"/>
          </p:cNvSpPr>
          <p:nvPr/>
        </p:nvSpPr>
        <p:spPr>
          <a:xfrm xmlns:a="http://schemas.openxmlformats.org/drawingml/2006/main">
            <a:off x="307657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EEFC29-4CC1-438D-A3B6-EA280FE7D83E}"/>
              </a:ext>
            </a:extLst>
          </p:cNvPr>
          <p:cNvSpPr>
            <a:spLocks xmlns:a="http://schemas.openxmlformats.org/drawingml/2006/main" noGrp="1"/>
          </p:cNvSpPr>
          <p:nvPr/>
        </p:nvSpPr>
        <p:spPr>
          <a:xfrm xmlns:a="http://schemas.openxmlformats.org/drawingml/2006/main">
            <a:off x="307657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3 Datenbanken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fachlich einsetzen</a:t>
            </a:r>
          </a:p>
        </p:txBody>
      </p:sp>
      <p:sp>
        <p:nvSpPr>
          <p:cNvPr id="15" name="">
            <a:extLst xmlns:a="http://schemas.openxmlformats.org/drawingml/2006/main">
              <a:ext uri="{FF2B5EF4-FFF2-40B4-BE49-F238E27FC236}">
                <a16:creationId xmlns:a16="http://schemas.microsoft.com/office/drawing/2014/main" id="{DC5BF132-3F97-43C4-BDF9-0882AF373537}"/>
              </a:ext>
            </a:extLst>
          </p:cNvPr>
          <p:cNvSpPr>
            <a:spLocks xmlns:a="http://schemas.openxmlformats.org/drawingml/2006/main" noGrp="1"/>
          </p:cNvSpPr>
          <p:nvPr/>
        </p:nvSpPr>
        <p:spPr>
          <a:xfrm xmlns:a="http://schemas.openxmlformats.org/drawingml/2006/main">
            <a:off x="506730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6" name="">
            <a:extLst xmlns:a="http://schemas.openxmlformats.org/drawingml/2006/main">
              <a:ext uri="{FF2B5EF4-FFF2-40B4-BE49-F238E27FC236}">
                <a16:creationId xmlns:a16="http://schemas.microsoft.com/office/drawing/2014/main" id="{FBD45D95-56B4-41AD-9494-8285EB7F0DA3}"/>
              </a:ext>
            </a:extLst>
          </p:cNvPr>
          <p:cNvSpPr>
            <a:spLocks xmlns:a="http://schemas.openxmlformats.org/drawingml/2006/main" noGrp="1"/>
          </p:cNvSpPr>
          <p:nvPr/>
        </p:nvSpPr>
        <p:spPr>
          <a:xfrm xmlns:a="http://schemas.openxmlformats.org/drawingml/2006/main">
            <a:off x="527685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2A6CBC1-911B-4107-8F69-B0E20675EF58}"/>
              </a:ext>
            </a:extLst>
          </p:cNvPr>
          <p:cNvSpPr>
            <a:spLocks xmlns:a="http://schemas.openxmlformats.org/drawingml/2006/main" noGrp="1"/>
          </p:cNvSpPr>
          <p:nvPr/>
        </p:nvSpPr>
        <p:spPr>
          <a:xfrm xmlns:a="http://schemas.openxmlformats.org/drawingml/2006/main">
            <a:off x="527685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Verarbeitung</a:t>
            </a:r>
          </a:p>
        </p:txBody>
      </p:sp>
      <p:sp>
        <p:nvSpPr>
          <p:cNvPr id="18" name="">
            <a:extLst xmlns:a="http://schemas.openxmlformats.org/drawingml/2006/main">
              <a:ext uri="{FF2B5EF4-FFF2-40B4-BE49-F238E27FC236}">
                <a16:creationId xmlns:a16="http://schemas.microsoft.com/office/drawing/2014/main" id="{95C6D773-EAA3-4E39-871D-C8AF66CBDA82}"/>
              </a:ext>
            </a:extLst>
          </p:cNvPr>
          <p:cNvSpPr>
            <a:spLocks xmlns:a="http://schemas.openxmlformats.org/drawingml/2006/main" noGrp="1"/>
          </p:cNvSpPr>
          <p:nvPr/>
        </p:nvSpPr>
        <p:spPr>
          <a:xfrm xmlns:a="http://schemas.openxmlformats.org/drawingml/2006/main">
            <a:off x="527685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6A485D8-37D4-49C2-B8EA-09F9CB21C8A5}"/>
              </a:ext>
            </a:extLst>
          </p:cNvPr>
          <p:cNvSpPr>
            <a:spLocks xmlns:a="http://schemas.openxmlformats.org/drawingml/2006/main" noGrp="1"/>
          </p:cNvSpPr>
          <p:nvPr/>
        </p:nvSpPr>
        <p:spPr>
          <a:xfrm xmlns:a="http://schemas.openxmlformats.org/drawingml/2006/main">
            <a:off x="527685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ETL + Airflow + Spark</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durchgängig ausführen</a:t>
            </a:r>
          </a:p>
        </p:txBody>
      </p:sp>
      <p:sp>
        <p:nvSpPr>
          <p:cNvPr id="20" name="">
            <a:extLst xmlns:a="http://schemas.openxmlformats.org/drawingml/2006/main">
              <a:ext uri="{FF2B5EF4-FFF2-40B4-BE49-F238E27FC236}">
                <a16:creationId xmlns:a16="http://schemas.microsoft.com/office/drawing/2014/main" id="{AD5A3AE8-50D0-497C-B7BB-662FF89B7C16}"/>
              </a:ext>
            </a:extLst>
          </p:cNvPr>
          <p:cNvSpPr>
            <a:spLocks xmlns:a="http://schemas.openxmlformats.org/drawingml/2006/main" noGrp="1"/>
          </p:cNvSpPr>
          <p:nvPr/>
        </p:nvSpPr>
        <p:spPr>
          <a:xfrm xmlns:a="http://schemas.openxmlformats.org/drawingml/2006/main">
            <a:off x="726757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1" name="">
            <a:extLst xmlns:a="http://schemas.openxmlformats.org/drawingml/2006/main">
              <a:ext uri="{FF2B5EF4-FFF2-40B4-BE49-F238E27FC236}">
                <a16:creationId xmlns:a16="http://schemas.microsoft.com/office/drawing/2014/main" id="{781F3BA0-3EC8-4605-B9CA-D361F02C5982}"/>
              </a:ext>
            </a:extLst>
          </p:cNvPr>
          <p:cNvSpPr>
            <a:spLocks xmlns:a="http://schemas.openxmlformats.org/drawingml/2006/main" noGrp="1"/>
          </p:cNvSpPr>
          <p:nvPr/>
        </p:nvSpPr>
        <p:spPr>
          <a:xfrm xmlns:a="http://schemas.openxmlformats.org/drawingml/2006/main">
            <a:off x="747712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1DF1A3A-1683-4309-9E73-9A252F5B0285}"/>
              </a:ext>
            </a:extLst>
          </p:cNvPr>
          <p:cNvSpPr>
            <a:spLocks xmlns:a="http://schemas.openxmlformats.org/drawingml/2006/main" noGrp="1"/>
          </p:cNvSpPr>
          <p:nvPr/>
        </p:nvSpPr>
        <p:spPr>
          <a:xfrm xmlns:a="http://schemas.openxmlformats.org/drawingml/2006/main">
            <a:off x="747712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Intelligenz</a:t>
            </a:r>
          </a:p>
        </p:txBody>
      </p:sp>
      <p:sp>
        <p:nvSpPr>
          <p:cNvPr id="23" name="">
            <a:extLst xmlns:a="http://schemas.openxmlformats.org/drawingml/2006/main">
              <a:ext uri="{FF2B5EF4-FFF2-40B4-BE49-F238E27FC236}">
                <a16:creationId xmlns:a16="http://schemas.microsoft.com/office/drawing/2014/main" id="{CB376497-5CD2-4B30-9E1D-86173B769DBC}"/>
              </a:ext>
            </a:extLst>
          </p:cNvPr>
          <p:cNvSpPr>
            <a:spLocks xmlns:a="http://schemas.openxmlformats.org/drawingml/2006/main" noGrp="1"/>
          </p:cNvSpPr>
          <p:nvPr/>
        </p:nvSpPr>
        <p:spPr>
          <a:xfrm xmlns:a="http://schemas.openxmlformats.org/drawingml/2006/main">
            <a:off x="747712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66519D-DFEC-4AAF-8919-D31D5289B7F5}"/>
              </a:ext>
            </a:extLst>
          </p:cNvPr>
          <p:cNvSpPr>
            <a:spLocks xmlns:a="http://schemas.openxmlformats.org/drawingml/2006/main" noGrp="1"/>
          </p:cNvSpPr>
          <p:nvPr/>
        </p:nvSpPr>
        <p:spPr>
          <a:xfrm xmlns:a="http://schemas.openxmlformats.org/drawingml/2006/main">
            <a:off x="747712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Klassifikation, Regression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und Clustering</a:t>
            </a:r>
          </a:p>
        </p:txBody>
      </p:sp>
      <p:sp>
        <p:nvSpPr>
          <p:cNvPr id="25" name="">
            <a:extLst xmlns:a="http://schemas.openxmlformats.org/drawingml/2006/main">
              <a:ext uri="{FF2B5EF4-FFF2-40B4-BE49-F238E27FC236}">
                <a16:creationId xmlns:a16="http://schemas.microsoft.com/office/drawing/2014/main" id="{B8A290CE-B350-415E-A6D7-1E6CAE2552DA}"/>
              </a:ext>
            </a:extLst>
          </p:cNvPr>
          <p:cNvSpPr>
            <a:spLocks xmlns:a="http://schemas.openxmlformats.org/drawingml/2006/main" noGrp="1"/>
          </p:cNvSpPr>
          <p:nvPr/>
        </p:nvSpPr>
        <p:spPr>
          <a:xfrm xmlns:a="http://schemas.openxmlformats.org/drawingml/2006/main">
            <a:off x="94678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58F9BB47-128D-4339-9F2D-BB5CDD06626C}"/>
              </a:ext>
            </a:extLst>
          </p:cNvPr>
          <p:cNvSpPr>
            <a:spLocks xmlns:a="http://schemas.openxmlformats.org/drawingml/2006/main" noGrp="1"/>
          </p:cNvSpPr>
          <p:nvPr/>
        </p:nvSpPr>
        <p:spPr>
          <a:xfrm xmlns:a="http://schemas.openxmlformats.org/drawingml/2006/main">
            <a:off x="96774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FE69E4FA-F043-4A33-A209-ED4271D5B5EA}"/>
              </a:ext>
            </a:extLst>
          </p:cNvPr>
          <p:cNvSpPr>
            <a:spLocks xmlns:a="http://schemas.openxmlformats.org/drawingml/2006/main" noGrp="1"/>
          </p:cNvSpPr>
          <p:nvPr/>
        </p:nvSpPr>
        <p:spPr>
          <a:xfrm xmlns:a="http://schemas.openxmlformats.org/drawingml/2006/main">
            <a:off x="96774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Qualität</a:t>
            </a:r>
          </a:p>
        </p:txBody>
      </p:sp>
      <p:sp>
        <p:nvSpPr>
          <p:cNvPr id="28" name="">
            <a:extLst xmlns:a="http://schemas.openxmlformats.org/drawingml/2006/main">
              <a:ext uri="{FF2B5EF4-FFF2-40B4-BE49-F238E27FC236}">
                <a16:creationId xmlns:a16="http://schemas.microsoft.com/office/drawing/2014/main" id="{567C3C87-3688-4653-8E56-EC56E4923A22}"/>
              </a:ext>
            </a:extLst>
          </p:cNvPr>
          <p:cNvSpPr>
            <a:spLocks xmlns:a="http://schemas.openxmlformats.org/drawingml/2006/main" noGrp="1"/>
          </p:cNvSpPr>
          <p:nvPr/>
        </p:nvSpPr>
        <p:spPr>
          <a:xfrm xmlns:a="http://schemas.openxmlformats.org/drawingml/2006/main">
            <a:off x="96774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BADD028-B126-455F-9332-1D79D769AE42}"/>
              </a:ext>
            </a:extLst>
          </p:cNvPr>
          <p:cNvSpPr>
            <a:spLocks xmlns:a="http://schemas.openxmlformats.org/drawingml/2006/main" noGrp="1"/>
          </p:cNvSpPr>
          <p:nvPr/>
        </p:nvSpPr>
        <p:spPr>
          <a:xfrm xmlns:a="http://schemas.openxmlformats.org/drawingml/2006/main">
            <a:off x="96774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Quarantäne, Tests</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und ehrliche Grenzen</a:t>
            </a:r>
          </a:p>
        </p:txBody>
      </p:sp>
      <p:sp>
        <p:nvSpPr>
          <p:cNvPr id="30" name="">
            <a:extLst xmlns:a="http://schemas.openxmlformats.org/drawingml/2006/main">
              <a:ext uri="{FF2B5EF4-FFF2-40B4-BE49-F238E27FC236}">
                <a16:creationId xmlns:a16="http://schemas.microsoft.com/office/drawing/2014/main" id="{EC8CEB7B-5505-4C80-A1C0-ADACBBD497C9}"/>
              </a:ext>
            </a:extLst>
          </p:cNvPr>
          <p:cNvSpPr>
            <a:spLocks xmlns:a="http://schemas.openxmlformats.org/drawingml/2006/main" noGrp="1"/>
          </p:cNvSpPr>
          <p:nvPr/>
        </p:nvSpPr>
        <p:spPr>
          <a:xfrm xmlns:a="http://schemas.openxmlformats.org/drawingml/2006/main">
            <a:off x="666750" y="5143500"/>
            <a:ext cx="10753725" cy="704850"/>
          </a:xfrm>
          <a:prstGeom xmlns:a="http://schemas.openxmlformats.org/drawingml/2006/main" prst="roundRect">
            <a:avLst>
              <a:gd name="adj" fmla="val 16216"/>
            </a:avLst>
          </a:prstGeom>
          <a:solidFill xmlns:a="http://schemas.openxmlformats.org/drawingml/2006/main">
            <a:srgbClr val="0F4C5C"/>
          </a:solidFill>
          <a:ln xmlns:a="http://schemas.openxmlformats.org/drawingml/2006/main" w="9525">
            <a:solidFill>
              <a:srgbClr val="0F4C5C"/>
            </a:solidFill>
            <a:prstDash val="solid"/>
          </a:ln>
        </p:spPr>
      </p:sp>
      <p:sp>
        <p:nvSpPr>
          <p:cNvPr id="31" name="">
            <a:extLst xmlns:a="http://schemas.openxmlformats.org/drawingml/2006/main">
              <a:ext uri="{FF2B5EF4-FFF2-40B4-BE49-F238E27FC236}">
                <a16:creationId xmlns:a16="http://schemas.microsoft.com/office/drawing/2014/main" id="{FEE83A8C-4DEF-47DA-BD3D-2D422DD3424E}"/>
              </a:ext>
            </a:extLst>
          </p:cNvPr>
          <p:cNvSpPr>
            <a:spLocks xmlns:a="http://schemas.openxmlformats.org/drawingml/2006/main" noGrp="1"/>
          </p:cNvSpPr>
          <p:nvPr/>
        </p:nvSpPr>
        <p:spPr>
          <a:xfrm xmlns:a="http://schemas.openxmlformats.org/drawingml/2006/main">
            <a:off x="952500" y="53435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Definition of Done: Der komplette Full-DAG muss seine Resultate selbst persistieren.</a:t>
            </a:r>
          </a:p>
        </p:txBody>
      </p:sp>
    </p:spTree>
    <p:extLst>
      <p:ext uri="{BB962C8B-B14F-4D97-AF65-F5344CB8AC3E}">
        <p14:creationId xmlns:p14="http://schemas.microsoft.com/office/powerpoint/2010/main" val="1334644544"/>
      </p:ext>
    </p:extLst>
  </p:cSld>
</p:sld>
</file>

<file path=ppt/slides/slide4.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A023546-EE52-4C27-8107-B5381723A02A}"/>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SYSTEMARCHITEKTUR</a:t>
            </a:r>
          </a:p>
        </p:txBody>
      </p:sp>
      <p:sp>
        <p:nvSpPr>
          <p:cNvPr id="2" name="">
            <a:extLst xmlns:a="http://schemas.openxmlformats.org/drawingml/2006/main">
              <a:ext uri="{FF2B5EF4-FFF2-40B4-BE49-F238E27FC236}">
                <a16:creationId xmlns:a16="http://schemas.microsoft.com/office/drawing/2014/main" id="{134F1698-AD9B-4AD7-A335-31D4339DAF78}"/>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Ein Datenfluss mit getrennten Speicher- und Rechenpfaden</a:t>
            </a:r>
          </a:p>
        </p:txBody>
      </p:sp>
      <p:sp>
        <p:nvSpPr>
          <p:cNvPr id="3" name="">
            <a:extLst xmlns:a="http://schemas.openxmlformats.org/drawingml/2006/main">
              <a:ext uri="{FF2B5EF4-FFF2-40B4-BE49-F238E27FC236}">
                <a16:creationId xmlns:a16="http://schemas.microsoft.com/office/drawing/2014/main" id="{03DFC8F3-C078-4A4A-A5B5-50AF4B67D84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896C47-63C9-4646-9A5A-218E9BD9F4E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C7F9A28-C49A-41B4-8A4B-8959C3319D4D}"/>
              </a:ext>
            </a:extLst>
          </p:cNvPr>
          <p:cNvSpPr>
            <a:spLocks xmlns:a="http://schemas.openxmlformats.org/drawingml/2006/main" noGrp="1"/>
          </p:cNvSpPr>
          <p:nvPr/>
        </p:nvSpPr>
        <p:spPr>
          <a:xfrm xmlns:a="http://schemas.openxmlformats.org/drawingml/2006/main">
            <a:off x="5524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4780A080-AA57-40A9-B848-D240062145D7}"/>
              </a:ext>
            </a:extLst>
          </p:cNvPr>
          <p:cNvSpPr>
            <a:spLocks xmlns:a="http://schemas.openxmlformats.org/drawingml/2006/main" noGrp="1"/>
          </p:cNvSpPr>
          <p:nvPr/>
        </p:nvSpPr>
        <p:spPr>
          <a:xfrm xmlns:a="http://schemas.openxmlformats.org/drawingml/2006/main">
            <a:off x="7239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Quellen</a:t>
            </a:r>
          </a:p>
        </p:txBody>
      </p:sp>
      <p:sp>
        <p:nvSpPr>
          <p:cNvPr id="7" name="">
            <a:extLst xmlns:a="http://schemas.openxmlformats.org/drawingml/2006/main">
              <a:ext uri="{FF2B5EF4-FFF2-40B4-BE49-F238E27FC236}">
                <a16:creationId xmlns:a16="http://schemas.microsoft.com/office/drawing/2014/main" id="{3A3E93D5-C979-48CD-96A8-EAB36206646C}"/>
              </a:ext>
            </a:extLst>
          </p:cNvPr>
          <p:cNvSpPr>
            <a:spLocks xmlns:a="http://schemas.openxmlformats.org/drawingml/2006/main" noGrp="1"/>
          </p:cNvSpPr>
          <p:nvPr/>
        </p:nvSpPr>
        <p:spPr>
          <a:xfrm xmlns:a="http://schemas.openxmlformats.org/drawingml/2006/main">
            <a:off x="6858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903"/>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CSV · JSON · JSONL</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quellorientiertes Staging</a:t>
            </a:r>
          </a:p>
        </p:txBody>
      </p:sp>
      <p:sp>
        <p:nvSpPr>
          <p:cNvPr id="8" name="">
            <a:extLst xmlns:a="http://schemas.openxmlformats.org/drawingml/2006/main">
              <a:ext uri="{FF2B5EF4-FFF2-40B4-BE49-F238E27FC236}">
                <a16:creationId xmlns:a16="http://schemas.microsoft.com/office/drawing/2014/main" id="{0686A0E6-94FC-4F5D-A5D2-77885B60C417}"/>
              </a:ext>
            </a:extLst>
          </p:cNvPr>
          <p:cNvSpPr>
            <a:spLocks xmlns:a="http://schemas.openxmlformats.org/drawingml/2006/main" noGrp="1"/>
          </p:cNvSpPr>
          <p:nvPr/>
        </p:nvSpPr>
        <p:spPr>
          <a:xfrm xmlns:a="http://schemas.openxmlformats.org/drawingml/2006/main">
            <a:off x="24384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AE47BB67-47A5-4C4C-A984-D83B0769486D}"/>
              </a:ext>
            </a:extLst>
          </p:cNvPr>
          <p:cNvSpPr>
            <a:spLocks xmlns:a="http://schemas.openxmlformats.org/drawingml/2006/main" noGrp="1"/>
          </p:cNvSpPr>
          <p:nvPr/>
        </p:nvSpPr>
        <p:spPr>
          <a:xfrm xmlns:a="http://schemas.openxmlformats.org/drawingml/2006/main">
            <a:off x="28765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C5458470-0819-42AD-8B43-F0409725C8D1}"/>
              </a:ext>
            </a:extLst>
          </p:cNvPr>
          <p:cNvSpPr>
            <a:spLocks xmlns:a="http://schemas.openxmlformats.org/drawingml/2006/main" noGrp="1"/>
          </p:cNvSpPr>
          <p:nvPr/>
        </p:nvSpPr>
        <p:spPr>
          <a:xfrm xmlns:a="http://schemas.openxmlformats.org/drawingml/2006/main">
            <a:off x="30480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Qualität</a:t>
            </a:r>
          </a:p>
        </p:txBody>
      </p:sp>
      <p:sp>
        <p:nvSpPr>
          <p:cNvPr id="11" name="">
            <a:extLst xmlns:a="http://schemas.openxmlformats.org/drawingml/2006/main">
              <a:ext uri="{FF2B5EF4-FFF2-40B4-BE49-F238E27FC236}">
                <a16:creationId xmlns:a16="http://schemas.microsoft.com/office/drawing/2014/main" id="{18326590-A032-483F-8386-5F52AFF11C7E}"/>
              </a:ext>
            </a:extLst>
          </p:cNvPr>
          <p:cNvSpPr>
            <a:spLocks xmlns:a="http://schemas.openxmlformats.org/drawingml/2006/main" noGrp="1"/>
          </p:cNvSpPr>
          <p:nvPr/>
        </p:nvSpPr>
        <p:spPr>
          <a:xfrm xmlns:a="http://schemas.openxmlformats.org/drawingml/2006/main">
            <a:off x="30099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4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Schema · Range · ID</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Quarantäne</a:t>
            </a:r>
          </a:p>
        </p:txBody>
      </p:sp>
      <p:sp>
        <p:nvSpPr>
          <p:cNvPr id="12" name="">
            <a:extLst xmlns:a="http://schemas.openxmlformats.org/drawingml/2006/main">
              <a:ext uri="{FF2B5EF4-FFF2-40B4-BE49-F238E27FC236}">
                <a16:creationId xmlns:a16="http://schemas.microsoft.com/office/drawing/2014/main" id="{9F6C540F-F12A-433E-91A3-1D0EBF0DD528}"/>
              </a:ext>
            </a:extLst>
          </p:cNvPr>
          <p:cNvSpPr>
            <a:spLocks xmlns:a="http://schemas.openxmlformats.org/drawingml/2006/main" noGrp="1"/>
          </p:cNvSpPr>
          <p:nvPr/>
        </p:nvSpPr>
        <p:spPr>
          <a:xfrm xmlns:a="http://schemas.openxmlformats.org/drawingml/2006/main">
            <a:off x="47625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E3E8ADC3-22A2-4393-B401-7838F87847FF}"/>
              </a:ext>
            </a:extLst>
          </p:cNvPr>
          <p:cNvSpPr>
            <a:spLocks xmlns:a="http://schemas.openxmlformats.org/drawingml/2006/main" noGrp="1"/>
          </p:cNvSpPr>
          <p:nvPr/>
        </p:nvSpPr>
        <p:spPr>
          <a:xfrm xmlns:a="http://schemas.openxmlformats.org/drawingml/2006/main">
            <a:off x="5200650" y="2247900"/>
            <a:ext cx="1828800" cy="1809750"/>
          </a:xfrm>
          <a:prstGeom xmlns:a="http://schemas.openxmlformats.org/drawingml/2006/main" prst="roundRect">
            <a:avLst>
              <a:gd name="adj" fmla="val 6316"/>
            </a:avLst>
          </a:prstGeom>
          <a:solidFill xmlns:a="http://schemas.openxmlformats.org/drawingml/2006/main">
            <a:srgbClr val="19485A"/>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7C215115-AFAC-4DF2-8490-097F49D7D4B6}"/>
              </a:ext>
            </a:extLst>
          </p:cNvPr>
          <p:cNvSpPr>
            <a:spLocks xmlns:a="http://schemas.openxmlformats.org/drawingml/2006/main" noGrp="1"/>
          </p:cNvSpPr>
          <p:nvPr/>
        </p:nvSpPr>
        <p:spPr>
          <a:xfrm xmlns:a="http://schemas.openxmlformats.org/drawingml/2006/main">
            <a:off x="5372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4A261"/>
                </a:solidFill>
                <a:latin typeface="Arial"/>
                <a:ea typeface="Arial"/>
                <a:cs typeface="Arial"/>
              </a:defRPr>
            </a:defPPr>
          </a:lstStyle>
          <a:p xmlns:a="http://schemas.openxmlformats.org/drawingml/2006/main">
            <a:pPr algn="ctr">
              <a:defRPr sz="1650" b="1">
                <a:solidFill>
                  <a:srgbClr val="F4A261"/>
                </a:solidFill>
                <a:latin typeface="Arial"/>
                <a:ea typeface="Arial"/>
                <a:cs typeface="Arial"/>
              </a:defRPr>
            </a:pPr>
            <a:r>
              <a:rPr sz="1650" b="1">
                <a:solidFill>
                  <a:srgbClr val="F4A261"/>
                </a:solidFill>
                <a:latin typeface="Arial"/>
                <a:ea typeface="Arial"/>
                <a:cs typeface="Arial"/>
              </a:rPr>
              <a:t>Spark</a:t>
            </a:r>
          </a:p>
        </p:txBody>
      </p:sp>
      <p:sp>
        <p:nvSpPr>
          <p:cNvPr id="15" name="">
            <a:extLst xmlns:a="http://schemas.openxmlformats.org/drawingml/2006/main">
              <a:ext uri="{FF2B5EF4-FFF2-40B4-BE49-F238E27FC236}">
                <a16:creationId xmlns:a16="http://schemas.microsoft.com/office/drawing/2014/main" id="{8B5691C9-ED05-4E97-AAC4-6CBA30478213}"/>
              </a:ext>
            </a:extLst>
          </p:cNvPr>
          <p:cNvSpPr>
            <a:spLocks xmlns:a="http://schemas.openxmlformats.org/drawingml/2006/main" noGrp="1"/>
          </p:cNvSpPr>
          <p:nvPr/>
        </p:nvSpPr>
        <p:spPr>
          <a:xfrm xmlns:a="http://schemas.openxmlformats.org/drawingml/2006/main">
            <a:off x="53340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SQL · Joins · Window</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Parquet Features</a:t>
            </a:r>
          </a:p>
        </p:txBody>
      </p:sp>
      <p:sp>
        <p:nvSpPr>
          <p:cNvPr id="16" name="">
            <a:extLst xmlns:a="http://schemas.openxmlformats.org/drawingml/2006/main">
              <a:ext uri="{FF2B5EF4-FFF2-40B4-BE49-F238E27FC236}">
                <a16:creationId xmlns:a16="http://schemas.microsoft.com/office/drawing/2014/main" id="{E6941558-355A-49C8-B24F-FE6E523C138A}"/>
              </a:ext>
            </a:extLst>
          </p:cNvPr>
          <p:cNvSpPr>
            <a:spLocks xmlns:a="http://schemas.openxmlformats.org/drawingml/2006/main" noGrp="1"/>
          </p:cNvSpPr>
          <p:nvPr/>
        </p:nvSpPr>
        <p:spPr>
          <a:xfrm xmlns:a="http://schemas.openxmlformats.org/drawingml/2006/main">
            <a:off x="70866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48882B08-46E0-4435-A113-C212E47C0D9C}"/>
              </a:ext>
            </a:extLst>
          </p:cNvPr>
          <p:cNvSpPr>
            <a:spLocks xmlns:a="http://schemas.openxmlformats.org/drawingml/2006/main" noGrp="1"/>
          </p:cNvSpPr>
          <p:nvPr/>
        </p:nvSpPr>
        <p:spPr>
          <a:xfrm xmlns:a="http://schemas.openxmlformats.org/drawingml/2006/main">
            <a:off x="75247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DCD06445-38AB-4772-B0EF-CD29DB34F8EA}"/>
              </a:ext>
            </a:extLst>
          </p:cNvPr>
          <p:cNvSpPr>
            <a:spLocks xmlns:a="http://schemas.openxmlformats.org/drawingml/2006/main" noGrp="1"/>
          </p:cNvSpPr>
          <p:nvPr/>
        </p:nvSpPr>
        <p:spPr>
          <a:xfrm xmlns:a="http://schemas.openxmlformats.org/drawingml/2006/main">
            <a:off x="76962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MLlib</a:t>
            </a:r>
          </a:p>
        </p:txBody>
      </p:sp>
      <p:sp>
        <p:nvSpPr>
          <p:cNvPr id="19" name="">
            <a:extLst xmlns:a="http://schemas.openxmlformats.org/drawingml/2006/main">
              <a:ext uri="{FF2B5EF4-FFF2-40B4-BE49-F238E27FC236}">
                <a16:creationId xmlns:a16="http://schemas.microsoft.com/office/drawing/2014/main" id="{DCB70EF1-C1F5-4031-B956-0D5ED2FFD36C}"/>
              </a:ext>
            </a:extLst>
          </p:cNvPr>
          <p:cNvSpPr>
            <a:spLocks xmlns:a="http://schemas.openxmlformats.org/drawingml/2006/main" noGrp="1"/>
          </p:cNvSpPr>
          <p:nvPr/>
        </p:nvSpPr>
        <p:spPr>
          <a:xfrm xmlns:a="http://schemas.openxmlformats.org/drawingml/2006/main">
            <a:off x="76581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5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Klassifikation</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Regression · KMeans</a:t>
            </a:r>
          </a:p>
        </p:txBody>
      </p:sp>
      <p:sp>
        <p:nvSpPr>
          <p:cNvPr id="20" name="">
            <a:extLst xmlns:a="http://schemas.openxmlformats.org/drawingml/2006/main">
              <a:ext uri="{FF2B5EF4-FFF2-40B4-BE49-F238E27FC236}">
                <a16:creationId xmlns:a16="http://schemas.microsoft.com/office/drawing/2014/main" id="{C8EFF2DD-A1E6-44AB-97D7-CFBC5FCE361D}"/>
              </a:ext>
            </a:extLst>
          </p:cNvPr>
          <p:cNvSpPr>
            <a:spLocks xmlns:a="http://schemas.openxmlformats.org/drawingml/2006/main" noGrp="1"/>
          </p:cNvSpPr>
          <p:nvPr/>
        </p:nvSpPr>
        <p:spPr>
          <a:xfrm xmlns:a="http://schemas.openxmlformats.org/drawingml/2006/main">
            <a:off x="94107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D8590361-C5EC-40CD-BD1C-6980027A904E}"/>
              </a:ext>
            </a:extLst>
          </p:cNvPr>
          <p:cNvSpPr>
            <a:spLocks xmlns:a="http://schemas.openxmlformats.org/drawingml/2006/main" noGrp="1"/>
          </p:cNvSpPr>
          <p:nvPr/>
        </p:nvSpPr>
        <p:spPr>
          <a:xfrm xmlns:a="http://schemas.openxmlformats.org/drawingml/2006/main">
            <a:off x="98488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14C2F769-B23B-4758-866F-0191B12793D7}"/>
              </a:ext>
            </a:extLst>
          </p:cNvPr>
          <p:cNvSpPr>
            <a:spLocks xmlns:a="http://schemas.openxmlformats.org/drawingml/2006/main" noGrp="1"/>
          </p:cNvSpPr>
          <p:nvPr/>
        </p:nvSpPr>
        <p:spPr>
          <a:xfrm xmlns:a="http://schemas.openxmlformats.org/drawingml/2006/main">
            <a:off x="100203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Serving</a:t>
            </a:r>
          </a:p>
        </p:txBody>
      </p:sp>
      <p:sp>
        <p:nvSpPr>
          <p:cNvPr id="23" name="">
            <a:extLst xmlns:a="http://schemas.openxmlformats.org/drawingml/2006/main">
              <a:ext uri="{FF2B5EF4-FFF2-40B4-BE49-F238E27FC236}">
                <a16:creationId xmlns:a16="http://schemas.microsoft.com/office/drawing/2014/main" id="{19150570-36C7-4119-8F8A-058F3BF15C4A}"/>
              </a:ext>
            </a:extLst>
          </p:cNvPr>
          <p:cNvSpPr>
            <a:spLocks xmlns:a="http://schemas.openxmlformats.org/drawingml/2006/main" noGrp="1"/>
          </p:cNvSpPr>
          <p:nvPr/>
        </p:nvSpPr>
        <p:spPr>
          <a:xfrm xmlns:a="http://schemas.openxmlformats.org/drawingml/2006/main">
            <a:off x="99822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CSV · JSON Artefakte</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FastAPI</a:t>
            </a:r>
          </a:p>
        </p:txBody>
      </p:sp>
      <p:sp>
        <p:nvSpPr>
          <p:cNvPr id="24" name="">
            <a:extLst xmlns:a="http://schemas.openxmlformats.org/drawingml/2006/main">
              <a:ext uri="{FF2B5EF4-FFF2-40B4-BE49-F238E27FC236}">
                <a16:creationId xmlns:a16="http://schemas.microsoft.com/office/drawing/2014/main" id="{AC3794D9-1FA7-4832-9C2D-D169AF41140E}"/>
              </a:ext>
            </a:extLst>
          </p:cNvPr>
          <p:cNvSpPr>
            <a:spLocks xmlns:a="http://schemas.openxmlformats.org/drawingml/2006/main" noGrp="1"/>
          </p:cNvSpPr>
          <p:nvPr/>
        </p:nvSpPr>
        <p:spPr>
          <a:xfrm xmlns:a="http://schemas.openxmlformats.org/drawingml/2006/main">
            <a:off x="2838450" y="4610100"/>
            <a:ext cx="6515100" cy="704850"/>
          </a:xfrm>
          <a:prstGeom xmlns:a="http://schemas.openxmlformats.org/drawingml/2006/main" prst="roundRect">
            <a:avLst>
              <a:gd name="adj" fmla="val 16216"/>
            </a:avLst>
          </a:prstGeom>
          <a:solidFill xmlns:a="http://schemas.openxmlformats.org/drawingml/2006/main">
            <a:srgbClr val="0E3544"/>
          </a:solidFill>
          <a:ln xmlns:a="http://schemas.openxmlformats.org/drawingml/2006/main" w="9525">
            <a:solidFill>
              <a:srgbClr val="31505D"/>
            </a:solidFill>
            <a:prstDash val="solid"/>
          </a:ln>
        </p:spPr>
      </p:sp>
      <p:sp>
        <p:nvSpPr>
          <p:cNvPr id="25" name="">
            <a:extLst xmlns:a="http://schemas.openxmlformats.org/drawingml/2006/main">
              <a:ext uri="{FF2B5EF4-FFF2-40B4-BE49-F238E27FC236}">
                <a16:creationId xmlns:a16="http://schemas.microsoft.com/office/drawing/2014/main" id="{C96E9ABC-9DDA-4080-B728-0E5B8EAEA137}"/>
              </a:ext>
            </a:extLst>
          </p:cNvPr>
          <p:cNvSpPr>
            <a:spLocks xmlns:a="http://schemas.openxmlformats.org/drawingml/2006/main" noGrp="1"/>
          </p:cNvSpPr>
          <p:nvPr/>
        </p:nvSpPr>
        <p:spPr>
          <a:xfrm xmlns:a="http://schemas.openxmlformats.org/drawingml/2006/main">
            <a:off x="3143250" y="48101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681"/>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Airflow orchestriert 10 Tasks · PostgreSQL, MongoDB und Neo4j persistieren getrennt</a:t>
            </a:r>
          </a:p>
        </p:txBody>
      </p:sp>
    </p:spTree>
    <p:extLst>
      <p:ext uri="{BB962C8B-B14F-4D97-AF65-F5344CB8AC3E}">
        <p14:creationId xmlns:p14="http://schemas.microsoft.com/office/powerpoint/2010/main" val="1982881233"/>
      </p:ext>
    </p:extLst>
  </p:cSld>
</p:sld>
</file>

<file path=ppt/slides/slide5.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C461EF8-41B9-4A7B-8522-155DA1A37B6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DATENHALTUNG</a:t>
            </a:r>
          </a:p>
        </p:txBody>
      </p:sp>
      <p:sp>
        <p:nvSpPr>
          <p:cNvPr id="2" name="">
            <a:extLst xmlns:a="http://schemas.openxmlformats.org/drawingml/2006/main">
              <a:ext uri="{FF2B5EF4-FFF2-40B4-BE49-F238E27FC236}">
                <a16:creationId xmlns:a16="http://schemas.microsoft.com/office/drawing/2014/main" id="{39CB741E-DE0F-44BC-BB49-197890E9A2D5}"/>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Polyglot Persistence mit klarer Aufgabenverteilung</a:t>
            </a:r>
          </a:p>
        </p:txBody>
      </p:sp>
      <p:sp>
        <p:nvSpPr>
          <p:cNvPr id="3" name="">
            <a:extLst xmlns:a="http://schemas.openxmlformats.org/drawingml/2006/main">
              <a:ext uri="{FF2B5EF4-FFF2-40B4-BE49-F238E27FC236}">
                <a16:creationId xmlns:a16="http://schemas.microsoft.com/office/drawing/2014/main" id="{AA8A46E1-6071-4784-9C9F-7F717815460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B6009C-1D64-4C49-B942-620D5A94DD1D}"/>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91489F7-2B83-47AD-8AD0-83AA1B64896B}"/>
              </a:ext>
            </a:extLst>
          </p:cNvPr>
          <p:cNvSpPr>
            <a:spLocks xmlns:a="http://schemas.openxmlformats.org/drawingml/2006/main" noGrp="1"/>
          </p:cNvSpPr>
          <p:nvPr/>
        </p:nvSpPr>
        <p:spPr>
          <a:xfrm xmlns:a="http://schemas.openxmlformats.org/drawingml/2006/main">
            <a:off x="70485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1CCE4032-78ED-4CE2-9413-9253380A2D1F}"/>
              </a:ext>
            </a:extLst>
          </p:cNvPr>
          <p:cNvSpPr>
            <a:spLocks xmlns:a="http://schemas.openxmlformats.org/drawingml/2006/main" noGrp="1"/>
          </p:cNvSpPr>
          <p:nvPr/>
        </p:nvSpPr>
        <p:spPr>
          <a:xfrm xmlns:a="http://schemas.openxmlformats.org/drawingml/2006/main">
            <a:off x="704850" y="1619250"/>
            <a:ext cx="3333750" cy="1333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E8E0C0-AF8B-46D3-AB0E-741BB87F47E3}"/>
              </a:ext>
            </a:extLst>
          </p:cNvPr>
          <p:cNvSpPr>
            <a:spLocks xmlns:a="http://schemas.openxmlformats.org/drawingml/2006/main" noGrp="1"/>
          </p:cNvSpPr>
          <p:nvPr/>
        </p:nvSpPr>
        <p:spPr>
          <a:xfrm xmlns:a="http://schemas.openxmlformats.org/drawingml/2006/main">
            <a:off x="97155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PostgreSQL</a:t>
            </a:r>
          </a:p>
        </p:txBody>
      </p:sp>
      <p:sp>
        <p:nvSpPr>
          <p:cNvPr id="8" name="">
            <a:extLst xmlns:a="http://schemas.openxmlformats.org/drawingml/2006/main">
              <a:ext uri="{FF2B5EF4-FFF2-40B4-BE49-F238E27FC236}">
                <a16:creationId xmlns:a16="http://schemas.microsoft.com/office/drawing/2014/main" id="{D626444F-39F3-47B1-81E2-936E3D03E450}"/>
              </a:ext>
            </a:extLst>
          </p:cNvPr>
          <p:cNvSpPr>
            <a:spLocks xmlns:a="http://schemas.openxmlformats.org/drawingml/2006/main" noGrp="1"/>
          </p:cNvSpPr>
          <p:nvPr/>
        </p:nvSpPr>
        <p:spPr>
          <a:xfrm xmlns:a="http://schemas.openxmlformats.org/drawingml/2006/main">
            <a:off x="97155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Struktur &amp; Ergebnisse</a:t>
            </a:r>
          </a:p>
        </p:txBody>
      </p:sp>
      <p:sp>
        <p:nvSpPr>
          <p:cNvPr id="9" name="">
            <a:extLst xmlns:a="http://schemas.openxmlformats.org/drawingml/2006/main">
              <a:ext uri="{FF2B5EF4-FFF2-40B4-BE49-F238E27FC236}">
                <a16:creationId xmlns:a16="http://schemas.microsoft.com/office/drawing/2014/main" id="{21EEB1DE-851A-4E3D-9C83-275227501E0C}"/>
              </a:ext>
            </a:extLst>
          </p:cNvPr>
          <p:cNvSpPr>
            <a:spLocks xmlns:a="http://schemas.openxmlformats.org/drawingml/2006/main" noGrp="1"/>
          </p:cNvSpPr>
          <p:nvPr/>
        </p:nvSpPr>
        <p:spPr>
          <a:xfrm xmlns:a="http://schemas.openxmlformats.org/drawingml/2006/main">
            <a:off x="102870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0F4C5C"/>
                </a:solidFill>
                <a:latin typeface="Arial"/>
                <a:ea typeface="Arial"/>
                <a:cs typeface="Arial"/>
              </a:defRPr>
            </a:defPPr>
          </a:lstStyle>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50 Maschinen</a:t>
            </a:r>
          </a:p>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600 Aufträge</a:t>
            </a:r>
          </a:p>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1.950 Prognosen</a:t>
            </a:r>
          </a:p>
        </p:txBody>
      </p:sp>
      <p:sp>
        <p:nvSpPr>
          <p:cNvPr id="10" name="">
            <a:extLst xmlns:a="http://schemas.openxmlformats.org/drawingml/2006/main">
              <a:ext uri="{FF2B5EF4-FFF2-40B4-BE49-F238E27FC236}">
                <a16:creationId xmlns:a16="http://schemas.microsoft.com/office/drawing/2014/main" id="{5CA15641-E984-42DA-AFCB-FE9AE2F50376}"/>
              </a:ext>
            </a:extLst>
          </p:cNvPr>
          <p:cNvSpPr>
            <a:spLocks xmlns:a="http://schemas.openxmlformats.org/drawingml/2006/main" noGrp="1"/>
          </p:cNvSpPr>
          <p:nvPr/>
        </p:nvSpPr>
        <p:spPr>
          <a:xfrm xmlns:a="http://schemas.openxmlformats.org/drawingml/2006/main">
            <a:off x="91440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ACID · SQL · Upsert</a:t>
            </a:r>
          </a:p>
        </p:txBody>
      </p:sp>
      <p:sp>
        <p:nvSpPr>
          <p:cNvPr id="11" name="">
            <a:extLst xmlns:a="http://schemas.openxmlformats.org/drawingml/2006/main">
              <a:ext uri="{FF2B5EF4-FFF2-40B4-BE49-F238E27FC236}">
                <a16:creationId xmlns:a16="http://schemas.microsoft.com/office/drawing/2014/main" id="{3E082680-5BC6-4623-9DD0-8C8CE6C1CE75}"/>
              </a:ext>
            </a:extLst>
          </p:cNvPr>
          <p:cNvSpPr>
            <a:spLocks xmlns:a="http://schemas.openxmlformats.org/drawingml/2006/main" noGrp="1"/>
          </p:cNvSpPr>
          <p:nvPr/>
        </p:nvSpPr>
        <p:spPr>
          <a:xfrm xmlns:a="http://schemas.openxmlformats.org/drawingml/2006/main">
            <a:off x="4371975"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01D4EC8F-CDB5-46EF-9159-234DEB302839}"/>
              </a:ext>
            </a:extLst>
          </p:cNvPr>
          <p:cNvSpPr>
            <a:spLocks xmlns:a="http://schemas.openxmlformats.org/drawingml/2006/main" noGrp="1"/>
          </p:cNvSpPr>
          <p:nvPr/>
        </p:nvSpPr>
        <p:spPr>
          <a:xfrm xmlns:a="http://schemas.openxmlformats.org/drawingml/2006/main">
            <a:off x="4371975" y="1619250"/>
            <a:ext cx="3333750" cy="1333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89E570-04E6-4D4B-9A81-8DB0F0F95786}"/>
              </a:ext>
            </a:extLst>
          </p:cNvPr>
          <p:cNvSpPr>
            <a:spLocks xmlns:a="http://schemas.openxmlformats.org/drawingml/2006/main" noGrp="1"/>
          </p:cNvSpPr>
          <p:nvPr/>
        </p:nvSpPr>
        <p:spPr>
          <a:xfrm xmlns:a="http://schemas.openxmlformats.org/drawingml/2006/main">
            <a:off x="4638675"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MongoDB</a:t>
            </a:r>
          </a:p>
        </p:txBody>
      </p:sp>
      <p:sp>
        <p:nvSpPr>
          <p:cNvPr id="14" name="">
            <a:extLst xmlns:a="http://schemas.openxmlformats.org/drawingml/2006/main">
              <a:ext uri="{FF2B5EF4-FFF2-40B4-BE49-F238E27FC236}">
                <a16:creationId xmlns:a16="http://schemas.microsoft.com/office/drawing/2014/main" id="{F2189B7A-C7FF-4073-9A87-E00023D89128}"/>
              </a:ext>
            </a:extLst>
          </p:cNvPr>
          <p:cNvSpPr>
            <a:spLocks xmlns:a="http://schemas.openxmlformats.org/drawingml/2006/main" noGrp="1"/>
          </p:cNvSpPr>
          <p:nvPr/>
        </p:nvSpPr>
        <p:spPr>
          <a:xfrm xmlns:a="http://schemas.openxmlformats.org/drawingml/2006/main">
            <a:off x="4638675"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Sensorzeitreihen</a:t>
            </a:r>
          </a:p>
        </p:txBody>
      </p:sp>
      <p:sp>
        <p:nvSpPr>
          <p:cNvPr id="15" name="">
            <a:extLst xmlns:a="http://schemas.openxmlformats.org/drawingml/2006/main">
              <a:ext uri="{FF2B5EF4-FFF2-40B4-BE49-F238E27FC236}">
                <a16:creationId xmlns:a16="http://schemas.microsoft.com/office/drawing/2014/main" id="{574D1C66-85D7-4AF9-A631-5949F48AFDE5}"/>
              </a:ext>
            </a:extLst>
          </p:cNvPr>
          <p:cNvSpPr>
            <a:spLocks xmlns:a="http://schemas.openxmlformats.org/drawingml/2006/main" noGrp="1"/>
          </p:cNvSpPr>
          <p:nvPr/>
        </p:nvSpPr>
        <p:spPr>
          <a:xfrm xmlns:a="http://schemas.openxmlformats.org/drawingml/2006/main">
            <a:off x="4695825"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2A9D6F"/>
                </a:solidFill>
                <a:latin typeface="Arial"/>
                <a:ea typeface="Arial"/>
                <a:cs typeface="Arial"/>
              </a:defRPr>
            </a:defPPr>
          </a:lstStyle>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1.000.000</a:t>
            </a:r>
          </a:p>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verschachtelte</a:t>
            </a:r>
          </a:p>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Dokumente</a:t>
            </a:r>
          </a:p>
        </p:txBody>
      </p:sp>
      <p:sp>
        <p:nvSpPr>
          <p:cNvPr id="16" name="">
            <a:extLst xmlns:a="http://schemas.openxmlformats.org/drawingml/2006/main">
              <a:ext uri="{FF2B5EF4-FFF2-40B4-BE49-F238E27FC236}">
                <a16:creationId xmlns:a16="http://schemas.microsoft.com/office/drawing/2014/main" id="{1207F920-149C-4888-B0FF-9AD843F13B9C}"/>
              </a:ext>
            </a:extLst>
          </p:cNvPr>
          <p:cNvSpPr>
            <a:spLocks xmlns:a="http://schemas.openxmlformats.org/drawingml/2006/main" noGrp="1"/>
          </p:cNvSpPr>
          <p:nvPr/>
        </p:nvSpPr>
        <p:spPr>
          <a:xfrm xmlns:a="http://schemas.openxmlformats.org/drawingml/2006/main">
            <a:off x="4581525"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JSON · Index · Batch-Upsert</a:t>
            </a:r>
          </a:p>
        </p:txBody>
      </p:sp>
      <p:sp>
        <p:nvSpPr>
          <p:cNvPr id="17" name="">
            <a:extLst xmlns:a="http://schemas.openxmlformats.org/drawingml/2006/main">
              <a:ext uri="{FF2B5EF4-FFF2-40B4-BE49-F238E27FC236}">
                <a16:creationId xmlns:a16="http://schemas.microsoft.com/office/drawing/2014/main" id="{DD5F73BB-261E-4D2C-A39F-BB33CE34CA58}"/>
              </a:ext>
            </a:extLst>
          </p:cNvPr>
          <p:cNvSpPr>
            <a:spLocks xmlns:a="http://schemas.openxmlformats.org/drawingml/2006/main" noGrp="1"/>
          </p:cNvSpPr>
          <p:nvPr/>
        </p:nvSpPr>
        <p:spPr>
          <a:xfrm xmlns:a="http://schemas.openxmlformats.org/drawingml/2006/main">
            <a:off x="803910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92A4EC21-BF84-4D6C-94D9-75B82A2CED80}"/>
              </a:ext>
            </a:extLst>
          </p:cNvPr>
          <p:cNvSpPr>
            <a:spLocks xmlns:a="http://schemas.openxmlformats.org/drawingml/2006/main" noGrp="1"/>
          </p:cNvSpPr>
          <p:nvPr/>
        </p:nvSpPr>
        <p:spPr>
          <a:xfrm xmlns:a="http://schemas.openxmlformats.org/drawingml/2006/main">
            <a:off x="8039100" y="1619250"/>
            <a:ext cx="3333750" cy="1333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6BB16DC-32E4-4093-8403-6CB66AF4954C}"/>
              </a:ext>
            </a:extLst>
          </p:cNvPr>
          <p:cNvSpPr>
            <a:spLocks xmlns:a="http://schemas.openxmlformats.org/drawingml/2006/main" noGrp="1"/>
          </p:cNvSpPr>
          <p:nvPr/>
        </p:nvSpPr>
        <p:spPr>
          <a:xfrm xmlns:a="http://schemas.openxmlformats.org/drawingml/2006/main">
            <a:off x="830580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Neo4j</a:t>
            </a:r>
          </a:p>
        </p:txBody>
      </p:sp>
      <p:sp>
        <p:nvSpPr>
          <p:cNvPr id="20" name="">
            <a:extLst xmlns:a="http://schemas.openxmlformats.org/drawingml/2006/main">
              <a:ext uri="{FF2B5EF4-FFF2-40B4-BE49-F238E27FC236}">
                <a16:creationId xmlns:a16="http://schemas.microsoft.com/office/drawing/2014/main" id="{555BA535-A1C7-4ED0-874C-CB03EF5CC34B}"/>
              </a:ext>
            </a:extLst>
          </p:cNvPr>
          <p:cNvSpPr>
            <a:spLocks xmlns:a="http://schemas.openxmlformats.org/drawingml/2006/main" noGrp="1"/>
          </p:cNvSpPr>
          <p:nvPr/>
        </p:nvSpPr>
        <p:spPr>
          <a:xfrm xmlns:a="http://schemas.openxmlformats.org/drawingml/2006/main">
            <a:off x="830580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Technischer Kontext</a:t>
            </a:r>
          </a:p>
        </p:txBody>
      </p:sp>
      <p:sp>
        <p:nvSpPr>
          <p:cNvPr id="21" name="">
            <a:extLst xmlns:a="http://schemas.openxmlformats.org/drawingml/2006/main">
              <a:ext uri="{FF2B5EF4-FFF2-40B4-BE49-F238E27FC236}">
                <a16:creationId xmlns:a16="http://schemas.microsoft.com/office/drawing/2014/main" id="{95DE5E21-618B-467D-87A4-D412DCA5265E}"/>
              </a:ext>
            </a:extLst>
          </p:cNvPr>
          <p:cNvSpPr>
            <a:spLocks xmlns:a="http://schemas.openxmlformats.org/drawingml/2006/main" noGrp="1"/>
          </p:cNvSpPr>
          <p:nvPr/>
        </p:nvSpPr>
        <p:spPr>
          <a:xfrm xmlns:a="http://schemas.openxmlformats.org/drawingml/2006/main">
            <a:off x="836295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F4A261"/>
                </a:solidFill>
                <a:latin typeface="Arial"/>
                <a:ea typeface="Arial"/>
                <a:cs typeface="Arial"/>
              </a:defRPr>
            </a:defPPr>
          </a:lstStyle>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50 Maschinen</a:t>
            </a:r>
          </a:p>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220 Komponenten</a:t>
            </a:r>
          </a:p>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400 Beziehungen</a:t>
            </a:r>
          </a:p>
        </p:txBody>
      </p:sp>
      <p:sp>
        <p:nvSpPr>
          <p:cNvPr id="22" name="">
            <a:extLst xmlns:a="http://schemas.openxmlformats.org/drawingml/2006/main">
              <a:ext uri="{FF2B5EF4-FFF2-40B4-BE49-F238E27FC236}">
                <a16:creationId xmlns:a16="http://schemas.microsoft.com/office/drawing/2014/main" id="{4B4EB43F-0095-4854-AB24-62B82D9F146D}"/>
              </a:ext>
            </a:extLst>
          </p:cNvPr>
          <p:cNvSpPr>
            <a:spLocks xmlns:a="http://schemas.openxmlformats.org/drawingml/2006/main" noGrp="1"/>
          </p:cNvSpPr>
          <p:nvPr/>
        </p:nvSpPr>
        <p:spPr>
          <a:xfrm xmlns:a="http://schemas.openxmlformats.org/drawingml/2006/main">
            <a:off x="824865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Cypher · Constraints · MERGE</a:t>
            </a:r>
          </a:p>
        </p:txBody>
      </p:sp>
    </p:spTree>
    <p:extLst>
      <p:ext uri="{BB962C8B-B14F-4D97-AF65-F5344CB8AC3E}">
        <p14:creationId xmlns:p14="http://schemas.microsoft.com/office/powerpoint/2010/main" val="47803510"/>
      </p:ext>
    </p:extLst>
  </p:cSld>
</p:sld>
</file>

<file path=ppt/slides/slide6.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1CA877CA-BD8C-4A30-9A70-4543F61A6CB9}"/>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AIRFLOW &amp; ETL</a:t>
            </a:r>
          </a:p>
        </p:txBody>
      </p:sp>
      <p:sp>
        <p:nvSpPr>
          <p:cNvPr id="2" name="">
            <a:extLst xmlns:a="http://schemas.openxmlformats.org/drawingml/2006/main">
              <a:ext uri="{FF2B5EF4-FFF2-40B4-BE49-F238E27FC236}">
                <a16:creationId xmlns:a16="http://schemas.microsoft.com/office/drawing/2014/main" id="{DBF1D7C7-79DB-4CEA-A89A-65F769E4A7DE}"/>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Zehn Tasks, ein reproduzierbarer Full-DAG</a:t>
            </a:r>
          </a:p>
        </p:txBody>
      </p:sp>
      <p:sp>
        <p:nvSpPr>
          <p:cNvPr id="3" name="">
            <a:extLst xmlns:a="http://schemas.openxmlformats.org/drawingml/2006/main">
              <a:ext uri="{FF2B5EF4-FFF2-40B4-BE49-F238E27FC236}">
                <a16:creationId xmlns:a16="http://schemas.microsoft.com/office/drawing/2014/main" id="{42D577BB-9798-47F1-A48F-112CA60344ED}"/>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FF7E60-FDBA-4238-8A28-DF31E2D113D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006CDCC-8574-403F-B32B-A4A322C57F2F}"/>
              </a:ext>
            </a:extLst>
          </p:cNvPr>
          <p:cNvSpPr>
            <a:spLocks xmlns:a="http://schemas.openxmlformats.org/drawingml/2006/main" noGrp="1"/>
          </p:cNvSpPr>
          <p:nvPr/>
        </p:nvSpPr>
        <p:spPr>
          <a:xfrm xmlns:a="http://schemas.openxmlformats.org/drawingml/2006/main">
            <a:off x="5524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6DEDAEFB-B02D-41DF-B8F3-A19760DD0FA4}"/>
              </a:ext>
            </a:extLst>
          </p:cNvPr>
          <p:cNvSpPr>
            <a:spLocks xmlns:a="http://schemas.openxmlformats.org/drawingml/2006/main" noGrp="1"/>
          </p:cNvSpPr>
          <p:nvPr/>
        </p:nvSpPr>
        <p:spPr>
          <a:xfrm xmlns:a="http://schemas.openxmlformats.org/drawingml/2006/main">
            <a:off x="6381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E159292-640F-4F68-B2C4-25323AF062BF}"/>
              </a:ext>
            </a:extLst>
          </p:cNvPr>
          <p:cNvSpPr>
            <a:spLocks xmlns:a="http://schemas.openxmlformats.org/drawingml/2006/main" noGrp="1"/>
          </p:cNvSpPr>
          <p:nvPr/>
        </p:nvSpPr>
        <p:spPr>
          <a:xfrm xmlns:a="http://schemas.openxmlformats.org/drawingml/2006/main">
            <a:off x="6286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Quellen</a:t>
            </a:r>
          </a:p>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prüfen</a:t>
            </a:r>
          </a:p>
        </p:txBody>
      </p:sp>
      <p:sp>
        <p:nvSpPr>
          <p:cNvPr id="8" name="">
            <a:extLst xmlns:a="http://schemas.openxmlformats.org/drawingml/2006/main">
              <a:ext uri="{FF2B5EF4-FFF2-40B4-BE49-F238E27FC236}">
                <a16:creationId xmlns:a16="http://schemas.microsoft.com/office/drawing/2014/main" id="{E3DBFF7B-1A5E-4207-AF3B-99DC6D7666BA}"/>
              </a:ext>
            </a:extLst>
          </p:cNvPr>
          <p:cNvSpPr>
            <a:spLocks xmlns:a="http://schemas.openxmlformats.org/drawingml/2006/main" noGrp="1"/>
          </p:cNvSpPr>
          <p:nvPr/>
        </p:nvSpPr>
        <p:spPr>
          <a:xfrm xmlns:a="http://schemas.openxmlformats.org/drawingml/2006/main">
            <a:off x="14859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3464BA7C-DA2B-4D7E-891C-BB64C303E4B8}"/>
              </a:ext>
            </a:extLst>
          </p:cNvPr>
          <p:cNvSpPr>
            <a:spLocks xmlns:a="http://schemas.openxmlformats.org/drawingml/2006/main" noGrp="1"/>
          </p:cNvSpPr>
          <p:nvPr/>
        </p:nvSpPr>
        <p:spPr>
          <a:xfrm xmlns:a="http://schemas.openxmlformats.org/drawingml/2006/main">
            <a:off x="16573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D4AC3A41-A29E-4DDE-BAA6-8B9AAAB0A0CB}"/>
              </a:ext>
            </a:extLst>
          </p:cNvPr>
          <p:cNvSpPr>
            <a:spLocks xmlns:a="http://schemas.openxmlformats.org/drawingml/2006/main" noGrp="1"/>
          </p:cNvSpPr>
          <p:nvPr/>
        </p:nvSpPr>
        <p:spPr>
          <a:xfrm xmlns:a="http://schemas.openxmlformats.org/drawingml/2006/main">
            <a:off x="17430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3E67C84-451B-4B23-BD7F-6148E16314EC}"/>
              </a:ext>
            </a:extLst>
          </p:cNvPr>
          <p:cNvSpPr>
            <a:spLocks xmlns:a="http://schemas.openxmlformats.org/drawingml/2006/main" noGrp="1"/>
          </p:cNvSpPr>
          <p:nvPr/>
        </p:nvSpPr>
        <p:spPr>
          <a:xfrm xmlns:a="http://schemas.openxmlformats.org/drawingml/2006/main">
            <a:off x="17335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273"/>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Extrahieren</a:t>
            </a:r>
          </a:p>
        </p:txBody>
      </p:sp>
      <p:sp>
        <p:nvSpPr>
          <p:cNvPr id="12" name="">
            <a:extLst xmlns:a="http://schemas.openxmlformats.org/drawingml/2006/main">
              <a:ext uri="{FF2B5EF4-FFF2-40B4-BE49-F238E27FC236}">
                <a16:creationId xmlns:a16="http://schemas.microsoft.com/office/drawing/2014/main" id="{2666DEC8-F832-4E8B-8A43-EFAADD7A9DF6}"/>
              </a:ext>
            </a:extLst>
          </p:cNvPr>
          <p:cNvSpPr>
            <a:spLocks xmlns:a="http://schemas.openxmlformats.org/drawingml/2006/main" noGrp="1"/>
          </p:cNvSpPr>
          <p:nvPr/>
        </p:nvSpPr>
        <p:spPr>
          <a:xfrm xmlns:a="http://schemas.openxmlformats.org/drawingml/2006/main">
            <a:off x="25908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AFAE1899-B8AC-4E69-8A26-6580D3075AE6}"/>
              </a:ext>
            </a:extLst>
          </p:cNvPr>
          <p:cNvSpPr>
            <a:spLocks xmlns:a="http://schemas.openxmlformats.org/drawingml/2006/main" noGrp="1"/>
          </p:cNvSpPr>
          <p:nvPr/>
        </p:nvSpPr>
        <p:spPr>
          <a:xfrm xmlns:a="http://schemas.openxmlformats.org/drawingml/2006/main">
            <a:off x="27622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90D6790B-15FF-4E72-9222-BE4D01D890BC}"/>
              </a:ext>
            </a:extLst>
          </p:cNvPr>
          <p:cNvSpPr>
            <a:spLocks xmlns:a="http://schemas.openxmlformats.org/drawingml/2006/main" noGrp="1"/>
          </p:cNvSpPr>
          <p:nvPr/>
        </p:nvSpPr>
        <p:spPr>
          <a:xfrm xmlns:a="http://schemas.openxmlformats.org/drawingml/2006/main">
            <a:off x="28479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7AA948B-73BE-435F-850A-BB67A26EEBE6}"/>
              </a:ext>
            </a:extLst>
          </p:cNvPr>
          <p:cNvSpPr>
            <a:spLocks xmlns:a="http://schemas.openxmlformats.org/drawingml/2006/main" noGrp="1"/>
          </p:cNvSpPr>
          <p:nvPr/>
        </p:nvSpPr>
        <p:spPr>
          <a:xfrm xmlns:a="http://schemas.openxmlformats.org/drawingml/2006/main">
            <a:off x="28384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Normalisieren</a:t>
            </a:r>
          </a:p>
        </p:txBody>
      </p:sp>
      <p:sp>
        <p:nvSpPr>
          <p:cNvPr id="16" name="">
            <a:extLst xmlns:a="http://schemas.openxmlformats.org/drawingml/2006/main">
              <a:ext uri="{FF2B5EF4-FFF2-40B4-BE49-F238E27FC236}">
                <a16:creationId xmlns:a16="http://schemas.microsoft.com/office/drawing/2014/main" id="{9EC442E1-ADCD-430D-84F5-A9F858BA617B}"/>
              </a:ext>
            </a:extLst>
          </p:cNvPr>
          <p:cNvSpPr>
            <a:spLocks xmlns:a="http://schemas.openxmlformats.org/drawingml/2006/main" noGrp="1"/>
          </p:cNvSpPr>
          <p:nvPr/>
        </p:nvSpPr>
        <p:spPr>
          <a:xfrm xmlns:a="http://schemas.openxmlformats.org/drawingml/2006/main">
            <a:off x="36957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D63446DA-5EA4-480F-BCE2-D9C7831E4AB1}"/>
              </a:ext>
            </a:extLst>
          </p:cNvPr>
          <p:cNvSpPr>
            <a:spLocks xmlns:a="http://schemas.openxmlformats.org/drawingml/2006/main" noGrp="1"/>
          </p:cNvSpPr>
          <p:nvPr/>
        </p:nvSpPr>
        <p:spPr>
          <a:xfrm xmlns:a="http://schemas.openxmlformats.org/drawingml/2006/main">
            <a:off x="38671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6E64D226-EE3C-4EB8-9B76-109CA52CE840}"/>
              </a:ext>
            </a:extLst>
          </p:cNvPr>
          <p:cNvSpPr>
            <a:spLocks xmlns:a="http://schemas.openxmlformats.org/drawingml/2006/main" noGrp="1"/>
          </p:cNvSpPr>
          <p:nvPr/>
        </p:nvSpPr>
        <p:spPr>
          <a:xfrm xmlns:a="http://schemas.openxmlformats.org/drawingml/2006/main">
            <a:off x="39528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D656F601-9906-404D-B985-9D05A5D731A7}"/>
              </a:ext>
            </a:extLst>
          </p:cNvPr>
          <p:cNvSpPr>
            <a:spLocks xmlns:a="http://schemas.openxmlformats.org/drawingml/2006/main" noGrp="1"/>
          </p:cNvSpPr>
          <p:nvPr/>
        </p:nvSpPr>
        <p:spPr>
          <a:xfrm xmlns:a="http://schemas.openxmlformats.org/drawingml/2006/main">
            <a:off x="39433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Spark</a:t>
            </a:r>
          </a:p>
        </p:txBody>
      </p:sp>
      <p:sp>
        <p:nvSpPr>
          <p:cNvPr id="20" name="">
            <a:extLst xmlns:a="http://schemas.openxmlformats.org/drawingml/2006/main">
              <a:ext uri="{FF2B5EF4-FFF2-40B4-BE49-F238E27FC236}">
                <a16:creationId xmlns:a16="http://schemas.microsoft.com/office/drawing/2014/main" id="{0299E7D0-F883-48A4-A3A7-695924ED2AE6}"/>
              </a:ext>
            </a:extLst>
          </p:cNvPr>
          <p:cNvSpPr>
            <a:spLocks xmlns:a="http://schemas.openxmlformats.org/drawingml/2006/main" noGrp="1"/>
          </p:cNvSpPr>
          <p:nvPr/>
        </p:nvSpPr>
        <p:spPr>
          <a:xfrm xmlns:a="http://schemas.openxmlformats.org/drawingml/2006/main">
            <a:off x="48006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374DC06E-85C4-467E-A382-3FBB89FAE5E0}"/>
              </a:ext>
            </a:extLst>
          </p:cNvPr>
          <p:cNvSpPr>
            <a:spLocks xmlns:a="http://schemas.openxmlformats.org/drawingml/2006/main" noGrp="1"/>
          </p:cNvSpPr>
          <p:nvPr/>
        </p:nvSpPr>
        <p:spPr>
          <a:xfrm xmlns:a="http://schemas.openxmlformats.org/drawingml/2006/main">
            <a:off x="49720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7FD4E0E0-135F-4A4D-A7F8-6B8E2B02A849}"/>
              </a:ext>
            </a:extLst>
          </p:cNvPr>
          <p:cNvSpPr>
            <a:spLocks xmlns:a="http://schemas.openxmlformats.org/drawingml/2006/main" noGrp="1"/>
          </p:cNvSpPr>
          <p:nvPr/>
        </p:nvSpPr>
        <p:spPr>
          <a:xfrm xmlns:a="http://schemas.openxmlformats.org/drawingml/2006/main">
            <a:off x="50577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99A5E505-7054-4C8F-A4DB-E3F97290893B}"/>
              </a:ext>
            </a:extLst>
          </p:cNvPr>
          <p:cNvSpPr>
            <a:spLocks xmlns:a="http://schemas.openxmlformats.org/drawingml/2006/main" noGrp="1"/>
          </p:cNvSpPr>
          <p:nvPr/>
        </p:nvSpPr>
        <p:spPr>
          <a:xfrm xmlns:a="http://schemas.openxmlformats.org/drawingml/2006/main">
            <a:off x="50482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Metriken</a:t>
            </a:r>
          </a:p>
        </p:txBody>
      </p:sp>
      <p:sp>
        <p:nvSpPr>
          <p:cNvPr id="24" name="">
            <a:extLst xmlns:a="http://schemas.openxmlformats.org/drawingml/2006/main">
              <a:ext uri="{FF2B5EF4-FFF2-40B4-BE49-F238E27FC236}">
                <a16:creationId xmlns:a16="http://schemas.microsoft.com/office/drawing/2014/main" id="{F2DF6EB2-B897-4BF0-8A68-A33D75721391}"/>
              </a:ext>
            </a:extLst>
          </p:cNvPr>
          <p:cNvSpPr>
            <a:spLocks xmlns:a="http://schemas.openxmlformats.org/drawingml/2006/main" noGrp="1"/>
          </p:cNvSpPr>
          <p:nvPr/>
        </p:nvSpPr>
        <p:spPr>
          <a:xfrm xmlns:a="http://schemas.openxmlformats.org/drawingml/2006/main">
            <a:off x="59055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32522C30-994F-40F0-AE24-75344E086386}"/>
              </a:ext>
            </a:extLst>
          </p:cNvPr>
          <p:cNvSpPr>
            <a:spLocks xmlns:a="http://schemas.openxmlformats.org/drawingml/2006/main" noGrp="1"/>
          </p:cNvSpPr>
          <p:nvPr/>
        </p:nvSpPr>
        <p:spPr>
          <a:xfrm xmlns:a="http://schemas.openxmlformats.org/drawingml/2006/main">
            <a:off x="60769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386DCD03-4839-4223-B10B-42C7658644BE}"/>
              </a:ext>
            </a:extLst>
          </p:cNvPr>
          <p:cNvSpPr>
            <a:spLocks xmlns:a="http://schemas.openxmlformats.org/drawingml/2006/main" noGrp="1"/>
          </p:cNvSpPr>
          <p:nvPr/>
        </p:nvSpPr>
        <p:spPr>
          <a:xfrm xmlns:a="http://schemas.openxmlformats.org/drawingml/2006/main">
            <a:off x="61626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E6056760-7676-4379-B468-61B5C1B8074D}"/>
              </a:ext>
            </a:extLst>
          </p:cNvPr>
          <p:cNvSpPr>
            <a:spLocks xmlns:a="http://schemas.openxmlformats.org/drawingml/2006/main" noGrp="1"/>
          </p:cNvSpPr>
          <p:nvPr/>
        </p:nvSpPr>
        <p:spPr>
          <a:xfrm xmlns:a="http://schemas.openxmlformats.org/drawingml/2006/main">
            <a:off x="61531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MLlib</a:t>
            </a:r>
          </a:p>
        </p:txBody>
      </p:sp>
      <p:sp>
        <p:nvSpPr>
          <p:cNvPr id="28" name="">
            <a:extLst xmlns:a="http://schemas.openxmlformats.org/drawingml/2006/main">
              <a:ext uri="{FF2B5EF4-FFF2-40B4-BE49-F238E27FC236}">
                <a16:creationId xmlns:a16="http://schemas.microsoft.com/office/drawing/2014/main" id="{BB4485B1-3F17-45AE-87A8-31B8D447005C}"/>
              </a:ext>
            </a:extLst>
          </p:cNvPr>
          <p:cNvSpPr>
            <a:spLocks xmlns:a="http://schemas.openxmlformats.org/drawingml/2006/main" noGrp="1"/>
          </p:cNvSpPr>
          <p:nvPr/>
        </p:nvSpPr>
        <p:spPr>
          <a:xfrm xmlns:a="http://schemas.openxmlformats.org/drawingml/2006/main">
            <a:off x="70104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9" name="">
            <a:extLst xmlns:a="http://schemas.openxmlformats.org/drawingml/2006/main">
              <a:ext uri="{FF2B5EF4-FFF2-40B4-BE49-F238E27FC236}">
                <a16:creationId xmlns:a16="http://schemas.microsoft.com/office/drawing/2014/main" id="{F54A3565-9420-4470-B47C-62310DAB587E}"/>
              </a:ext>
            </a:extLst>
          </p:cNvPr>
          <p:cNvSpPr>
            <a:spLocks xmlns:a="http://schemas.openxmlformats.org/drawingml/2006/main" noGrp="1"/>
          </p:cNvSpPr>
          <p:nvPr/>
        </p:nvSpPr>
        <p:spPr>
          <a:xfrm xmlns:a="http://schemas.openxmlformats.org/drawingml/2006/main">
            <a:off x="71818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0" name="">
            <a:extLst xmlns:a="http://schemas.openxmlformats.org/drawingml/2006/main">
              <a:ext uri="{FF2B5EF4-FFF2-40B4-BE49-F238E27FC236}">
                <a16:creationId xmlns:a16="http://schemas.microsoft.com/office/drawing/2014/main" id="{50BB46D2-D37B-4C21-B8F1-C4A5D5635291}"/>
              </a:ext>
            </a:extLst>
          </p:cNvPr>
          <p:cNvSpPr>
            <a:spLocks xmlns:a="http://schemas.openxmlformats.org/drawingml/2006/main" noGrp="1"/>
          </p:cNvSpPr>
          <p:nvPr/>
        </p:nvSpPr>
        <p:spPr>
          <a:xfrm xmlns:a="http://schemas.openxmlformats.org/drawingml/2006/main">
            <a:off x="72675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07</a:t>
            </a:r>
          </a:p>
        </p:txBody>
      </p:sp>
      <p:sp>
        <p:nvSpPr>
          <p:cNvPr id="31" name="">
            <a:extLst xmlns:a="http://schemas.openxmlformats.org/drawingml/2006/main">
              <a:ext uri="{FF2B5EF4-FFF2-40B4-BE49-F238E27FC236}">
                <a16:creationId xmlns:a16="http://schemas.microsoft.com/office/drawing/2014/main" id="{64E98BFB-7030-4F15-8249-82A1E413DDB6}"/>
              </a:ext>
            </a:extLst>
          </p:cNvPr>
          <p:cNvSpPr>
            <a:spLocks xmlns:a="http://schemas.openxmlformats.org/drawingml/2006/main" noGrp="1"/>
          </p:cNvSpPr>
          <p:nvPr/>
        </p:nvSpPr>
        <p:spPr>
          <a:xfrm xmlns:a="http://schemas.openxmlformats.org/drawingml/2006/main">
            <a:off x="72580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PostgreSQL</a:t>
            </a:r>
          </a:p>
        </p:txBody>
      </p:sp>
      <p:sp>
        <p:nvSpPr>
          <p:cNvPr id="32" name="">
            <a:extLst xmlns:a="http://schemas.openxmlformats.org/drawingml/2006/main">
              <a:ext uri="{FF2B5EF4-FFF2-40B4-BE49-F238E27FC236}">
                <a16:creationId xmlns:a16="http://schemas.microsoft.com/office/drawing/2014/main" id="{AFCCD5EF-CB1F-4E4F-B12D-A99525094E96}"/>
              </a:ext>
            </a:extLst>
          </p:cNvPr>
          <p:cNvSpPr>
            <a:spLocks xmlns:a="http://schemas.openxmlformats.org/drawingml/2006/main" noGrp="1"/>
          </p:cNvSpPr>
          <p:nvPr/>
        </p:nvSpPr>
        <p:spPr>
          <a:xfrm xmlns:a="http://schemas.openxmlformats.org/drawingml/2006/main">
            <a:off x="81153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3" name="">
            <a:extLst xmlns:a="http://schemas.openxmlformats.org/drawingml/2006/main">
              <a:ext uri="{FF2B5EF4-FFF2-40B4-BE49-F238E27FC236}">
                <a16:creationId xmlns:a16="http://schemas.microsoft.com/office/drawing/2014/main" id="{6E63419A-6ABB-46BF-BE76-1C65E08657B8}"/>
              </a:ext>
            </a:extLst>
          </p:cNvPr>
          <p:cNvSpPr>
            <a:spLocks xmlns:a="http://schemas.openxmlformats.org/drawingml/2006/main" noGrp="1"/>
          </p:cNvSpPr>
          <p:nvPr/>
        </p:nvSpPr>
        <p:spPr>
          <a:xfrm xmlns:a="http://schemas.openxmlformats.org/drawingml/2006/main">
            <a:off x="82867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4" name="">
            <a:extLst xmlns:a="http://schemas.openxmlformats.org/drawingml/2006/main">
              <a:ext uri="{FF2B5EF4-FFF2-40B4-BE49-F238E27FC236}">
                <a16:creationId xmlns:a16="http://schemas.microsoft.com/office/drawing/2014/main" id="{E0557662-6FD6-4CBE-ADD4-6F5C8E18418A}"/>
              </a:ext>
            </a:extLst>
          </p:cNvPr>
          <p:cNvSpPr>
            <a:spLocks xmlns:a="http://schemas.openxmlformats.org/drawingml/2006/main" noGrp="1"/>
          </p:cNvSpPr>
          <p:nvPr/>
        </p:nvSpPr>
        <p:spPr>
          <a:xfrm xmlns:a="http://schemas.openxmlformats.org/drawingml/2006/main">
            <a:off x="83724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08</a:t>
            </a:r>
          </a:p>
        </p:txBody>
      </p:sp>
      <p:sp>
        <p:nvSpPr>
          <p:cNvPr id="35" name="">
            <a:extLst xmlns:a="http://schemas.openxmlformats.org/drawingml/2006/main">
              <a:ext uri="{FF2B5EF4-FFF2-40B4-BE49-F238E27FC236}">
                <a16:creationId xmlns:a16="http://schemas.microsoft.com/office/drawing/2014/main" id="{85D03030-6A60-463B-9093-3D6EFE375352}"/>
              </a:ext>
            </a:extLst>
          </p:cNvPr>
          <p:cNvSpPr>
            <a:spLocks xmlns:a="http://schemas.openxmlformats.org/drawingml/2006/main" noGrp="1"/>
          </p:cNvSpPr>
          <p:nvPr/>
        </p:nvSpPr>
        <p:spPr>
          <a:xfrm xmlns:a="http://schemas.openxmlformats.org/drawingml/2006/main">
            <a:off x="83629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Neo4j</a:t>
            </a:r>
          </a:p>
        </p:txBody>
      </p:sp>
      <p:sp>
        <p:nvSpPr>
          <p:cNvPr id="36" name="">
            <a:extLst xmlns:a="http://schemas.openxmlformats.org/drawingml/2006/main">
              <a:ext uri="{FF2B5EF4-FFF2-40B4-BE49-F238E27FC236}">
                <a16:creationId xmlns:a16="http://schemas.microsoft.com/office/drawing/2014/main" id="{D405B4C7-CBAE-4ED5-9814-9074C5231C4F}"/>
              </a:ext>
            </a:extLst>
          </p:cNvPr>
          <p:cNvSpPr>
            <a:spLocks xmlns:a="http://schemas.openxmlformats.org/drawingml/2006/main" noGrp="1"/>
          </p:cNvSpPr>
          <p:nvPr/>
        </p:nvSpPr>
        <p:spPr>
          <a:xfrm xmlns:a="http://schemas.openxmlformats.org/drawingml/2006/main">
            <a:off x="92202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7" name="">
            <a:extLst xmlns:a="http://schemas.openxmlformats.org/drawingml/2006/main">
              <a:ext uri="{FF2B5EF4-FFF2-40B4-BE49-F238E27FC236}">
                <a16:creationId xmlns:a16="http://schemas.microsoft.com/office/drawing/2014/main" id="{BF4945E9-29B6-4983-99DC-5E23DA9AA4C7}"/>
              </a:ext>
            </a:extLst>
          </p:cNvPr>
          <p:cNvSpPr>
            <a:spLocks xmlns:a="http://schemas.openxmlformats.org/drawingml/2006/main" noGrp="1"/>
          </p:cNvSpPr>
          <p:nvPr/>
        </p:nvSpPr>
        <p:spPr>
          <a:xfrm xmlns:a="http://schemas.openxmlformats.org/drawingml/2006/main">
            <a:off x="9391650" y="1714500"/>
            <a:ext cx="933450" cy="781050"/>
          </a:xfrm>
          <a:prstGeom xmlns:a="http://schemas.openxmlformats.org/drawingml/2006/main" prst="roundRect">
            <a:avLst>
              <a:gd name="adj" fmla="val 14634"/>
            </a:avLst>
          </a:prstGeom>
          <a:solidFill xmlns:a="http://schemas.openxmlformats.org/drawingml/2006/main">
            <a:srgbClr val="FFF2E7"/>
          </a:solidFill>
          <a:ln xmlns:a="http://schemas.openxmlformats.org/drawingml/2006/main" w="9525">
            <a:solidFill>
              <a:srgbClr val="F4A261"/>
            </a:solidFill>
            <a:prstDash val="solid"/>
          </a:ln>
        </p:spPr>
      </p:sp>
      <p:sp>
        <p:nvSpPr>
          <p:cNvPr id="38" name="">
            <a:extLst xmlns:a="http://schemas.openxmlformats.org/drawingml/2006/main">
              <a:ext uri="{FF2B5EF4-FFF2-40B4-BE49-F238E27FC236}">
                <a16:creationId xmlns:a16="http://schemas.microsoft.com/office/drawing/2014/main" id="{6E3CC9F1-6800-405D-B055-8D50E4B3A662}"/>
              </a:ext>
            </a:extLst>
          </p:cNvPr>
          <p:cNvSpPr>
            <a:spLocks xmlns:a="http://schemas.openxmlformats.org/drawingml/2006/main" noGrp="1"/>
          </p:cNvSpPr>
          <p:nvPr/>
        </p:nvSpPr>
        <p:spPr>
          <a:xfrm xmlns:a="http://schemas.openxmlformats.org/drawingml/2006/main">
            <a:off x="94773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C8553D"/>
                </a:solidFill>
                <a:latin typeface="Arial"/>
                <a:ea typeface="Arial"/>
                <a:cs typeface="Arial"/>
              </a:defRPr>
            </a:defPPr>
          </a:lstStyle>
          <a:p xmlns:a="http://schemas.openxmlformats.org/drawingml/2006/main">
            <a:pPr algn="l">
              <a:defRPr sz="750" b="1">
                <a:solidFill>
                  <a:srgbClr val="C8553D"/>
                </a:solidFill>
                <a:latin typeface="Arial"/>
                <a:ea typeface="Arial"/>
                <a:cs typeface="Arial"/>
              </a:defRPr>
            </a:pPr>
            <a:r>
              <a:rPr sz="750" b="1">
                <a:solidFill>
                  <a:srgbClr val="C8553D"/>
                </a:solidFill>
                <a:latin typeface="Arial"/>
                <a:ea typeface="Arial"/>
                <a:cs typeface="Arial"/>
              </a:rPr>
              <a:t>09</a:t>
            </a:r>
          </a:p>
        </p:txBody>
      </p:sp>
      <p:sp>
        <p:nvSpPr>
          <p:cNvPr id="39" name="">
            <a:extLst xmlns:a="http://schemas.openxmlformats.org/drawingml/2006/main">
              <a:ext uri="{FF2B5EF4-FFF2-40B4-BE49-F238E27FC236}">
                <a16:creationId xmlns:a16="http://schemas.microsoft.com/office/drawing/2014/main" id="{F7DB12A3-914F-4347-B250-1BCFC214D79D}"/>
              </a:ext>
            </a:extLst>
          </p:cNvPr>
          <p:cNvSpPr>
            <a:spLocks xmlns:a="http://schemas.openxmlformats.org/drawingml/2006/main" noGrp="1"/>
          </p:cNvSpPr>
          <p:nvPr/>
        </p:nvSpPr>
        <p:spPr>
          <a:xfrm xmlns:a="http://schemas.openxmlformats.org/drawingml/2006/main">
            <a:off x="94678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Quality Gate</a:t>
            </a:r>
          </a:p>
        </p:txBody>
      </p:sp>
      <p:sp>
        <p:nvSpPr>
          <p:cNvPr id="40" name="">
            <a:extLst xmlns:a="http://schemas.openxmlformats.org/drawingml/2006/main">
              <a:ext uri="{FF2B5EF4-FFF2-40B4-BE49-F238E27FC236}">
                <a16:creationId xmlns:a16="http://schemas.microsoft.com/office/drawing/2014/main" id="{662BA553-A1BB-41A4-AC92-FC402A38AF9B}"/>
              </a:ext>
            </a:extLst>
          </p:cNvPr>
          <p:cNvSpPr>
            <a:spLocks xmlns:a="http://schemas.openxmlformats.org/drawingml/2006/main" noGrp="1"/>
          </p:cNvSpPr>
          <p:nvPr/>
        </p:nvSpPr>
        <p:spPr>
          <a:xfrm xmlns:a="http://schemas.openxmlformats.org/drawingml/2006/main">
            <a:off x="103251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41" name="">
            <a:extLst xmlns:a="http://schemas.openxmlformats.org/drawingml/2006/main">
              <a:ext uri="{FF2B5EF4-FFF2-40B4-BE49-F238E27FC236}">
                <a16:creationId xmlns:a16="http://schemas.microsoft.com/office/drawing/2014/main" id="{630ED3CC-FBB5-42B9-A789-FCDAA910F5C7}"/>
              </a:ext>
            </a:extLst>
          </p:cNvPr>
          <p:cNvSpPr>
            <a:spLocks xmlns:a="http://schemas.openxmlformats.org/drawingml/2006/main" noGrp="1"/>
          </p:cNvSpPr>
          <p:nvPr/>
        </p:nvSpPr>
        <p:spPr>
          <a:xfrm xmlns:a="http://schemas.openxmlformats.org/drawingml/2006/main">
            <a:off x="104965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42" name="">
            <a:extLst xmlns:a="http://schemas.openxmlformats.org/drawingml/2006/main">
              <a:ext uri="{FF2B5EF4-FFF2-40B4-BE49-F238E27FC236}">
                <a16:creationId xmlns:a16="http://schemas.microsoft.com/office/drawing/2014/main" id="{E30448A7-610F-4116-85B8-8FDA060C948F}"/>
              </a:ext>
            </a:extLst>
          </p:cNvPr>
          <p:cNvSpPr>
            <a:spLocks xmlns:a="http://schemas.openxmlformats.org/drawingml/2006/main" noGrp="1"/>
          </p:cNvSpPr>
          <p:nvPr/>
        </p:nvSpPr>
        <p:spPr>
          <a:xfrm xmlns:a="http://schemas.openxmlformats.org/drawingml/2006/main">
            <a:off x="105822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10</a:t>
            </a:r>
          </a:p>
        </p:txBody>
      </p:sp>
      <p:sp>
        <p:nvSpPr>
          <p:cNvPr id="43" name="">
            <a:extLst xmlns:a="http://schemas.openxmlformats.org/drawingml/2006/main">
              <a:ext uri="{FF2B5EF4-FFF2-40B4-BE49-F238E27FC236}">
                <a16:creationId xmlns:a16="http://schemas.microsoft.com/office/drawing/2014/main" id="{4E0FE3A1-8145-4C9F-BFFD-94CE6C028D18}"/>
              </a:ext>
            </a:extLst>
          </p:cNvPr>
          <p:cNvSpPr>
            <a:spLocks xmlns:a="http://schemas.openxmlformats.org/drawingml/2006/main" noGrp="1"/>
          </p:cNvSpPr>
          <p:nvPr/>
        </p:nvSpPr>
        <p:spPr>
          <a:xfrm xmlns:a="http://schemas.openxmlformats.org/drawingml/2006/main">
            <a:off x="105727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Summary</a:t>
            </a:r>
          </a:p>
        </p:txBody>
      </p:sp>
      <p:sp>
        <p:nvSpPr>
          <p:cNvPr id="44" name="">
            <a:extLst xmlns:a="http://schemas.openxmlformats.org/drawingml/2006/main">
              <a:ext uri="{FF2B5EF4-FFF2-40B4-BE49-F238E27FC236}">
                <a16:creationId xmlns:a16="http://schemas.microsoft.com/office/drawing/2014/main" id="{EC6A36CB-7415-48B1-BB7C-AEED33D433D2}"/>
              </a:ext>
            </a:extLst>
          </p:cNvPr>
          <p:cNvSpPr>
            <a:spLocks xmlns:a="http://schemas.openxmlformats.org/drawingml/2006/main" noGrp="1"/>
          </p:cNvSpPr>
          <p:nvPr/>
        </p:nvSpPr>
        <p:spPr>
          <a:xfrm xmlns:a="http://schemas.openxmlformats.org/drawingml/2006/main">
            <a:off x="6858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5" name="">
            <a:extLst xmlns:a="http://schemas.openxmlformats.org/drawingml/2006/main">
              <a:ext uri="{FF2B5EF4-FFF2-40B4-BE49-F238E27FC236}">
                <a16:creationId xmlns:a16="http://schemas.microsoft.com/office/drawing/2014/main" id="{84690334-1C0F-4319-B699-863661E729C4}"/>
              </a:ext>
            </a:extLst>
          </p:cNvPr>
          <p:cNvSpPr>
            <a:spLocks xmlns:a="http://schemas.openxmlformats.org/drawingml/2006/main" noGrp="1"/>
          </p:cNvSpPr>
          <p:nvPr/>
        </p:nvSpPr>
        <p:spPr>
          <a:xfrm xmlns:a="http://schemas.openxmlformats.org/drawingml/2006/main">
            <a:off x="685800" y="30670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678FBCF-E714-404D-B35D-03A7BB2FD0C7}"/>
              </a:ext>
            </a:extLst>
          </p:cNvPr>
          <p:cNvSpPr>
            <a:spLocks xmlns:a="http://schemas.openxmlformats.org/drawingml/2006/main" noGrp="1"/>
          </p:cNvSpPr>
          <p:nvPr/>
        </p:nvSpPr>
        <p:spPr>
          <a:xfrm xmlns:a="http://schemas.openxmlformats.org/drawingml/2006/main">
            <a:off x="9334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994.905</a:t>
            </a:r>
          </a:p>
        </p:txBody>
      </p:sp>
      <p:sp>
        <p:nvSpPr>
          <p:cNvPr id="47" name="">
            <a:extLst xmlns:a="http://schemas.openxmlformats.org/drawingml/2006/main">
              <a:ext uri="{FF2B5EF4-FFF2-40B4-BE49-F238E27FC236}">
                <a16:creationId xmlns:a16="http://schemas.microsoft.com/office/drawing/2014/main" id="{7BDB98EB-4437-4D2F-B8D8-2F29EDC1663D}"/>
              </a:ext>
            </a:extLst>
          </p:cNvPr>
          <p:cNvSpPr>
            <a:spLocks xmlns:a="http://schemas.openxmlformats.org/drawingml/2006/main" noGrp="1"/>
          </p:cNvSpPr>
          <p:nvPr/>
        </p:nvSpPr>
        <p:spPr>
          <a:xfrm xmlns:a="http://schemas.openxmlformats.org/drawingml/2006/main">
            <a:off x="9334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valide Messungen</a:t>
            </a:r>
          </a:p>
        </p:txBody>
      </p:sp>
      <p:sp>
        <p:nvSpPr>
          <p:cNvPr id="48" name="">
            <a:extLst xmlns:a="http://schemas.openxmlformats.org/drawingml/2006/main">
              <a:ext uri="{FF2B5EF4-FFF2-40B4-BE49-F238E27FC236}">
                <a16:creationId xmlns:a16="http://schemas.microsoft.com/office/drawing/2014/main" id="{668D393D-7282-408F-AFBC-83F59CEE9927}"/>
              </a:ext>
            </a:extLst>
          </p:cNvPr>
          <p:cNvSpPr>
            <a:spLocks xmlns:a="http://schemas.openxmlformats.org/drawingml/2006/main" noGrp="1"/>
          </p:cNvSpPr>
          <p:nvPr/>
        </p:nvSpPr>
        <p:spPr>
          <a:xfrm xmlns:a="http://schemas.openxmlformats.org/drawingml/2006/main">
            <a:off x="33337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9" name="">
            <a:extLst xmlns:a="http://schemas.openxmlformats.org/drawingml/2006/main">
              <a:ext uri="{FF2B5EF4-FFF2-40B4-BE49-F238E27FC236}">
                <a16:creationId xmlns:a16="http://schemas.microsoft.com/office/drawing/2014/main" id="{6B79278E-20FB-4D05-8710-9A4840E6751B}"/>
              </a:ext>
            </a:extLst>
          </p:cNvPr>
          <p:cNvSpPr>
            <a:spLocks xmlns:a="http://schemas.openxmlformats.org/drawingml/2006/main" noGrp="1"/>
          </p:cNvSpPr>
          <p:nvPr/>
        </p:nvSpPr>
        <p:spPr>
          <a:xfrm xmlns:a="http://schemas.openxmlformats.org/drawingml/2006/main">
            <a:off x="3333750" y="3067050"/>
            <a:ext cx="66675" cy="1200150"/>
          </a:xfrm>
          <a:prstGeom xmlns:a="http://schemas.openxmlformats.org/drawingml/2006/main" prst="roundRect">
            <a:avLst>
              <a:gd name="adj" fmla="val 50000"/>
            </a:avLst>
          </a:prstGeom>
          <a:solidFill xmlns:a="http://schemas.openxmlformats.org/drawingml/2006/main">
            <a:srgbClr val="C8553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8498FD-661C-4A00-9D63-6C7B8D17BE97}"/>
              </a:ext>
            </a:extLst>
          </p:cNvPr>
          <p:cNvSpPr>
            <a:spLocks xmlns:a="http://schemas.openxmlformats.org/drawingml/2006/main" noGrp="1"/>
          </p:cNvSpPr>
          <p:nvPr/>
        </p:nvSpPr>
        <p:spPr>
          <a:xfrm xmlns:a="http://schemas.openxmlformats.org/drawingml/2006/main">
            <a:off x="35814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5.095</a:t>
            </a:r>
          </a:p>
        </p:txBody>
      </p:sp>
      <p:sp>
        <p:nvSpPr>
          <p:cNvPr id="51" name="">
            <a:extLst xmlns:a="http://schemas.openxmlformats.org/drawingml/2006/main">
              <a:ext uri="{FF2B5EF4-FFF2-40B4-BE49-F238E27FC236}">
                <a16:creationId xmlns:a16="http://schemas.microsoft.com/office/drawing/2014/main" id="{401749EA-E569-4E9D-AED4-A477CFD5C84D}"/>
              </a:ext>
            </a:extLst>
          </p:cNvPr>
          <p:cNvSpPr>
            <a:spLocks xmlns:a="http://schemas.openxmlformats.org/drawingml/2006/main" noGrp="1"/>
          </p:cNvSpPr>
          <p:nvPr/>
        </p:nvSpPr>
        <p:spPr>
          <a:xfrm xmlns:a="http://schemas.openxmlformats.org/drawingml/2006/main">
            <a:off x="35814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Quarantänefälle</a:t>
            </a:r>
          </a:p>
        </p:txBody>
      </p:sp>
      <p:sp>
        <p:nvSpPr>
          <p:cNvPr id="52" name="">
            <a:extLst xmlns:a="http://schemas.openxmlformats.org/drawingml/2006/main">
              <a:ext uri="{FF2B5EF4-FFF2-40B4-BE49-F238E27FC236}">
                <a16:creationId xmlns:a16="http://schemas.microsoft.com/office/drawing/2014/main" id="{09554C76-75F5-42AC-9090-C82549AC3365}"/>
              </a:ext>
            </a:extLst>
          </p:cNvPr>
          <p:cNvSpPr>
            <a:spLocks xmlns:a="http://schemas.openxmlformats.org/drawingml/2006/main" noGrp="1"/>
          </p:cNvSpPr>
          <p:nvPr/>
        </p:nvSpPr>
        <p:spPr>
          <a:xfrm xmlns:a="http://schemas.openxmlformats.org/drawingml/2006/main">
            <a:off x="59817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3" name="">
            <a:extLst xmlns:a="http://schemas.openxmlformats.org/drawingml/2006/main">
              <a:ext uri="{FF2B5EF4-FFF2-40B4-BE49-F238E27FC236}">
                <a16:creationId xmlns:a16="http://schemas.microsoft.com/office/drawing/2014/main" id="{166395DE-9CCF-4759-B7F4-8969EC625112}"/>
              </a:ext>
            </a:extLst>
          </p:cNvPr>
          <p:cNvSpPr>
            <a:spLocks xmlns:a="http://schemas.openxmlformats.org/drawingml/2006/main" noGrp="1"/>
          </p:cNvSpPr>
          <p:nvPr/>
        </p:nvSpPr>
        <p:spPr>
          <a:xfrm xmlns:a="http://schemas.openxmlformats.org/drawingml/2006/main">
            <a:off x="5981700" y="30670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458EAFD-E358-44C6-8928-5F70BCCDCDBF}"/>
              </a:ext>
            </a:extLst>
          </p:cNvPr>
          <p:cNvSpPr>
            <a:spLocks xmlns:a="http://schemas.openxmlformats.org/drawingml/2006/main" noGrp="1"/>
          </p:cNvSpPr>
          <p:nvPr/>
        </p:nvSpPr>
        <p:spPr>
          <a:xfrm xmlns:a="http://schemas.openxmlformats.org/drawingml/2006/main">
            <a:off x="62293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0,51 %</a:t>
            </a:r>
          </a:p>
        </p:txBody>
      </p:sp>
      <p:sp>
        <p:nvSpPr>
          <p:cNvPr id="55" name="">
            <a:extLst xmlns:a="http://schemas.openxmlformats.org/drawingml/2006/main">
              <a:ext uri="{FF2B5EF4-FFF2-40B4-BE49-F238E27FC236}">
                <a16:creationId xmlns:a16="http://schemas.microsoft.com/office/drawing/2014/main" id="{67F577E6-E2F3-4DD3-88F2-5C217643087A}"/>
              </a:ext>
            </a:extLst>
          </p:cNvPr>
          <p:cNvSpPr>
            <a:spLocks xmlns:a="http://schemas.openxmlformats.org/drawingml/2006/main" noGrp="1"/>
          </p:cNvSpPr>
          <p:nvPr/>
        </p:nvSpPr>
        <p:spPr>
          <a:xfrm xmlns:a="http://schemas.openxmlformats.org/drawingml/2006/main">
            <a:off x="62293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Ausschuss &lt; 2 % Gate</a:t>
            </a:r>
          </a:p>
        </p:txBody>
      </p:sp>
      <p:sp>
        <p:nvSpPr>
          <p:cNvPr id="56" name="">
            <a:extLst xmlns:a="http://schemas.openxmlformats.org/drawingml/2006/main">
              <a:ext uri="{FF2B5EF4-FFF2-40B4-BE49-F238E27FC236}">
                <a16:creationId xmlns:a16="http://schemas.microsoft.com/office/drawing/2014/main" id="{065906AF-E722-48D2-92E2-FD5239E37645}"/>
              </a:ext>
            </a:extLst>
          </p:cNvPr>
          <p:cNvSpPr>
            <a:spLocks xmlns:a="http://schemas.openxmlformats.org/drawingml/2006/main" noGrp="1"/>
          </p:cNvSpPr>
          <p:nvPr/>
        </p:nvSpPr>
        <p:spPr>
          <a:xfrm xmlns:a="http://schemas.openxmlformats.org/drawingml/2006/main">
            <a:off x="86296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7" name="">
            <a:extLst xmlns:a="http://schemas.openxmlformats.org/drawingml/2006/main">
              <a:ext uri="{FF2B5EF4-FFF2-40B4-BE49-F238E27FC236}">
                <a16:creationId xmlns:a16="http://schemas.microsoft.com/office/drawing/2014/main" id="{7AB1B9AF-183D-434E-B97C-250413A0FF79}"/>
              </a:ext>
            </a:extLst>
          </p:cNvPr>
          <p:cNvSpPr>
            <a:spLocks xmlns:a="http://schemas.openxmlformats.org/drawingml/2006/main" noGrp="1"/>
          </p:cNvSpPr>
          <p:nvPr/>
        </p:nvSpPr>
        <p:spPr>
          <a:xfrm xmlns:a="http://schemas.openxmlformats.org/drawingml/2006/main">
            <a:off x="8629650" y="30670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E5E920A-BAB3-4FEA-9F7E-2B4DC81720BD}"/>
              </a:ext>
            </a:extLst>
          </p:cNvPr>
          <p:cNvSpPr>
            <a:spLocks xmlns:a="http://schemas.openxmlformats.org/drawingml/2006/main" noGrp="1"/>
          </p:cNvSpPr>
          <p:nvPr/>
        </p:nvSpPr>
        <p:spPr>
          <a:xfrm xmlns:a="http://schemas.openxmlformats.org/drawingml/2006/main">
            <a:off x="88773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SUCCESS</a:t>
            </a:r>
          </a:p>
        </p:txBody>
      </p:sp>
      <p:sp>
        <p:nvSpPr>
          <p:cNvPr id="59" name="">
            <a:extLst xmlns:a="http://schemas.openxmlformats.org/drawingml/2006/main">
              <a:ext uri="{FF2B5EF4-FFF2-40B4-BE49-F238E27FC236}">
                <a16:creationId xmlns:a16="http://schemas.microsoft.com/office/drawing/2014/main" id="{418A49FC-D33C-4626-8A82-0482183972E8}"/>
              </a:ext>
            </a:extLst>
          </p:cNvPr>
          <p:cNvSpPr>
            <a:spLocks xmlns:a="http://schemas.openxmlformats.org/drawingml/2006/main" noGrp="1"/>
          </p:cNvSpPr>
          <p:nvPr/>
        </p:nvSpPr>
        <p:spPr>
          <a:xfrm xmlns:a="http://schemas.openxmlformats.org/drawingml/2006/main">
            <a:off x="88773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Full-DAG · 19.10.2026</a:t>
            </a:r>
          </a:p>
        </p:txBody>
      </p:sp>
      <p:sp>
        <p:nvSpPr>
          <p:cNvPr id="60" name="">
            <a:extLst xmlns:a="http://schemas.openxmlformats.org/drawingml/2006/main">
              <a:ext uri="{FF2B5EF4-FFF2-40B4-BE49-F238E27FC236}">
                <a16:creationId xmlns:a16="http://schemas.microsoft.com/office/drawing/2014/main" id="{E432A296-6AD4-4D7F-87B0-A9112751C012}"/>
              </a:ext>
            </a:extLst>
          </p:cNvPr>
          <p:cNvSpPr>
            <a:spLocks xmlns:a="http://schemas.openxmlformats.org/drawingml/2006/main" noGrp="1"/>
          </p:cNvSpPr>
          <p:nvPr/>
        </p:nvSpPr>
        <p:spPr>
          <a:xfrm xmlns:a="http://schemas.openxmlformats.org/drawingml/2006/main">
            <a:off x="685800" y="4705350"/>
            <a:ext cx="10325100" cy="876300"/>
          </a:xfrm>
          <a:prstGeom xmlns:a="http://schemas.openxmlformats.org/drawingml/2006/main" prst="roundRect">
            <a:avLst>
              <a:gd name="adj" fmla="val 13043"/>
            </a:avLst>
          </a:prstGeom>
          <a:solidFill xmlns:a="http://schemas.openxmlformats.org/drawingml/2006/main">
            <a:srgbClr val="0A1822"/>
          </a:solidFill>
          <a:ln xmlns:a="http://schemas.openxmlformats.org/drawingml/2006/main" w="9525">
            <a:solidFill>
              <a:srgbClr val="0A1822"/>
            </a:solidFill>
            <a:prstDash val="solid"/>
          </a:ln>
        </p:spPr>
      </p:sp>
      <p:sp>
        <p:nvSpPr>
          <p:cNvPr id="61" name="">
            <a:extLst xmlns:a="http://schemas.openxmlformats.org/drawingml/2006/main">
              <a:ext uri="{FF2B5EF4-FFF2-40B4-BE49-F238E27FC236}">
                <a16:creationId xmlns:a16="http://schemas.microsoft.com/office/drawing/2014/main" id="{C7C5AEAC-9AC9-4E33-A84E-B162174410BD}"/>
              </a:ext>
            </a:extLst>
          </p:cNvPr>
          <p:cNvSpPr>
            <a:spLocks xmlns:a="http://schemas.openxmlformats.org/drawingml/2006/main" noGrp="1"/>
          </p:cNvSpPr>
          <p:nvPr/>
        </p:nvSpPr>
        <p:spPr>
          <a:xfrm xmlns:a="http://schemas.openxmlformats.org/drawingml/2006/main">
            <a:off x="933450" y="4914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F4A261"/>
                </a:solidFill>
                <a:latin typeface="Arial"/>
                <a:ea typeface="Arial"/>
                <a:cs typeface="Arial"/>
              </a:defRPr>
            </a:defPPr>
          </a:lstStyle>
          <a:p xmlns:a="http://schemas.openxmlformats.org/drawingml/2006/main">
            <a:pPr algn="l">
              <a:defRPr sz="1200" b="1">
                <a:solidFill>
                  <a:srgbClr val="F4A261"/>
                </a:solidFill>
                <a:latin typeface="Arial"/>
                <a:ea typeface="Arial"/>
                <a:cs typeface="Arial"/>
              </a:defRPr>
            </a:pPr>
            <a:r>
              <a:rPr sz="1200" b="1">
                <a:solidFill>
                  <a:srgbClr val="F4A261"/>
                </a:solidFill>
                <a:latin typeface="Arial"/>
                <a:ea typeface="Arial"/>
                <a:cs typeface="Arial"/>
              </a:rPr>
              <a:t>Robustheit</a:t>
            </a:r>
          </a:p>
        </p:txBody>
      </p:sp>
      <p:sp>
        <p:nvSpPr>
          <p:cNvPr id="62" name="">
            <a:extLst xmlns:a="http://schemas.openxmlformats.org/drawingml/2006/main">
              <a:ext uri="{FF2B5EF4-FFF2-40B4-BE49-F238E27FC236}">
                <a16:creationId xmlns:a16="http://schemas.microsoft.com/office/drawing/2014/main" id="{2C1E2DA2-D868-4256-9600-5523FD6C7817}"/>
              </a:ext>
            </a:extLst>
          </p:cNvPr>
          <p:cNvSpPr>
            <a:spLocks xmlns:a="http://schemas.openxmlformats.org/drawingml/2006/main" noGrp="1"/>
          </p:cNvSpPr>
          <p:nvPr/>
        </p:nvSpPr>
        <p:spPr>
          <a:xfrm xmlns:a="http://schemas.openxmlformats.org/drawingml/2006/main">
            <a:off x="2381250" y="490537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246"/>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Retries · Timeouts · maximal 1 aktiver Lauf · kleine XComs · idempotente Loads</a:t>
            </a:r>
          </a:p>
        </p:txBody>
      </p:sp>
    </p:spTree>
    <p:extLst>
      <p:ext uri="{BB962C8B-B14F-4D97-AF65-F5344CB8AC3E}">
        <p14:creationId xmlns:p14="http://schemas.microsoft.com/office/powerpoint/2010/main" val="881526656"/>
      </p:ext>
    </p:extLst>
  </p:cSld>
</p:sld>
</file>

<file path=ppt/slides/slide7.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10004DA-971A-4BD5-B2C6-82094E8EC76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APACHE SPARK</a:t>
            </a:r>
          </a:p>
        </p:txBody>
      </p:sp>
      <p:sp>
        <p:nvSpPr>
          <p:cNvPr id="2" name="">
            <a:extLst xmlns:a="http://schemas.openxmlformats.org/drawingml/2006/main">
              <a:ext uri="{FF2B5EF4-FFF2-40B4-BE49-F238E27FC236}">
                <a16:creationId xmlns:a16="http://schemas.microsoft.com/office/drawing/2014/main" id="{3D1F6E1B-E383-4EEE-838F-E9D2BF828CFA}"/>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Vom Rohsignal zum leakage-armen Tagesfeature</a:t>
            </a:r>
          </a:p>
        </p:txBody>
      </p:sp>
      <p:sp>
        <p:nvSpPr>
          <p:cNvPr id="3" name="">
            <a:extLst xmlns:a="http://schemas.openxmlformats.org/drawingml/2006/main">
              <a:ext uri="{FF2B5EF4-FFF2-40B4-BE49-F238E27FC236}">
                <a16:creationId xmlns:a16="http://schemas.microsoft.com/office/drawing/2014/main" id="{D864A826-18A4-46C0-A8BF-B5A6D1C7DF71}"/>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31541A-4AFA-4670-A4B2-3758D8D0E58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2378CB1-9856-47F8-B16A-202CFCA5C137}"/>
              </a:ext>
            </a:extLst>
          </p:cNvPr>
          <p:cNvSpPr>
            <a:spLocks xmlns:a="http://schemas.openxmlformats.org/drawingml/2006/main" noGrp="1"/>
          </p:cNvSpPr>
          <p:nvPr/>
        </p:nvSpPr>
        <p:spPr>
          <a:xfrm xmlns:a="http://schemas.openxmlformats.org/drawingml/2006/main">
            <a:off x="5905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239F29D6-F267-4C64-BA82-F81E36579695}"/>
              </a:ext>
            </a:extLst>
          </p:cNvPr>
          <p:cNvSpPr>
            <a:spLocks xmlns:a="http://schemas.openxmlformats.org/drawingml/2006/main" noGrp="1"/>
          </p:cNvSpPr>
          <p:nvPr/>
        </p:nvSpPr>
        <p:spPr>
          <a:xfrm xmlns:a="http://schemas.openxmlformats.org/drawingml/2006/main">
            <a:off x="7048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1,0 Mio.</a:t>
            </a:r>
          </a:p>
        </p:txBody>
      </p:sp>
      <p:sp>
        <p:nvSpPr>
          <p:cNvPr id="7" name="">
            <a:extLst xmlns:a="http://schemas.openxmlformats.org/drawingml/2006/main">
              <a:ext uri="{FF2B5EF4-FFF2-40B4-BE49-F238E27FC236}">
                <a16:creationId xmlns:a16="http://schemas.microsoft.com/office/drawing/2014/main" id="{6409DB47-E0E9-437E-B58D-11CEA1B88DBE}"/>
              </a:ext>
            </a:extLst>
          </p:cNvPr>
          <p:cNvSpPr>
            <a:spLocks xmlns:a="http://schemas.openxmlformats.org/drawingml/2006/main" noGrp="1"/>
          </p:cNvSpPr>
          <p:nvPr/>
        </p:nvSpPr>
        <p:spPr>
          <a:xfrm xmlns:a="http://schemas.openxmlformats.org/drawingml/2006/main">
            <a:off x="7048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JSONL lesen</a:t>
            </a:r>
          </a:p>
        </p:txBody>
      </p:sp>
      <p:sp>
        <p:nvSpPr>
          <p:cNvPr id="8" name="">
            <a:extLst xmlns:a="http://schemas.openxmlformats.org/drawingml/2006/main">
              <a:ext uri="{FF2B5EF4-FFF2-40B4-BE49-F238E27FC236}">
                <a16:creationId xmlns:a16="http://schemas.microsoft.com/office/drawing/2014/main" id="{7C47D19C-1534-474E-97B6-40C65F5A9894}"/>
              </a:ext>
            </a:extLst>
          </p:cNvPr>
          <p:cNvSpPr>
            <a:spLocks xmlns:a="http://schemas.openxmlformats.org/drawingml/2006/main" noGrp="1"/>
          </p:cNvSpPr>
          <p:nvPr/>
        </p:nvSpPr>
        <p:spPr>
          <a:xfrm xmlns:a="http://schemas.openxmlformats.org/drawingml/2006/main">
            <a:off x="21907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40DA53C8-8D6D-483A-B27B-125A253C50CC}"/>
              </a:ext>
            </a:extLst>
          </p:cNvPr>
          <p:cNvSpPr>
            <a:spLocks xmlns:a="http://schemas.openxmlformats.org/drawingml/2006/main" noGrp="1"/>
          </p:cNvSpPr>
          <p:nvPr/>
        </p:nvSpPr>
        <p:spPr>
          <a:xfrm xmlns:a="http://schemas.openxmlformats.org/drawingml/2006/main">
            <a:off x="248602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AF44A727-DA39-4E55-881B-35A8EFCDAFCA}"/>
              </a:ext>
            </a:extLst>
          </p:cNvPr>
          <p:cNvSpPr>
            <a:spLocks xmlns:a="http://schemas.openxmlformats.org/drawingml/2006/main" noGrp="1"/>
          </p:cNvSpPr>
          <p:nvPr/>
        </p:nvSpPr>
        <p:spPr>
          <a:xfrm xmlns:a="http://schemas.openxmlformats.org/drawingml/2006/main">
            <a:off x="26003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994.905</a:t>
            </a:r>
          </a:p>
        </p:txBody>
      </p:sp>
      <p:sp>
        <p:nvSpPr>
          <p:cNvPr id="11" name="">
            <a:extLst xmlns:a="http://schemas.openxmlformats.org/drawingml/2006/main">
              <a:ext uri="{FF2B5EF4-FFF2-40B4-BE49-F238E27FC236}">
                <a16:creationId xmlns:a16="http://schemas.microsoft.com/office/drawing/2014/main" id="{28872364-E4A2-4553-9366-35921BF884D3}"/>
              </a:ext>
            </a:extLst>
          </p:cNvPr>
          <p:cNvSpPr>
            <a:spLocks xmlns:a="http://schemas.openxmlformats.org/drawingml/2006/main" noGrp="1"/>
          </p:cNvSpPr>
          <p:nvPr/>
        </p:nvSpPr>
        <p:spPr>
          <a:xfrm xmlns:a="http://schemas.openxmlformats.org/drawingml/2006/main">
            <a:off x="26003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validieren</a:t>
            </a:r>
          </a:p>
        </p:txBody>
      </p:sp>
      <p:sp>
        <p:nvSpPr>
          <p:cNvPr id="12" name="">
            <a:extLst xmlns:a="http://schemas.openxmlformats.org/drawingml/2006/main">
              <a:ext uri="{FF2B5EF4-FFF2-40B4-BE49-F238E27FC236}">
                <a16:creationId xmlns:a16="http://schemas.microsoft.com/office/drawing/2014/main" id="{5432AEE9-913F-40C5-AE09-843EC025444C}"/>
              </a:ext>
            </a:extLst>
          </p:cNvPr>
          <p:cNvSpPr>
            <a:spLocks xmlns:a="http://schemas.openxmlformats.org/drawingml/2006/main" noGrp="1"/>
          </p:cNvSpPr>
          <p:nvPr/>
        </p:nvSpPr>
        <p:spPr>
          <a:xfrm xmlns:a="http://schemas.openxmlformats.org/drawingml/2006/main">
            <a:off x="408622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240F9FAC-EDB8-4BF6-B61D-19B5D3E77558}"/>
              </a:ext>
            </a:extLst>
          </p:cNvPr>
          <p:cNvSpPr>
            <a:spLocks xmlns:a="http://schemas.openxmlformats.org/drawingml/2006/main" noGrp="1"/>
          </p:cNvSpPr>
          <p:nvPr/>
        </p:nvSpPr>
        <p:spPr>
          <a:xfrm xmlns:a="http://schemas.openxmlformats.org/drawingml/2006/main">
            <a:off x="438150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77AD92D6-60CD-4B18-9E9A-237106C93F1E}"/>
              </a:ext>
            </a:extLst>
          </p:cNvPr>
          <p:cNvSpPr>
            <a:spLocks xmlns:a="http://schemas.openxmlformats.org/drawingml/2006/main" noGrp="1"/>
          </p:cNvSpPr>
          <p:nvPr/>
        </p:nvSpPr>
        <p:spPr>
          <a:xfrm xmlns:a="http://schemas.openxmlformats.org/drawingml/2006/main">
            <a:off x="449580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DataFrame</a:t>
            </a:r>
          </a:p>
        </p:txBody>
      </p:sp>
      <p:sp>
        <p:nvSpPr>
          <p:cNvPr id="15" name="">
            <a:extLst xmlns:a="http://schemas.openxmlformats.org/drawingml/2006/main">
              <a:ext uri="{FF2B5EF4-FFF2-40B4-BE49-F238E27FC236}">
                <a16:creationId xmlns:a16="http://schemas.microsoft.com/office/drawing/2014/main" id="{83CFE5BC-4216-42E6-B854-1365DA06E46C}"/>
              </a:ext>
            </a:extLst>
          </p:cNvPr>
          <p:cNvSpPr>
            <a:spLocks xmlns:a="http://schemas.openxmlformats.org/drawingml/2006/main" noGrp="1"/>
          </p:cNvSpPr>
          <p:nvPr/>
        </p:nvSpPr>
        <p:spPr>
          <a:xfrm xmlns:a="http://schemas.openxmlformats.org/drawingml/2006/main">
            <a:off x="449580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cast · filter · dedup</a:t>
            </a:r>
          </a:p>
        </p:txBody>
      </p:sp>
      <p:sp>
        <p:nvSpPr>
          <p:cNvPr id="16" name="">
            <a:extLst xmlns:a="http://schemas.openxmlformats.org/drawingml/2006/main">
              <a:ext uri="{FF2B5EF4-FFF2-40B4-BE49-F238E27FC236}">
                <a16:creationId xmlns:a16="http://schemas.microsoft.com/office/drawing/2014/main" id="{5E0AC6BB-E20D-4792-A241-C035D31974FB}"/>
              </a:ext>
            </a:extLst>
          </p:cNvPr>
          <p:cNvSpPr>
            <a:spLocks xmlns:a="http://schemas.openxmlformats.org/drawingml/2006/main" noGrp="1"/>
          </p:cNvSpPr>
          <p:nvPr/>
        </p:nvSpPr>
        <p:spPr>
          <a:xfrm xmlns:a="http://schemas.openxmlformats.org/drawingml/2006/main">
            <a:off x="598170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48FB4F60-4F17-4466-80EC-7445A935723C}"/>
              </a:ext>
            </a:extLst>
          </p:cNvPr>
          <p:cNvSpPr>
            <a:spLocks xmlns:a="http://schemas.openxmlformats.org/drawingml/2006/main" noGrp="1"/>
          </p:cNvSpPr>
          <p:nvPr/>
        </p:nvSpPr>
        <p:spPr>
          <a:xfrm xmlns:a="http://schemas.openxmlformats.org/drawingml/2006/main">
            <a:off x="627697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FF9CF73E-F373-454F-992E-DBAEC1EB3E27}"/>
              </a:ext>
            </a:extLst>
          </p:cNvPr>
          <p:cNvSpPr>
            <a:spLocks xmlns:a="http://schemas.openxmlformats.org/drawingml/2006/main" noGrp="1"/>
          </p:cNvSpPr>
          <p:nvPr/>
        </p:nvSpPr>
        <p:spPr>
          <a:xfrm xmlns:a="http://schemas.openxmlformats.org/drawingml/2006/main">
            <a:off x="639127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67"/>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SQL + Joins</a:t>
            </a:r>
          </a:p>
        </p:txBody>
      </p:sp>
      <p:sp>
        <p:nvSpPr>
          <p:cNvPr id="19" name="">
            <a:extLst xmlns:a="http://schemas.openxmlformats.org/drawingml/2006/main">
              <a:ext uri="{FF2B5EF4-FFF2-40B4-BE49-F238E27FC236}">
                <a16:creationId xmlns:a16="http://schemas.microsoft.com/office/drawing/2014/main" id="{9CB7B9EA-67E6-450E-BAEE-7287CBA48816}"/>
              </a:ext>
            </a:extLst>
          </p:cNvPr>
          <p:cNvSpPr>
            <a:spLocks xmlns:a="http://schemas.openxmlformats.org/drawingml/2006/main" noGrp="1"/>
          </p:cNvSpPr>
          <p:nvPr/>
        </p:nvSpPr>
        <p:spPr>
          <a:xfrm xmlns:a="http://schemas.openxmlformats.org/drawingml/2006/main">
            <a:off x="639127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Kontext verbinden</a:t>
            </a:r>
          </a:p>
        </p:txBody>
      </p:sp>
      <p:sp>
        <p:nvSpPr>
          <p:cNvPr id="20" name="">
            <a:extLst xmlns:a="http://schemas.openxmlformats.org/drawingml/2006/main">
              <a:ext uri="{FF2B5EF4-FFF2-40B4-BE49-F238E27FC236}">
                <a16:creationId xmlns:a16="http://schemas.microsoft.com/office/drawing/2014/main" id="{734B72E1-C107-4632-800E-5B1996B66A72}"/>
              </a:ext>
            </a:extLst>
          </p:cNvPr>
          <p:cNvSpPr>
            <a:spLocks xmlns:a="http://schemas.openxmlformats.org/drawingml/2006/main" noGrp="1"/>
          </p:cNvSpPr>
          <p:nvPr/>
        </p:nvSpPr>
        <p:spPr>
          <a:xfrm xmlns:a="http://schemas.openxmlformats.org/drawingml/2006/main">
            <a:off x="787717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1DE1B676-2325-4205-8062-ED281ABDD5A5}"/>
              </a:ext>
            </a:extLst>
          </p:cNvPr>
          <p:cNvSpPr>
            <a:spLocks xmlns:a="http://schemas.openxmlformats.org/drawingml/2006/main" noGrp="1"/>
          </p:cNvSpPr>
          <p:nvPr/>
        </p:nvSpPr>
        <p:spPr>
          <a:xfrm xmlns:a="http://schemas.openxmlformats.org/drawingml/2006/main">
            <a:off x="81724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B9ABBC3A-5BDF-4E59-A053-DEE942D9FC84}"/>
              </a:ext>
            </a:extLst>
          </p:cNvPr>
          <p:cNvSpPr>
            <a:spLocks xmlns:a="http://schemas.openxmlformats.org/drawingml/2006/main" noGrp="1"/>
          </p:cNvSpPr>
          <p:nvPr/>
        </p:nvSpPr>
        <p:spPr>
          <a:xfrm xmlns:a="http://schemas.openxmlformats.org/drawingml/2006/main">
            <a:off x="82867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Windows</a:t>
            </a:r>
          </a:p>
        </p:txBody>
      </p:sp>
      <p:sp>
        <p:nvSpPr>
          <p:cNvPr id="23" name="">
            <a:extLst xmlns:a="http://schemas.openxmlformats.org/drawingml/2006/main">
              <a:ext uri="{FF2B5EF4-FFF2-40B4-BE49-F238E27FC236}">
                <a16:creationId xmlns:a16="http://schemas.microsoft.com/office/drawing/2014/main" id="{00B867F8-905F-433D-AD84-1B4101B463C0}"/>
              </a:ext>
            </a:extLst>
          </p:cNvPr>
          <p:cNvSpPr>
            <a:spLocks xmlns:a="http://schemas.openxmlformats.org/drawingml/2006/main" noGrp="1"/>
          </p:cNvSpPr>
          <p:nvPr/>
        </p:nvSpPr>
        <p:spPr>
          <a:xfrm xmlns:a="http://schemas.openxmlformats.org/drawingml/2006/main">
            <a:off x="82867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lag · rolling · lead</a:t>
            </a:r>
          </a:p>
        </p:txBody>
      </p:sp>
      <p:sp>
        <p:nvSpPr>
          <p:cNvPr id="24" name="">
            <a:extLst xmlns:a="http://schemas.openxmlformats.org/drawingml/2006/main">
              <a:ext uri="{FF2B5EF4-FFF2-40B4-BE49-F238E27FC236}">
                <a16:creationId xmlns:a16="http://schemas.microsoft.com/office/drawing/2014/main" id="{EFA578FE-93FE-46E3-B80F-BFEB120BC5E2}"/>
              </a:ext>
            </a:extLst>
          </p:cNvPr>
          <p:cNvSpPr>
            <a:spLocks xmlns:a="http://schemas.openxmlformats.org/drawingml/2006/main" noGrp="1"/>
          </p:cNvSpPr>
          <p:nvPr/>
        </p:nvSpPr>
        <p:spPr>
          <a:xfrm xmlns:a="http://schemas.openxmlformats.org/drawingml/2006/main">
            <a:off x="97726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B8BF818F-319F-4D1A-80E7-18E9BA0ED9BC}"/>
              </a:ext>
            </a:extLst>
          </p:cNvPr>
          <p:cNvSpPr>
            <a:spLocks xmlns:a="http://schemas.openxmlformats.org/drawingml/2006/main" noGrp="1"/>
          </p:cNvSpPr>
          <p:nvPr/>
        </p:nvSpPr>
        <p:spPr>
          <a:xfrm xmlns:a="http://schemas.openxmlformats.org/drawingml/2006/main">
            <a:off x="10067925" y="1847850"/>
            <a:ext cx="1562100" cy="1581150"/>
          </a:xfrm>
          <a:prstGeom xmlns:a="http://schemas.openxmlformats.org/drawingml/2006/main" prst="roundRect">
            <a:avLst>
              <a:gd name="adj" fmla="val 7317"/>
            </a:avLst>
          </a:prstGeom>
          <a:solidFill xmlns:a="http://schemas.openxmlformats.org/drawingml/2006/main">
            <a:srgbClr val="173C4C"/>
          </a:solidFill>
          <a:ln xmlns:a="http://schemas.openxmlformats.org/drawingml/2006/main" w="9525">
            <a:solidFill>
              <a:srgbClr val="31505D"/>
            </a:solidFill>
            <a:prstDash val="solid"/>
          </a:ln>
        </p:spPr>
      </p:sp>
      <p:sp>
        <p:nvSpPr>
          <p:cNvPr id="26" name="">
            <a:extLst xmlns:a="http://schemas.openxmlformats.org/drawingml/2006/main">
              <a:ext uri="{FF2B5EF4-FFF2-40B4-BE49-F238E27FC236}">
                <a16:creationId xmlns:a16="http://schemas.microsoft.com/office/drawing/2014/main" id="{F858BBA2-F553-492D-8C66-836EAC26E9AC}"/>
              </a:ext>
            </a:extLst>
          </p:cNvPr>
          <p:cNvSpPr>
            <a:spLocks xmlns:a="http://schemas.openxmlformats.org/drawingml/2006/main" noGrp="1"/>
          </p:cNvSpPr>
          <p:nvPr/>
        </p:nvSpPr>
        <p:spPr>
          <a:xfrm xmlns:a="http://schemas.openxmlformats.org/drawingml/2006/main">
            <a:off x="101822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4A261"/>
                </a:solidFill>
                <a:latin typeface="Arial"/>
                <a:ea typeface="Arial"/>
                <a:cs typeface="Arial"/>
              </a:defRPr>
            </a:defPPr>
          </a:lstStyle>
          <a:p xmlns:a="http://schemas.openxmlformats.org/drawingml/2006/main">
            <a:pPr algn="ctr">
              <a:defRPr sz="1725" b="1">
                <a:solidFill>
                  <a:srgbClr val="F4A261"/>
                </a:solidFill>
                <a:latin typeface="Arial"/>
                <a:ea typeface="Arial"/>
                <a:cs typeface="Arial"/>
              </a:defRPr>
            </a:pPr>
            <a:r>
              <a:rPr sz="1725" b="1">
                <a:solidFill>
                  <a:srgbClr val="F4A261"/>
                </a:solidFill>
                <a:latin typeface="Arial"/>
                <a:ea typeface="Arial"/>
                <a:cs typeface="Arial"/>
              </a:rPr>
              <a:t>4.950</a:t>
            </a:r>
          </a:p>
        </p:txBody>
      </p:sp>
      <p:sp>
        <p:nvSpPr>
          <p:cNvPr id="27" name="">
            <a:extLst xmlns:a="http://schemas.openxmlformats.org/drawingml/2006/main">
              <a:ext uri="{FF2B5EF4-FFF2-40B4-BE49-F238E27FC236}">
                <a16:creationId xmlns:a16="http://schemas.microsoft.com/office/drawing/2014/main" id="{8CE50385-177A-4931-957F-9A8CDC862F44}"/>
              </a:ext>
            </a:extLst>
          </p:cNvPr>
          <p:cNvSpPr>
            <a:spLocks xmlns:a="http://schemas.openxmlformats.org/drawingml/2006/main" noGrp="1"/>
          </p:cNvSpPr>
          <p:nvPr/>
        </p:nvSpPr>
        <p:spPr>
          <a:xfrm xmlns:a="http://schemas.openxmlformats.org/drawingml/2006/main">
            <a:off x="101822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Parquet Features</a:t>
            </a:r>
          </a:p>
        </p:txBody>
      </p:sp>
      <p:sp>
        <p:nvSpPr>
          <p:cNvPr id="28" name="">
            <a:extLst xmlns:a="http://schemas.openxmlformats.org/drawingml/2006/main">
              <a:ext uri="{FF2B5EF4-FFF2-40B4-BE49-F238E27FC236}">
                <a16:creationId xmlns:a16="http://schemas.microsoft.com/office/drawing/2014/main" id="{AF86C48A-B957-4E98-B79C-CBE1867DD4D8}"/>
              </a:ext>
            </a:extLst>
          </p:cNvPr>
          <p:cNvSpPr>
            <a:spLocks xmlns:a="http://schemas.openxmlformats.org/drawingml/2006/main" noGrp="1"/>
          </p:cNvSpPr>
          <p:nvPr/>
        </p:nvSpPr>
        <p:spPr>
          <a:xfrm xmlns:a="http://schemas.openxmlformats.org/drawingml/2006/main">
            <a:off x="990600" y="4000500"/>
            <a:ext cx="10191750" cy="1219200"/>
          </a:xfrm>
          <a:prstGeom xmlns:a="http://schemas.openxmlformats.org/drawingml/2006/main" prst="roundRect">
            <a:avLst>
              <a:gd name="adj" fmla="val 9375"/>
            </a:avLst>
          </a:prstGeom>
          <a:solidFill xmlns:a="http://schemas.openxmlformats.org/drawingml/2006/main">
            <a:srgbClr val="0E3544"/>
          </a:solidFill>
          <a:ln xmlns:a="http://schemas.openxmlformats.org/drawingml/2006/main" w="9525">
            <a:solidFill>
              <a:srgbClr val="31505D"/>
            </a:solidFill>
            <a:prstDash val="solid"/>
          </a:ln>
        </p:spPr>
      </p:sp>
      <p:sp>
        <p:nvSpPr>
          <p:cNvPr id="29" name="">
            <a:extLst xmlns:a="http://schemas.openxmlformats.org/drawingml/2006/main">
              <a:ext uri="{FF2B5EF4-FFF2-40B4-BE49-F238E27FC236}">
                <a16:creationId xmlns:a16="http://schemas.microsoft.com/office/drawing/2014/main" id="{36515E30-0643-46F4-9D5C-DBDC3EB0540D}"/>
              </a:ext>
            </a:extLst>
          </p:cNvPr>
          <p:cNvSpPr>
            <a:spLocks xmlns:a="http://schemas.openxmlformats.org/drawingml/2006/main" noGrp="1"/>
          </p:cNvSpPr>
          <p:nvPr/>
        </p:nvSpPr>
        <p:spPr>
          <a:xfrm xmlns:a="http://schemas.openxmlformats.org/drawingml/2006/main">
            <a:off x="1314450" y="4229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l">
              <a:defRPr sz="1275" b="1">
                <a:solidFill>
                  <a:srgbClr val="F4A261"/>
                </a:solidFill>
                <a:latin typeface="Arial"/>
                <a:ea typeface="Arial"/>
                <a:cs typeface="Arial"/>
              </a:defRPr>
            </a:defPPr>
          </a:lstStyle>
          <a:p xmlns:a="http://schemas.openxmlformats.org/drawingml/2006/main">
            <a:pPr algn="l">
              <a:defRPr sz="1275" b="1">
                <a:solidFill>
                  <a:srgbClr val="F4A261"/>
                </a:solidFill>
                <a:latin typeface="Arial"/>
                <a:ea typeface="Arial"/>
                <a:cs typeface="Arial"/>
              </a:defRPr>
            </a:pPr>
            <a:r>
              <a:rPr sz="1275" b="1">
                <a:solidFill>
                  <a:srgbClr val="F4A261"/>
                </a:solidFill>
                <a:latin typeface="Arial"/>
                <a:ea typeface="Arial"/>
                <a:cs typeface="Arial"/>
              </a:rPr>
              <a:t>Zeitreihenregel</a:t>
            </a:r>
          </a:p>
        </p:txBody>
      </p:sp>
      <p:sp>
        <p:nvSpPr>
          <p:cNvPr id="30" name="">
            <a:extLst xmlns:a="http://schemas.openxmlformats.org/drawingml/2006/main">
              <a:ext uri="{FF2B5EF4-FFF2-40B4-BE49-F238E27FC236}">
                <a16:creationId xmlns:a16="http://schemas.microsoft.com/office/drawing/2014/main" id="{12038E1E-EEBC-49B2-9675-646E11BDE32E}"/>
              </a:ext>
            </a:extLst>
          </p:cNvPr>
          <p:cNvSpPr>
            <a:spLocks xmlns:a="http://schemas.openxmlformats.org/drawingml/2006/main" noGrp="1"/>
          </p:cNvSpPr>
          <p:nvPr/>
        </p:nvSpPr>
        <p:spPr>
          <a:xfrm xmlns:a="http://schemas.openxmlformats.org/drawingml/2006/main">
            <a:off x="1314450" y="4629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Features aus Tag t</a:t>
            </a:r>
          </a:p>
        </p:txBody>
      </p:sp>
      <p:sp>
        <p:nvSpPr>
          <p:cNvPr id="31" name="">
            <a:extLst xmlns:a="http://schemas.openxmlformats.org/drawingml/2006/main">
              <a:ext uri="{FF2B5EF4-FFF2-40B4-BE49-F238E27FC236}">
                <a16:creationId xmlns:a16="http://schemas.microsoft.com/office/drawing/2014/main" id="{B0576118-456A-4E06-B180-E196B25A3BE4}"/>
              </a:ext>
            </a:extLst>
          </p:cNvPr>
          <p:cNvSpPr>
            <a:spLocks xmlns:a="http://schemas.openxmlformats.org/drawingml/2006/main" noGrp="1"/>
          </p:cNvSpPr>
          <p:nvPr/>
        </p:nvSpPr>
        <p:spPr>
          <a:xfrm xmlns:a="http://schemas.openxmlformats.org/drawingml/2006/main">
            <a:off x="4076700" y="4667250"/>
            <a:ext cx="80010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2" name="">
            <a:extLst xmlns:a="http://schemas.openxmlformats.org/drawingml/2006/main">
              <a:ext uri="{FF2B5EF4-FFF2-40B4-BE49-F238E27FC236}">
                <a16:creationId xmlns:a16="http://schemas.microsoft.com/office/drawing/2014/main" id="{496A2B6E-93F3-47E5-AC9D-90DEEC6BD94F}"/>
              </a:ext>
            </a:extLst>
          </p:cNvPr>
          <p:cNvSpPr>
            <a:spLocks xmlns:a="http://schemas.openxmlformats.org/drawingml/2006/main" noGrp="1"/>
          </p:cNvSpPr>
          <p:nvPr/>
        </p:nvSpPr>
        <p:spPr>
          <a:xfrm xmlns:a="http://schemas.openxmlformats.org/drawingml/2006/main">
            <a:off x="5162550" y="46291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Ziel ausschließlich aus Tag t+1</a:t>
            </a:r>
          </a:p>
        </p:txBody>
      </p:sp>
      <p:sp>
        <p:nvSpPr>
          <p:cNvPr id="33" name="">
            <a:extLst xmlns:a="http://schemas.openxmlformats.org/drawingml/2006/main">
              <a:ext uri="{FF2B5EF4-FFF2-40B4-BE49-F238E27FC236}">
                <a16:creationId xmlns:a16="http://schemas.microsoft.com/office/drawing/2014/main" id="{93A103F1-F464-4EE0-B582-3A97AFB12AC0}"/>
              </a:ext>
            </a:extLst>
          </p:cNvPr>
          <p:cNvSpPr>
            <a:spLocks xmlns:a="http://schemas.openxmlformats.org/drawingml/2006/main" noGrp="1"/>
          </p:cNvSpPr>
          <p:nvPr/>
        </p:nvSpPr>
        <p:spPr>
          <a:xfrm xmlns:a="http://schemas.openxmlformats.org/drawingml/2006/main">
            <a:off x="5162550" y="49815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B8C8D0"/>
                </a:solidFill>
                <a:latin typeface="Arial"/>
                <a:ea typeface="Arial"/>
                <a:cs typeface="Arial"/>
              </a:defRPr>
            </a:defPPr>
          </a:lstStyle>
          <a:p xmlns:a="http://schemas.openxmlformats.org/drawingml/2006/main">
            <a:pPr algn="l">
              <a:defRPr sz="1050" b="0">
                <a:solidFill>
                  <a:srgbClr val="B8C8D0"/>
                </a:solidFill>
                <a:latin typeface="Arial"/>
                <a:ea typeface="Arial"/>
                <a:cs typeface="Arial"/>
              </a:defRPr>
            </a:pPr>
            <a:r>
              <a:rPr sz="1050" b="0">
                <a:solidFill>
                  <a:srgbClr val="B8C8D0"/>
                </a:solidFill>
                <a:latin typeface="Arial"/>
                <a:ea typeface="Arial"/>
                <a:cs typeface="Arial"/>
              </a:rPr>
              <a:t>Purge-Tage schützen die Grenzen von Training, Validierung und Test</a:t>
            </a:r>
          </a:p>
        </p:txBody>
      </p:sp>
    </p:spTree>
    <p:extLst>
      <p:ext uri="{BB962C8B-B14F-4D97-AF65-F5344CB8AC3E}">
        <p14:creationId xmlns:p14="http://schemas.microsoft.com/office/powerpoint/2010/main" val="1578191567"/>
      </p:ext>
    </p:extLst>
  </p:cSld>
</p:sld>
</file>

<file path=ppt/slides/slide8.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5BCD9BC-429E-4C88-B711-8D11478F3F61}"/>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SPARK MLLIB</a:t>
            </a:r>
          </a:p>
        </p:txBody>
      </p:sp>
      <p:sp>
        <p:nvSpPr>
          <p:cNvPr id="2" name="">
            <a:extLst xmlns:a="http://schemas.openxmlformats.org/drawingml/2006/main">
              <a:ext uri="{FF2B5EF4-FFF2-40B4-BE49-F238E27FC236}">
                <a16:creationId xmlns:a16="http://schemas.microsoft.com/office/drawing/2014/main" id="{32A8A70A-7FBB-47B9-A7F9-AF40B19EBD26}"/>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Modellvergleich mit unabhängigem Test</a:t>
            </a:r>
          </a:p>
        </p:txBody>
      </p:sp>
      <p:sp>
        <p:nvSpPr>
          <p:cNvPr id="3" name="">
            <a:extLst xmlns:a="http://schemas.openxmlformats.org/drawingml/2006/main">
              <a:ext uri="{FF2B5EF4-FFF2-40B4-BE49-F238E27FC236}">
                <a16:creationId xmlns:a16="http://schemas.microsoft.com/office/drawing/2014/main" id="{A428FE10-BCF4-408F-A8A0-8742171FA265}"/>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3CACFC-4F86-4A5B-AC2B-1CFF5841A2D5}"/>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7447514-54A1-44DC-8CC2-BA50004C9567}"/>
              </a:ext>
            </a:extLst>
          </p:cNvPr>
          <p:cNvSpPr>
            <a:spLocks xmlns:a="http://schemas.openxmlformats.org/drawingml/2006/main" noGrp="1"/>
          </p:cNvSpPr>
          <p:nvPr/>
        </p:nvSpPr>
        <p:spPr>
          <a:xfrm xmlns:a="http://schemas.openxmlformats.org/drawingml/2006/main">
            <a:off x="609600" y="1504950"/>
            <a:ext cx="533400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B444B157-BC71-40C0-B8B8-FCDF10C7FA59}"/>
              </a:ext>
            </a:extLst>
          </p:cNvPr>
          <p:cNvSpPr>
            <a:spLocks xmlns:a="http://schemas.openxmlformats.org/drawingml/2006/main" noGrp="1"/>
          </p:cNvSpPr>
          <p:nvPr/>
        </p:nvSpPr>
        <p:spPr>
          <a:xfrm xmlns:a="http://schemas.openxmlformats.org/drawingml/2006/main">
            <a:off x="8953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102230"/>
                </a:solidFill>
                <a:latin typeface="Arial"/>
                <a:ea typeface="Arial"/>
                <a:cs typeface="Arial"/>
              </a:defRPr>
            </a:defPPr>
          </a:lstStyle>
          <a:p xmlns:a="http://schemas.openxmlformats.org/drawingml/2006/main">
            <a:pPr algn="l">
              <a:defRPr sz="1650" b="1">
                <a:solidFill>
                  <a:srgbClr val="102230"/>
                </a:solidFill>
                <a:latin typeface="Arial"/>
                <a:ea typeface="Arial"/>
                <a:cs typeface="Arial"/>
              </a:defRPr>
            </a:pPr>
            <a:r>
              <a:rPr sz="1650" b="1">
                <a:solidFill>
                  <a:srgbClr val="102230"/>
                </a:solidFill>
                <a:latin typeface="Arial"/>
                <a:ea typeface="Arial"/>
                <a:cs typeface="Arial"/>
              </a:rPr>
              <a:t>Regression schlägt die Baseline</a:t>
            </a:r>
          </a:p>
        </p:txBody>
      </p:sp>
      <p:graphicFrame>
        <p:nvGraphicFramePr>
          <p:cNvPr id="7" name="Chart">
            <a:extLst xmlns:a="http://schemas.openxmlformats.org/drawingml/2006/main">
              <a:ext uri="{FF2B5EF4-FFF2-40B4-BE49-F238E27FC236}">
                <a16:creationId xmlns:a16="http://schemas.microsoft.com/office/drawing/2014/main" id="{BCEC090D-2979-4224-B2D4-6A8A429A4F4E}"/>
              </a:ext>
            </a:extLst>
          </p:cNvPr>
          <p:cNvGraphicFramePr/>
          <p:nvPr/>
        </p:nvGraphicFramePr>
        <p:xfrm>
          <a:off xmlns:a="http://schemas.openxmlformats.org/drawingml/2006/main" x="895350" y="2190750"/>
          <a:ext xmlns:a="http://schemas.openxmlformats.org/drawingml/2006/main" cx="4714875" cy="2476500"/>
        </p:xfrm>
        <a:graphic xmlns:a="http://schemas.openxmlformats.org/drawingml/2006/main">
          <a:graphicData uri="http://schemas.openxmlformats.org/drawingml/2006/chart">
            <c:chart xmlns:r="http://schemas.openxmlformats.org/officeDocument/2006/relationships" xmlns:c="http://schemas.openxmlformats.org/drawingml/2006/chart" r:id="Rb0c20d5f96504f1b"/>
          </a:graphicData>
        </a:graphic>
      </p:graphicFrame>
      <p:sp>
        <p:nvSpPr>
          <p:cNvPr id="8" name="">
            <a:extLst xmlns:a="http://schemas.openxmlformats.org/drawingml/2006/main">
              <a:ext uri="{FF2B5EF4-FFF2-40B4-BE49-F238E27FC236}">
                <a16:creationId xmlns:a16="http://schemas.microsoft.com/office/drawing/2014/main" id="{B2D4AA30-8139-4EC3-B473-17901F41E55E}"/>
              </a:ext>
            </a:extLst>
          </p:cNvPr>
          <p:cNvSpPr>
            <a:spLocks xmlns:a="http://schemas.openxmlformats.org/drawingml/2006/main" noGrp="1"/>
          </p:cNvSpPr>
          <p:nvPr/>
        </p:nvSpPr>
        <p:spPr>
          <a:xfrm xmlns:a="http://schemas.openxmlformats.org/drawingml/2006/main">
            <a:off x="106680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2A9D6F"/>
                </a:solidFill>
                <a:latin typeface="Arial"/>
                <a:ea typeface="Arial"/>
                <a:cs typeface="Arial"/>
              </a:defRPr>
            </a:defPPr>
          </a:lstStyle>
          <a:p xmlns:a="http://schemas.openxmlformats.org/drawingml/2006/main">
            <a:pPr algn="l">
              <a:defRPr sz="1200" b="1">
                <a:solidFill>
                  <a:srgbClr val="2A9D6F"/>
                </a:solidFill>
                <a:latin typeface="Arial"/>
                <a:ea typeface="Arial"/>
                <a:cs typeface="Arial"/>
              </a:defRPr>
            </a:pPr>
            <a:r>
              <a:rPr sz="1200" b="1">
                <a:solidFill>
                  <a:srgbClr val="2A9D6F"/>
                </a:solidFill>
                <a:latin typeface="Arial"/>
                <a:ea typeface="Arial"/>
                <a:cs typeface="Arial"/>
              </a:rPr>
              <a:t>MAE 0,443 °C</a:t>
            </a:r>
          </a:p>
        </p:txBody>
      </p:sp>
      <p:sp>
        <p:nvSpPr>
          <p:cNvPr id="9" name="">
            <a:extLst xmlns:a="http://schemas.openxmlformats.org/drawingml/2006/main">
              <a:ext uri="{FF2B5EF4-FFF2-40B4-BE49-F238E27FC236}">
                <a16:creationId xmlns:a16="http://schemas.microsoft.com/office/drawing/2014/main" id="{8B203CD0-4D06-4E55-B05B-41AF8A2C4F54}"/>
              </a:ext>
            </a:extLst>
          </p:cNvPr>
          <p:cNvSpPr>
            <a:spLocks xmlns:a="http://schemas.openxmlformats.org/drawingml/2006/main" noGrp="1"/>
          </p:cNvSpPr>
          <p:nvPr/>
        </p:nvSpPr>
        <p:spPr>
          <a:xfrm xmlns:a="http://schemas.openxmlformats.org/drawingml/2006/main">
            <a:off x="333375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536675"/>
                </a:solidFill>
                <a:latin typeface="Arial"/>
                <a:ea typeface="Arial"/>
                <a:cs typeface="Arial"/>
              </a:defRPr>
            </a:defPPr>
          </a:lstStyle>
          <a:p xmlns:a="http://schemas.openxmlformats.org/drawingml/2006/main">
            <a:pPr algn="r">
              <a:defRPr sz="1050" b="0">
                <a:solidFill>
                  <a:srgbClr val="536675"/>
                </a:solidFill>
                <a:latin typeface="Arial"/>
                <a:ea typeface="Arial"/>
                <a:cs typeface="Arial"/>
              </a:defRPr>
            </a:pPr>
            <a:r>
              <a:rPr sz="1050" b="0">
                <a:solidFill>
                  <a:srgbClr val="536675"/>
                </a:solidFill>
                <a:latin typeface="Arial"/>
                <a:ea typeface="Arial"/>
                <a:cs typeface="Arial"/>
              </a:rPr>
              <a:t>Regression unverändert</a:t>
            </a:r>
          </a:p>
        </p:txBody>
      </p:sp>
      <p:sp>
        <p:nvSpPr>
          <p:cNvPr id="10" name="">
            <a:extLst xmlns:a="http://schemas.openxmlformats.org/drawingml/2006/main">
              <a:ext uri="{FF2B5EF4-FFF2-40B4-BE49-F238E27FC236}">
                <a16:creationId xmlns:a16="http://schemas.microsoft.com/office/drawing/2014/main" id="{CA1A7D9D-6935-4FC5-9F50-63D3B150B42C}"/>
              </a:ext>
            </a:extLst>
          </p:cNvPr>
          <p:cNvSpPr>
            <a:spLocks xmlns:a="http://schemas.openxmlformats.org/drawingml/2006/main" noGrp="1"/>
          </p:cNvSpPr>
          <p:nvPr/>
        </p:nvSpPr>
        <p:spPr>
          <a:xfrm xmlns:a="http://schemas.openxmlformats.org/drawingml/2006/main">
            <a:off x="6229350" y="1504950"/>
            <a:ext cx="5353050" cy="4171950"/>
          </a:xfrm>
          <a:prstGeom xmlns:a="http://schemas.openxmlformats.org/drawingml/2006/main" prst="roundRect">
            <a:avLst>
              <a:gd name="adj" fmla="val 2740"/>
            </a:avLst>
          </a:prstGeom>
          <a:solidFill xmlns:a="http://schemas.openxmlformats.org/drawingml/2006/main">
            <a:srgbClr val="0A1822"/>
          </a:solidFill>
          <a:ln xmlns:a="http://schemas.openxmlformats.org/drawingml/2006/main" w="9525">
            <a:solidFill>
              <a:srgbClr val="0A1822"/>
            </a:solidFill>
            <a:prstDash val="solid"/>
          </a:ln>
        </p:spPr>
      </p:sp>
      <p:sp>
        <p:nvSpPr>
          <p:cNvPr id="11" name="">
            <a:extLst xmlns:a="http://schemas.openxmlformats.org/drawingml/2006/main">
              <a:ext uri="{FF2B5EF4-FFF2-40B4-BE49-F238E27FC236}">
                <a16:creationId xmlns:a16="http://schemas.microsoft.com/office/drawing/2014/main" id="{66477810-78C7-45BB-9D14-1E1199360A82}"/>
              </a:ext>
            </a:extLst>
          </p:cNvPr>
          <p:cNvSpPr>
            <a:spLocks xmlns:a="http://schemas.openxmlformats.org/drawingml/2006/main" noGrp="1"/>
          </p:cNvSpPr>
          <p:nvPr/>
        </p:nvSpPr>
        <p:spPr>
          <a:xfrm xmlns:a="http://schemas.openxmlformats.org/drawingml/2006/main">
            <a:off x="65341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Klassifikation erkennt beide Klassen</a:t>
            </a:r>
          </a:p>
        </p:txBody>
      </p:sp>
      <p:sp>
        <p:nvSpPr>
          <p:cNvPr id="12" name="">
            <a:extLst xmlns:a="http://schemas.openxmlformats.org/drawingml/2006/main">
              <a:ext uri="{FF2B5EF4-FFF2-40B4-BE49-F238E27FC236}">
                <a16:creationId xmlns:a16="http://schemas.microsoft.com/office/drawing/2014/main" id="{BF8E3502-0702-4043-8025-D35E42F1C2C6}"/>
              </a:ext>
            </a:extLst>
          </p:cNvPr>
          <p:cNvSpPr>
            <a:spLocks xmlns:a="http://schemas.openxmlformats.org/drawingml/2006/main" noGrp="1"/>
          </p:cNvSpPr>
          <p:nvPr/>
        </p:nvSpPr>
        <p:spPr>
          <a:xfrm xmlns:a="http://schemas.openxmlformats.org/drawingml/2006/main">
            <a:off x="65341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3" name="">
            <a:extLst xmlns:a="http://schemas.openxmlformats.org/drawingml/2006/main">
              <a:ext uri="{FF2B5EF4-FFF2-40B4-BE49-F238E27FC236}">
                <a16:creationId xmlns:a16="http://schemas.microsoft.com/office/drawing/2014/main" id="{F52A6DCE-E93D-4A6F-B4AD-23A68770AC5C}"/>
              </a:ext>
            </a:extLst>
          </p:cNvPr>
          <p:cNvSpPr>
            <a:spLocks xmlns:a="http://schemas.openxmlformats.org/drawingml/2006/main" noGrp="1"/>
          </p:cNvSpPr>
          <p:nvPr/>
        </p:nvSpPr>
        <p:spPr>
          <a:xfrm xmlns:a="http://schemas.openxmlformats.org/drawingml/2006/main">
            <a:off x="6534150" y="217170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A4DC10-2991-4501-B660-FCEFE7F06EAC}"/>
              </a:ext>
            </a:extLst>
          </p:cNvPr>
          <p:cNvSpPr>
            <a:spLocks xmlns:a="http://schemas.openxmlformats.org/drawingml/2006/main" noGrp="1"/>
          </p:cNvSpPr>
          <p:nvPr/>
        </p:nvSpPr>
        <p:spPr>
          <a:xfrm xmlns:a="http://schemas.openxmlformats.org/drawingml/2006/main">
            <a:off x="67818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0,534</a:t>
            </a:r>
          </a:p>
        </p:txBody>
      </p:sp>
      <p:sp>
        <p:nvSpPr>
          <p:cNvPr id="15" name="">
            <a:extLst xmlns:a="http://schemas.openxmlformats.org/drawingml/2006/main">
              <a:ext uri="{FF2B5EF4-FFF2-40B4-BE49-F238E27FC236}">
                <a16:creationId xmlns:a16="http://schemas.microsoft.com/office/drawing/2014/main" id="{F30DE518-DC04-43B3-85A0-5EE085B3A6E1}"/>
              </a:ext>
            </a:extLst>
          </p:cNvPr>
          <p:cNvSpPr>
            <a:spLocks xmlns:a="http://schemas.openxmlformats.org/drawingml/2006/main" noGrp="1"/>
          </p:cNvSpPr>
          <p:nvPr/>
        </p:nvSpPr>
        <p:spPr>
          <a:xfrm xmlns:a="http://schemas.openxmlformats.org/drawingml/2006/main">
            <a:off x="67818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defRPr sz="1125" b="0">
                <a:solidFill>
                  <a:srgbClr val="B8C8D0"/>
                </a:solidFill>
                <a:latin typeface="Arial"/>
                <a:ea typeface="Arial"/>
                <a:cs typeface="Arial"/>
              </a:defRPr>
            </a:pPr>
            <a:r>
              <a:rPr sz="1125" b="0">
                <a:solidFill>
                  <a:srgbClr val="B8C8D0"/>
                </a:solidFill>
                <a:latin typeface="Arial"/>
                <a:ea typeface="Arial"/>
                <a:cs typeface="Arial"/>
              </a:rPr>
              <a:t>Macro-F1 final</a:t>
            </a:r>
          </a:p>
        </p:txBody>
      </p:sp>
      <p:sp>
        <p:nvSpPr>
          <p:cNvPr id="16" name="">
            <a:extLst xmlns:a="http://schemas.openxmlformats.org/drawingml/2006/main">
              <a:ext uri="{FF2B5EF4-FFF2-40B4-BE49-F238E27FC236}">
                <a16:creationId xmlns:a16="http://schemas.microsoft.com/office/drawing/2014/main" id="{33BB4D41-B03B-4D3C-B878-E2CF32792368}"/>
              </a:ext>
            </a:extLst>
          </p:cNvPr>
          <p:cNvSpPr>
            <a:spLocks xmlns:a="http://schemas.openxmlformats.org/drawingml/2006/main" noGrp="1"/>
          </p:cNvSpPr>
          <p:nvPr/>
        </p:nvSpPr>
        <p:spPr>
          <a:xfrm xmlns:a="http://schemas.openxmlformats.org/drawingml/2006/main">
            <a:off x="88963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7" name="">
            <a:extLst xmlns:a="http://schemas.openxmlformats.org/drawingml/2006/main">
              <a:ext uri="{FF2B5EF4-FFF2-40B4-BE49-F238E27FC236}">
                <a16:creationId xmlns:a16="http://schemas.microsoft.com/office/drawing/2014/main" id="{7499C63D-EE13-4CD6-A230-2E16F0A1993A}"/>
              </a:ext>
            </a:extLst>
          </p:cNvPr>
          <p:cNvSpPr>
            <a:spLocks xmlns:a="http://schemas.openxmlformats.org/drawingml/2006/main" noGrp="1"/>
          </p:cNvSpPr>
          <p:nvPr/>
        </p:nvSpPr>
        <p:spPr>
          <a:xfrm xmlns:a="http://schemas.openxmlformats.org/drawingml/2006/main">
            <a:off x="8896350" y="217170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C4EBAE-BD04-4D4D-9879-4510C2CF2F9E}"/>
              </a:ext>
            </a:extLst>
          </p:cNvPr>
          <p:cNvSpPr>
            <a:spLocks xmlns:a="http://schemas.openxmlformats.org/drawingml/2006/main" noGrp="1"/>
          </p:cNvSpPr>
          <p:nvPr/>
        </p:nvSpPr>
        <p:spPr>
          <a:xfrm xmlns:a="http://schemas.openxmlformats.org/drawingml/2006/main">
            <a:off x="91440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0,432</a:t>
            </a:r>
          </a:p>
        </p:txBody>
      </p:sp>
      <p:sp>
        <p:nvSpPr>
          <p:cNvPr id="19" name="">
            <a:extLst xmlns:a="http://schemas.openxmlformats.org/drawingml/2006/main">
              <a:ext uri="{FF2B5EF4-FFF2-40B4-BE49-F238E27FC236}">
                <a16:creationId xmlns:a16="http://schemas.microsoft.com/office/drawing/2014/main" id="{F0522721-77CB-48E6-B02E-1324408C6442}"/>
              </a:ext>
            </a:extLst>
          </p:cNvPr>
          <p:cNvSpPr>
            <a:spLocks xmlns:a="http://schemas.openxmlformats.org/drawingml/2006/main" noGrp="1"/>
          </p:cNvSpPr>
          <p:nvPr/>
        </p:nvSpPr>
        <p:spPr>
          <a:xfrm xmlns:a="http://schemas.openxmlformats.org/drawingml/2006/main">
            <a:off x="91440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defRPr sz="1125" b="0">
                <a:solidFill>
                  <a:srgbClr val="B8C8D0"/>
                </a:solidFill>
                <a:latin typeface="Arial"/>
                <a:ea typeface="Arial"/>
                <a:cs typeface="Arial"/>
              </a:defRPr>
            </a:pPr>
            <a:r>
              <a:rPr sz="1125" b="0">
                <a:solidFill>
                  <a:srgbClr val="B8C8D0"/>
                </a:solidFill>
                <a:latin typeface="Arial"/>
                <a:ea typeface="Arial"/>
                <a:cs typeface="Arial"/>
              </a:rPr>
              <a:t>Majority-Baseline</a:t>
            </a:r>
          </a:p>
        </p:txBody>
      </p:sp>
      <p:sp>
        <p:nvSpPr>
          <p:cNvPr id="20" name="">
            <a:extLst xmlns:a="http://schemas.openxmlformats.org/drawingml/2006/main">
              <a:ext uri="{FF2B5EF4-FFF2-40B4-BE49-F238E27FC236}">
                <a16:creationId xmlns:a16="http://schemas.microsoft.com/office/drawing/2014/main" id="{52ADF2F7-4FE4-4D77-BB79-3852FB51E606}"/>
              </a:ext>
            </a:extLst>
          </p:cNvPr>
          <p:cNvSpPr>
            <a:spLocks xmlns:a="http://schemas.openxmlformats.org/drawingml/2006/main" noGrp="1"/>
          </p:cNvSpPr>
          <p:nvPr/>
        </p:nvSpPr>
        <p:spPr>
          <a:xfrm xmlns:a="http://schemas.openxmlformats.org/drawingml/2006/main">
            <a:off x="6534150" y="35433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B8C8D0"/>
                </a:solidFill>
                <a:latin typeface="Arial"/>
                <a:ea typeface="Arial"/>
                <a:cs typeface="Arial"/>
              </a:defRPr>
            </a:defPPr>
          </a:lstStyle>
          <a:p xmlns:a="http://schemas.openxmlformats.org/drawingml/2006/main">
            <a:pPr algn="l">
              <a:defRPr sz="1125" b="1">
                <a:solidFill>
                  <a:srgbClr val="B8C8D0"/>
                </a:solidFill>
                <a:latin typeface="Arial"/>
                <a:ea typeface="Arial"/>
                <a:cs typeface="Arial"/>
              </a:defRPr>
            </a:pPr>
            <a:r>
              <a:rPr sz="1125" b="1">
                <a:solidFill>
                  <a:srgbClr val="B8C8D0"/>
                </a:solidFill>
                <a:latin typeface="Arial"/>
                <a:ea typeface="Arial"/>
                <a:cs typeface="Arial"/>
              </a:rPr>
              <a:t>Confusion Matrix</a:t>
            </a:r>
          </a:p>
        </p:txBody>
      </p:sp>
      <p:sp>
        <p:nvSpPr>
          <p:cNvPr id="21" name="">
            <a:extLst xmlns:a="http://schemas.openxmlformats.org/drawingml/2006/main">
              <a:ext uri="{FF2B5EF4-FFF2-40B4-BE49-F238E27FC236}">
                <a16:creationId xmlns:a16="http://schemas.microsoft.com/office/drawing/2014/main" id="{530B35CD-FA07-446F-8BEC-3231494F18A4}"/>
              </a:ext>
            </a:extLst>
          </p:cNvPr>
          <p:cNvSpPr>
            <a:spLocks xmlns:a="http://schemas.openxmlformats.org/drawingml/2006/main" noGrp="1"/>
          </p:cNvSpPr>
          <p:nvPr/>
        </p:nvSpPr>
        <p:spPr>
          <a:xfrm xmlns:a="http://schemas.openxmlformats.org/drawingml/2006/main">
            <a:off x="6534150"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22" name="">
            <a:extLst xmlns:a="http://schemas.openxmlformats.org/drawingml/2006/main">
              <a:ext uri="{FF2B5EF4-FFF2-40B4-BE49-F238E27FC236}">
                <a16:creationId xmlns:a16="http://schemas.microsoft.com/office/drawing/2014/main" id="{DF760F0A-6A08-4BA3-B79E-9B46A6E6B681}"/>
              </a:ext>
            </a:extLst>
          </p:cNvPr>
          <p:cNvSpPr>
            <a:spLocks xmlns:a="http://schemas.openxmlformats.org/drawingml/2006/main" noGrp="1"/>
          </p:cNvSpPr>
          <p:nvPr/>
        </p:nvSpPr>
        <p:spPr>
          <a:xfrm xmlns:a="http://schemas.openxmlformats.org/drawingml/2006/main">
            <a:off x="661035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41</a:t>
            </a:r>
          </a:p>
        </p:txBody>
      </p:sp>
      <p:sp>
        <p:nvSpPr>
          <p:cNvPr id="23" name="">
            <a:extLst xmlns:a="http://schemas.openxmlformats.org/drawingml/2006/main">
              <a:ext uri="{FF2B5EF4-FFF2-40B4-BE49-F238E27FC236}">
                <a16:creationId xmlns:a16="http://schemas.microsoft.com/office/drawing/2014/main" id="{2534AFF7-8856-4B3C-B0A6-A193975EAE0F}"/>
              </a:ext>
            </a:extLst>
          </p:cNvPr>
          <p:cNvSpPr>
            <a:spLocks xmlns:a="http://schemas.openxmlformats.org/drawingml/2006/main" noGrp="1"/>
          </p:cNvSpPr>
          <p:nvPr/>
        </p:nvSpPr>
        <p:spPr>
          <a:xfrm xmlns:a="http://schemas.openxmlformats.org/drawingml/2006/main">
            <a:off x="661035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TN</a:t>
            </a:r>
          </a:p>
        </p:txBody>
      </p:sp>
      <p:sp>
        <p:nvSpPr>
          <p:cNvPr id="24" name="">
            <a:extLst xmlns:a="http://schemas.openxmlformats.org/drawingml/2006/main">
              <a:ext uri="{FF2B5EF4-FFF2-40B4-BE49-F238E27FC236}">
                <a16:creationId xmlns:a16="http://schemas.microsoft.com/office/drawing/2014/main" id="{98A5B49E-37E4-45DF-8160-04B60CAF3374}"/>
              </a:ext>
            </a:extLst>
          </p:cNvPr>
          <p:cNvSpPr>
            <a:spLocks xmlns:a="http://schemas.openxmlformats.org/drawingml/2006/main" noGrp="1"/>
          </p:cNvSpPr>
          <p:nvPr/>
        </p:nvSpPr>
        <p:spPr>
          <a:xfrm xmlns:a="http://schemas.openxmlformats.org/drawingml/2006/main">
            <a:off x="7648575"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5" name="">
            <a:extLst xmlns:a="http://schemas.openxmlformats.org/drawingml/2006/main">
              <a:ext uri="{FF2B5EF4-FFF2-40B4-BE49-F238E27FC236}">
                <a16:creationId xmlns:a16="http://schemas.microsoft.com/office/drawing/2014/main" id="{5887B7E3-9BD6-452C-80CD-CA3E0985FF34}"/>
              </a:ext>
            </a:extLst>
          </p:cNvPr>
          <p:cNvSpPr>
            <a:spLocks xmlns:a="http://schemas.openxmlformats.org/drawingml/2006/main" noGrp="1"/>
          </p:cNvSpPr>
          <p:nvPr/>
        </p:nvSpPr>
        <p:spPr>
          <a:xfrm xmlns:a="http://schemas.openxmlformats.org/drawingml/2006/main">
            <a:off x="772477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187</a:t>
            </a:r>
          </a:p>
        </p:txBody>
      </p:sp>
      <p:sp>
        <p:nvSpPr>
          <p:cNvPr id="26" name="">
            <a:extLst xmlns:a="http://schemas.openxmlformats.org/drawingml/2006/main">
              <a:ext uri="{FF2B5EF4-FFF2-40B4-BE49-F238E27FC236}">
                <a16:creationId xmlns:a16="http://schemas.microsoft.com/office/drawing/2014/main" id="{5E3CD1B9-F9B0-483D-A736-21BC8DB42991}"/>
              </a:ext>
            </a:extLst>
          </p:cNvPr>
          <p:cNvSpPr>
            <a:spLocks xmlns:a="http://schemas.openxmlformats.org/drawingml/2006/main" noGrp="1"/>
          </p:cNvSpPr>
          <p:nvPr/>
        </p:nvSpPr>
        <p:spPr>
          <a:xfrm xmlns:a="http://schemas.openxmlformats.org/drawingml/2006/main">
            <a:off x="772477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FP</a:t>
            </a:r>
          </a:p>
        </p:txBody>
      </p:sp>
      <p:sp>
        <p:nvSpPr>
          <p:cNvPr id="27" name="">
            <a:extLst xmlns:a="http://schemas.openxmlformats.org/drawingml/2006/main">
              <a:ext uri="{FF2B5EF4-FFF2-40B4-BE49-F238E27FC236}">
                <a16:creationId xmlns:a16="http://schemas.microsoft.com/office/drawing/2014/main" id="{4E2AAFEC-4DFC-4F20-BFAE-E8B0D694A232}"/>
              </a:ext>
            </a:extLst>
          </p:cNvPr>
          <p:cNvSpPr>
            <a:spLocks xmlns:a="http://schemas.openxmlformats.org/drawingml/2006/main" noGrp="1"/>
          </p:cNvSpPr>
          <p:nvPr/>
        </p:nvSpPr>
        <p:spPr>
          <a:xfrm xmlns:a="http://schemas.openxmlformats.org/drawingml/2006/main">
            <a:off x="8763000"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8" name="">
            <a:extLst xmlns:a="http://schemas.openxmlformats.org/drawingml/2006/main">
              <a:ext uri="{FF2B5EF4-FFF2-40B4-BE49-F238E27FC236}">
                <a16:creationId xmlns:a16="http://schemas.microsoft.com/office/drawing/2014/main" id="{60957BAC-C93D-4326-9D39-A4D9C3E11C04}"/>
              </a:ext>
            </a:extLst>
          </p:cNvPr>
          <p:cNvSpPr>
            <a:spLocks xmlns:a="http://schemas.openxmlformats.org/drawingml/2006/main" noGrp="1"/>
          </p:cNvSpPr>
          <p:nvPr/>
        </p:nvSpPr>
        <p:spPr>
          <a:xfrm xmlns:a="http://schemas.openxmlformats.org/drawingml/2006/main">
            <a:off x="883920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76</a:t>
            </a:r>
          </a:p>
        </p:txBody>
      </p:sp>
      <p:sp>
        <p:nvSpPr>
          <p:cNvPr id="29" name="">
            <a:extLst xmlns:a="http://schemas.openxmlformats.org/drawingml/2006/main">
              <a:ext uri="{FF2B5EF4-FFF2-40B4-BE49-F238E27FC236}">
                <a16:creationId xmlns:a16="http://schemas.microsoft.com/office/drawing/2014/main" id="{98B7F333-6C93-4ACF-BFB1-B98EE12D3EF9}"/>
              </a:ext>
            </a:extLst>
          </p:cNvPr>
          <p:cNvSpPr>
            <a:spLocks xmlns:a="http://schemas.openxmlformats.org/drawingml/2006/main" noGrp="1"/>
          </p:cNvSpPr>
          <p:nvPr/>
        </p:nvSpPr>
        <p:spPr>
          <a:xfrm xmlns:a="http://schemas.openxmlformats.org/drawingml/2006/main">
            <a:off x="883920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FN</a:t>
            </a:r>
          </a:p>
        </p:txBody>
      </p:sp>
      <p:sp>
        <p:nvSpPr>
          <p:cNvPr id="30" name="">
            <a:extLst xmlns:a="http://schemas.openxmlformats.org/drawingml/2006/main">
              <a:ext uri="{FF2B5EF4-FFF2-40B4-BE49-F238E27FC236}">
                <a16:creationId xmlns:a16="http://schemas.microsoft.com/office/drawing/2014/main" id="{1DF70EF8-CACD-4EE5-8223-A1FCA90D0FF8}"/>
              </a:ext>
            </a:extLst>
          </p:cNvPr>
          <p:cNvSpPr>
            <a:spLocks xmlns:a="http://schemas.openxmlformats.org/drawingml/2006/main" noGrp="1"/>
          </p:cNvSpPr>
          <p:nvPr/>
        </p:nvSpPr>
        <p:spPr>
          <a:xfrm xmlns:a="http://schemas.openxmlformats.org/drawingml/2006/main">
            <a:off x="9877425"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31" name="">
            <a:extLst xmlns:a="http://schemas.openxmlformats.org/drawingml/2006/main">
              <a:ext uri="{FF2B5EF4-FFF2-40B4-BE49-F238E27FC236}">
                <a16:creationId xmlns:a16="http://schemas.microsoft.com/office/drawing/2014/main" id="{5A63AECE-05A3-41B5-9ADB-80FE1E1F6FB7}"/>
              </a:ext>
            </a:extLst>
          </p:cNvPr>
          <p:cNvSpPr>
            <a:spLocks xmlns:a="http://schemas.openxmlformats.org/drawingml/2006/main" noGrp="1"/>
          </p:cNvSpPr>
          <p:nvPr/>
        </p:nvSpPr>
        <p:spPr>
          <a:xfrm xmlns:a="http://schemas.openxmlformats.org/drawingml/2006/main">
            <a:off x="995362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646</a:t>
            </a:r>
          </a:p>
        </p:txBody>
      </p:sp>
      <p:sp>
        <p:nvSpPr>
          <p:cNvPr id="32" name="">
            <a:extLst xmlns:a="http://schemas.openxmlformats.org/drawingml/2006/main">
              <a:ext uri="{FF2B5EF4-FFF2-40B4-BE49-F238E27FC236}">
                <a16:creationId xmlns:a16="http://schemas.microsoft.com/office/drawing/2014/main" id="{AD52C7A9-820D-40DD-84B5-956EB445E401}"/>
              </a:ext>
            </a:extLst>
          </p:cNvPr>
          <p:cNvSpPr>
            <a:spLocks xmlns:a="http://schemas.openxmlformats.org/drawingml/2006/main" noGrp="1"/>
          </p:cNvSpPr>
          <p:nvPr/>
        </p:nvSpPr>
        <p:spPr>
          <a:xfrm xmlns:a="http://schemas.openxmlformats.org/drawingml/2006/main">
            <a:off x="995362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defRPr sz="900" b="1">
                <a:solidFill>
                  <a:srgbClr val="B8C8D0"/>
                </a:solidFill>
                <a:latin typeface="Arial"/>
                <a:ea typeface="Arial"/>
                <a:cs typeface="Arial"/>
              </a:defRPr>
            </a:pPr>
            <a:r>
              <a:rPr sz="900" b="1">
                <a:solidFill>
                  <a:srgbClr val="B8C8D0"/>
                </a:solidFill>
                <a:latin typeface="Arial"/>
                <a:ea typeface="Arial"/>
                <a:cs typeface="Arial"/>
              </a:rPr>
              <a:t>TP</a:t>
            </a:r>
          </a:p>
        </p:txBody>
      </p:sp>
      <p:sp>
        <p:nvSpPr>
          <p:cNvPr id="33" name="">
            <a:extLst xmlns:a="http://schemas.openxmlformats.org/drawingml/2006/main">
              <a:ext uri="{FF2B5EF4-FFF2-40B4-BE49-F238E27FC236}">
                <a16:creationId xmlns:a16="http://schemas.microsoft.com/office/drawing/2014/main" id="{A0017D04-1EA2-4AD3-ADA9-E8ECC056D9A4}"/>
              </a:ext>
            </a:extLst>
          </p:cNvPr>
          <p:cNvSpPr>
            <a:spLocks xmlns:a="http://schemas.openxmlformats.org/drawingml/2006/main" noGrp="1"/>
          </p:cNvSpPr>
          <p:nvPr/>
        </p:nvSpPr>
        <p:spPr>
          <a:xfrm xmlns:a="http://schemas.openxmlformats.org/drawingml/2006/main">
            <a:off x="6534150" y="4838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FFFFFF"/>
                </a:solidFill>
                <a:latin typeface="Arial"/>
                <a:ea typeface="Arial"/>
                <a:cs typeface="Arial"/>
              </a:defRPr>
            </a:defPPr>
          </a:lstStyle>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950 Testzeilen</a:t>
            </a:r>
          </a:p>
        </p:txBody>
      </p:sp>
      <p:sp>
        <p:nvSpPr>
          <p:cNvPr id="34" name="">
            <a:extLst xmlns:a="http://schemas.openxmlformats.org/drawingml/2006/main">
              <a:ext uri="{FF2B5EF4-FFF2-40B4-BE49-F238E27FC236}">
                <a16:creationId xmlns:a16="http://schemas.microsoft.com/office/drawing/2014/main" id="{84E920DE-54E2-4DA2-A24C-A1D06865785C}"/>
              </a:ext>
            </a:extLst>
          </p:cNvPr>
          <p:cNvSpPr>
            <a:spLocks xmlns:a="http://schemas.openxmlformats.org/drawingml/2006/main" noGrp="1"/>
          </p:cNvSpPr>
          <p:nvPr/>
        </p:nvSpPr>
        <p:spPr>
          <a:xfrm xmlns:a="http://schemas.openxmlformats.org/drawingml/2006/main">
            <a:off x="8229600" y="48387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B8C8D0"/>
                </a:solidFill>
                <a:latin typeface="Arial"/>
                <a:ea typeface="Arial"/>
                <a:cs typeface="Arial"/>
              </a:defRPr>
            </a:defPPr>
          </a:lstStyle>
          <a:p xmlns:a="http://schemas.openxmlformats.org/drawingml/2006/main">
            <a:pPr algn="r">
              <a:defRPr sz="1050" b="0">
                <a:solidFill>
                  <a:srgbClr val="B8C8D0"/>
                </a:solidFill>
                <a:latin typeface="Arial"/>
                <a:ea typeface="Arial"/>
                <a:cs typeface="Arial"/>
              </a:defRPr>
            </a:pPr>
            <a:r>
              <a:rPr sz="1050" b="0">
                <a:solidFill>
                  <a:srgbClr val="B8C8D0"/>
                </a:solidFill>
                <a:latin typeface="Arial"/>
                <a:ea typeface="Arial"/>
                <a:cs typeface="Arial"/>
              </a:rPr>
              <a:t>Threshold 0,58 auf Validierung festgelegt</a:t>
            </a:r>
          </a:p>
        </p:txBody>
      </p:sp>
      <p:sp>
        <p:nvSpPr>
          <p:cNvPr id="35" name="">
            <a:extLst xmlns:a="http://schemas.openxmlformats.org/drawingml/2006/main">
              <a:ext uri="{FF2B5EF4-FFF2-40B4-BE49-F238E27FC236}">
                <a16:creationId xmlns:a16="http://schemas.microsoft.com/office/drawing/2014/main" id="{46868DD4-3321-476E-AABD-4C58D537AB9A}"/>
              </a:ext>
            </a:extLst>
          </p:cNvPr>
          <p:cNvSpPr>
            <a:spLocks xmlns:a="http://schemas.openxmlformats.org/drawingml/2006/main" noGrp="1"/>
          </p:cNvSpPr>
          <p:nvPr/>
        </p:nvSpPr>
        <p:spPr>
          <a:xfrm xmlns:a="http://schemas.openxmlformats.org/drawingml/2006/main">
            <a:off x="6572250" y="5219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ctr">
              <a:defRPr sz="1125" b="1">
                <a:solidFill>
                  <a:srgbClr val="F4A261"/>
                </a:solidFill>
                <a:latin typeface="Arial"/>
                <a:ea typeface="Arial"/>
                <a:cs typeface="Arial"/>
              </a:defRPr>
            </a:defPPr>
          </a:lstStyle>
          <a:p xmlns:a="http://schemas.openxmlformats.org/drawingml/2006/main">
            <a:pPr algn="ctr">
              <a:defRPr sz="1125" b="1">
                <a:solidFill>
                  <a:srgbClr val="F4A261"/>
                </a:solidFill>
                <a:latin typeface="Arial"/>
                <a:ea typeface="Arial"/>
                <a:cs typeface="Arial"/>
              </a:defRPr>
            </a:pPr>
            <a:r>
              <a:rPr sz="1125" b="1">
                <a:solidFill>
                  <a:srgbClr val="F4A261"/>
                </a:solidFill>
                <a:latin typeface="Arial"/>
                <a:ea typeface="Arial"/>
                <a:cs typeface="Arial"/>
              </a:rPr>
              <a:t>Klasse 0 Recall 0,180: Trennung bleibt schwach</a:t>
            </a:r>
          </a:p>
        </p:txBody>
      </p:sp>
      <p:sp>
        <p:nvSpPr>
          <p:cNvPr id="36" name="">
            <a:extLst xmlns:a="http://schemas.openxmlformats.org/drawingml/2006/main">
              <a:ext uri="{FF2B5EF4-FFF2-40B4-BE49-F238E27FC236}">
                <a16:creationId xmlns:a16="http://schemas.microsoft.com/office/drawing/2014/main" id="{CC9C0D64-36A6-4AE4-883D-F90004E58DB9}"/>
              </a:ext>
            </a:extLst>
          </p:cNvPr>
          <p:cNvSpPr>
            <a:spLocks xmlns:a="http://schemas.openxmlformats.org/drawingml/2006/main" noGrp="1"/>
          </p:cNvSpPr>
          <p:nvPr/>
        </p:nvSpPr>
        <p:spPr>
          <a:xfrm xmlns:a="http://schemas.openxmlformats.org/drawingml/2006/main">
            <a:off x="762000" y="59055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536675"/>
                </a:solidFill>
                <a:latin typeface="Arial"/>
                <a:ea typeface="Arial"/>
                <a:cs typeface="Arial"/>
              </a:defRPr>
            </a:defPPr>
          </a:lstStyle>
          <a:p xmlns:a="http://schemas.openxmlformats.org/drawingml/2006/main">
            <a:pPr algn="ctr">
              <a:defRPr sz="1200" b="1">
                <a:solidFill>
                  <a:srgbClr val="536675"/>
                </a:solidFill>
                <a:latin typeface="Arial"/>
                <a:ea typeface="Arial"/>
                <a:cs typeface="Arial"/>
              </a:defRPr>
            </a:pPr>
            <a:r>
              <a:rPr sz="1200" b="1">
                <a:solidFill>
                  <a:srgbClr val="536675"/>
                </a:solidFill>
                <a:latin typeface="Arial"/>
                <a:ea typeface="Arial"/>
                <a:cs typeface="Arial"/>
              </a:rPr>
              <a:t>KMeans: Silhouette 0,362 · kleiner Anomaliecluster n=85</a:t>
            </a:r>
          </a:p>
        </p:txBody>
      </p:sp>
    </p:spTree>
    <p:extLst>
      <p:ext uri="{BB962C8B-B14F-4D97-AF65-F5344CB8AC3E}">
        <p14:creationId xmlns:p14="http://schemas.microsoft.com/office/powerpoint/2010/main" val="885646780"/>
      </p:ext>
    </p:extLst>
  </p:cSld>
</p:sld>
</file>

<file path=ppt/slides/slide9.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05E828F-3A68-47E6-879A-C209DAFFAB7D}"/>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ERGEBNISSE &amp; LIVE-DEMO</a:t>
            </a:r>
          </a:p>
        </p:txBody>
      </p:sp>
      <p:sp>
        <p:nvSpPr>
          <p:cNvPr id="2" name="">
            <a:extLst xmlns:a="http://schemas.openxmlformats.org/drawingml/2006/main">
              <a:ext uri="{FF2B5EF4-FFF2-40B4-BE49-F238E27FC236}">
                <a16:creationId xmlns:a16="http://schemas.microsoft.com/office/drawing/2014/main" id="{81C710A4-56D7-4785-9341-482541673E07}"/>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Full-Run-Evidenz auf einen Blick</a:t>
            </a:r>
          </a:p>
        </p:txBody>
      </p:sp>
      <p:sp>
        <p:nvSpPr>
          <p:cNvPr id="3" name="">
            <a:extLst xmlns:a="http://schemas.openxmlformats.org/drawingml/2006/main">
              <a:ext uri="{FF2B5EF4-FFF2-40B4-BE49-F238E27FC236}">
                <a16:creationId xmlns:a16="http://schemas.microsoft.com/office/drawing/2014/main" id="{2EE45D4B-59E8-48E6-AEBA-31ABF3F12742}"/>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A5A554-3AE3-41BD-9B90-5B2BAAE7749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3D2750D-3CA7-4406-8184-14C2C2EA3940}"/>
              </a:ext>
            </a:extLst>
          </p:cNvPr>
          <p:cNvSpPr>
            <a:spLocks xmlns:a="http://schemas.openxmlformats.org/drawingml/2006/main" noGrp="1"/>
          </p:cNvSpPr>
          <p:nvPr/>
        </p:nvSpPr>
        <p:spPr>
          <a:xfrm xmlns:a="http://schemas.openxmlformats.org/drawingml/2006/main">
            <a:off x="6286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16336500-28AC-4030-A01D-29D85B5E4E0A}"/>
              </a:ext>
            </a:extLst>
          </p:cNvPr>
          <p:cNvSpPr>
            <a:spLocks xmlns:a="http://schemas.openxmlformats.org/drawingml/2006/main" noGrp="1"/>
          </p:cNvSpPr>
          <p:nvPr/>
        </p:nvSpPr>
        <p:spPr>
          <a:xfrm xmlns:a="http://schemas.openxmlformats.org/drawingml/2006/main">
            <a:off x="628650" y="15049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5128DE-3057-4907-951A-4A489D1382A7}"/>
              </a:ext>
            </a:extLst>
          </p:cNvPr>
          <p:cNvSpPr>
            <a:spLocks xmlns:a="http://schemas.openxmlformats.org/drawingml/2006/main" noGrp="1"/>
          </p:cNvSpPr>
          <p:nvPr/>
        </p:nvSpPr>
        <p:spPr>
          <a:xfrm xmlns:a="http://schemas.openxmlformats.org/drawingml/2006/main">
            <a:off x="8763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1.000.000</a:t>
            </a:r>
          </a:p>
        </p:txBody>
      </p:sp>
      <p:sp>
        <p:nvSpPr>
          <p:cNvPr id="8" name="">
            <a:extLst xmlns:a="http://schemas.openxmlformats.org/drawingml/2006/main">
              <a:ext uri="{FF2B5EF4-FFF2-40B4-BE49-F238E27FC236}">
                <a16:creationId xmlns:a16="http://schemas.microsoft.com/office/drawing/2014/main" id="{BD6B5A4B-DF34-470B-8E6F-BF7083032850}"/>
              </a:ext>
            </a:extLst>
          </p:cNvPr>
          <p:cNvSpPr>
            <a:spLocks xmlns:a="http://schemas.openxmlformats.org/drawingml/2006/main" noGrp="1"/>
          </p:cNvSpPr>
          <p:nvPr/>
        </p:nvSpPr>
        <p:spPr>
          <a:xfrm xmlns:a="http://schemas.openxmlformats.org/drawingml/2006/main">
            <a:off x="8763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MongoDB-Dokumente</a:t>
            </a:r>
          </a:p>
        </p:txBody>
      </p:sp>
      <p:sp>
        <p:nvSpPr>
          <p:cNvPr id="9" name="">
            <a:extLst xmlns:a="http://schemas.openxmlformats.org/drawingml/2006/main">
              <a:ext uri="{FF2B5EF4-FFF2-40B4-BE49-F238E27FC236}">
                <a16:creationId xmlns:a16="http://schemas.microsoft.com/office/drawing/2014/main" id="{37C2599B-E954-4723-AEAC-BC6E751BB6FA}"/>
              </a:ext>
            </a:extLst>
          </p:cNvPr>
          <p:cNvSpPr>
            <a:spLocks xmlns:a="http://schemas.openxmlformats.org/drawingml/2006/main" noGrp="1"/>
          </p:cNvSpPr>
          <p:nvPr/>
        </p:nvSpPr>
        <p:spPr>
          <a:xfrm xmlns:a="http://schemas.openxmlformats.org/drawingml/2006/main">
            <a:off x="33337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A194BF14-6B7A-463A-A1E2-B00A6EA12E0A}"/>
              </a:ext>
            </a:extLst>
          </p:cNvPr>
          <p:cNvSpPr>
            <a:spLocks xmlns:a="http://schemas.openxmlformats.org/drawingml/2006/main" noGrp="1"/>
          </p:cNvSpPr>
          <p:nvPr/>
        </p:nvSpPr>
        <p:spPr>
          <a:xfrm xmlns:a="http://schemas.openxmlformats.org/drawingml/2006/main">
            <a:off x="3333750" y="1504950"/>
            <a:ext cx="66675" cy="12001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50C471-FED8-4C9C-A8A9-E1A1ACE33919}"/>
              </a:ext>
            </a:extLst>
          </p:cNvPr>
          <p:cNvSpPr>
            <a:spLocks xmlns:a="http://schemas.openxmlformats.org/drawingml/2006/main" noGrp="1"/>
          </p:cNvSpPr>
          <p:nvPr/>
        </p:nvSpPr>
        <p:spPr>
          <a:xfrm xmlns:a="http://schemas.openxmlformats.org/drawingml/2006/main">
            <a:off x="35814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950</a:t>
            </a:r>
          </a:p>
        </p:txBody>
      </p:sp>
      <p:sp>
        <p:nvSpPr>
          <p:cNvPr id="12" name="">
            <a:extLst xmlns:a="http://schemas.openxmlformats.org/drawingml/2006/main">
              <a:ext uri="{FF2B5EF4-FFF2-40B4-BE49-F238E27FC236}">
                <a16:creationId xmlns:a16="http://schemas.microsoft.com/office/drawing/2014/main" id="{A7435F77-8A12-44E8-BF87-2B4AF77B6847}"/>
              </a:ext>
            </a:extLst>
          </p:cNvPr>
          <p:cNvSpPr>
            <a:spLocks xmlns:a="http://schemas.openxmlformats.org/drawingml/2006/main" noGrp="1"/>
          </p:cNvSpPr>
          <p:nvPr/>
        </p:nvSpPr>
        <p:spPr>
          <a:xfrm xmlns:a="http://schemas.openxmlformats.org/drawingml/2006/main">
            <a:off x="35814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neue ML-Testprognosen</a:t>
            </a:r>
          </a:p>
        </p:txBody>
      </p:sp>
      <p:sp>
        <p:nvSpPr>
          <p:cNvPr id="13" name="">
            <a:extLst xmlns:a="http://schemas.openxmlformats.org/drawingml/2006/main">
              <a:ext uri="{FF2B5EF4-FFF2-40B4-BE49-F238E27FC236}">
                <a16:creationId xmlns:a16="http://schemas.microsoft.com/office/drawing/2014/main" id="{6E03876E-21FF-41E4-9832-193733F9D592}"/>
              </a:ext>
            </a:extLst>
          </p:cNvPr>
          <p:cNvSpPr>
            <a:spLocks xmlns:a="http://schemas.openxmlformats.org/drawingml/2006/main" noGrp="1"/>
          </p:cNvSpPr>
          <p:nvPr/>
        </p:nvSpPr>
        <p:spPr>
          <a:xfrm xmlns:a="http://schemas.openxmlformats.org/drawingml/2006/main">
            <a:off x="60388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65C9AF9B-8664-4266-A3C5-D1C82A2860C5}"/>
              </a:ext>
            </a:extLst>
          </p:cNvPr>
          <p:cNvSpPr>
            <a:spLocks xmlns:a="http://schemas.openxmlformats.org/drawingml/2006/main" noGrp="1"/>
          </p:cNvSpPr>
          <p:nvPr/>
        </p:nvSpPr>
        <p:spPr>
          <a:xfrm xmlns:a="http://schemas.openxmlformats.org/drawingml/2006/main">
            <a:off x="6038850" y="15049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7A00E0-C2AA-48C5-9A2A-BDB2165052A7}"/>
              </a:ext>
            </a:extLst>
          </p:cNvPr>
          <p:cNvSpPr>
            <a:spLocks xmlns:a="http://schemas.openxmlformats.org/drawingml/2006/main" noGrp="1"/>
          </p:cNvSpPr>
          <p:nvPr/>
        </p:nvSpPr>
        <p:spPr>
          <a:xfrm xmlns:a="http://schemas.openxmlformats.org/drawingml/2006/main">
            <a:off x="62865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400</a:t>
            </a:r>
          </a:p>
        </p:txBody>
      </p:sp>
      <p:sp>
        <p:nvSpPr>
          <p:cNvPr id="16" name="">
            <a:extLst xmlns:a="http://schemas.openxmlformats.org/drawingml/2006/main">
              <a:ext uri="{FF2B5EF4-FFF2-40B4-BE49-F238E27FC236}">
                <a16:creationId xmlns:a16="http://schemas.microsoft.com/office/drawing/2014/main" id="{916B6250-2851-4382-BC32-ABA9BBBC6AA7}"/>
              </a:ext>
            </a:extLst>
          </p:cNvPr>
          <p:cNvSpPr>
            <a:spLocks xmlns:a="http://schemas.openxmlformats.org/drawingml/2006/main" noGrp="1"/>
          </p:cNvSpPr>
          <p:nvPr/>
        </p:nvSpPr>
        <p:spPr>
          <a:xfrm xmlns:a="http://schemas.openxmlformats.org/drawingml/2006/main">
            <a:off x="62865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Neo4j-Beziehungen</a:t>
            </a:r>
          </a:p>
        </p:txBody>
      </p:sp>
      <p:sp>
        <p:nvSpPr>
          <p:cNvPr id="17" name="">
            <a:extLst xmlns:a="http://schemas.openxmlformats.org/drawingml/2006/main">
              <a:ext uri="{FF2B5EF4-FFF2-40B4-BE49-F238E27FC236}">
                <a16:creationId xmlns:a16="http://schemas.microsoft.com/office/drawing/2014/main" id="{76DC33F0-2B6C-4912-8E35-34542DD1C5A6}"/>
              </a:ext>
            </a:extLst>
          </p:cNvPr>
          <p:cNvSpPr>
            <a:spLocks xmlns:a="http://schemas.openxmlformats.org/drawingml/2006/main" noGrp="1"/>
          </p:cNvSpPr>
          <p:nvPr/>
        </p:nvSpPr>
        <p:spPr>
          <a:xfrm xmlns:a="http://schemas.openxmlformats.org/drawingml/2006/main">
            <a:off x="87439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E91C7129-C785-4103-B5BD-9C19BB3A47DE}"/>
              </a:ext>
            </a:extLst>
          </p:cNvPr>
          <p:cNvSpPr>
            <a:spLocks xmlns:a="http://schemas.openxmlformats.org/drawingml/2006/main" noGrp="1"/>
          </p:cNvSpPr>
          <p:nvPr/>
        </p:nvSpPr>
        <p:spPr>
          <a:xfrm xmlns:a="http://schemas.openxmlformats.org/drawingml/2006/main">
            <a:off x="8743950" y="15049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DD4ED3D-4B25-4A38-935A-661C7DDC246E}"/>
              </a:ext>
            </a:extLst>
          </p:cNvPr>
          <p:cNvSpPr>
            <a:spLocks xmlns:a="http://schemas.openxmlformats.org/drawingml/2006/main" noGrp="1"/>
          </p:cNvSpPr>
          <p:nvPr/>
        </p:nvSpPr>
        <p:spPr>
          <a:xfrm xmlns:a="http://schemas.openxmlformats.org/drawingml/2006/main">
            <a:off x="89916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21 / 21</a:t>
            </a:r>
          </a:p>
        </p:txBody>
      </p:sp>
      <p:sp>
        <p:nvSpPr>
          <p:cNvPr id="20" name="">
            <a:extLst xmlns:a="http://schemas.openxmlformats.org/drawingml/2006/main">
              <a:ext uri="{FF2B5EF4-FFF2-40B4-BE49-F238E27FC236}">
                <a16:creationId xmlns:a16="http://schemas.microsoft.com/office/drawing/2014/main" id="{6B46BE85-A06E-4D65-8FE8-B20EA3D18BBA}"/>
              </a:ext>
            </a:extLst>
          </p:cNvPr>
          <p:cNvSpPr>
            <a:spLocks xmlns:a="http://schemas.openxmlformats.org/drawingml/2006/main" noGrp="1"/>
          </p:cNvSpPr>
          <p:nvPr/>
        </p:nvSpPr>
        <p:spPr>
          <a:xfrm xmlns:a="http://schemas.openxmlformats.org/drawingml/2006/main">
            <a:off x="89916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schnell + Integration</a:t>
            </a:r>
          </a:p>
        </p:txBody>
      </p:sp>
      <p:sp>
        <p:nvSpPr>
          <p:cNvPr id="21" name="">
            <a:extLst xmlns:a="http://schemas.openxmlformats.org/drawingml/2006/main">
              <a:ext uri="{FF2B5EF4-FFF2-40B4-BE49-F238E27FC236}">
                <a16:creationId xmlns:a16="http://schemas.microsoft.com/office/drawing/2014/main" id="{2C02D0F1-AC70-4E8D-9C1F-3206D30B4A6E}"/>
              </a:ext>
            </a:extLst>
          </p:cNvPr>
          <p:cNvSpPr>
            <a:spLocks xmlns:a="http://schemas.openxmlformats.org/drawingml/2006/main" noGrp="1"/>
          </p:cNvSpPr>
          <p:nvPr/>
        </p:nvSpPr>
        <p:spPr>
          <a:xfrm xmlns:a="http://schemas.openxmlformats.org/drawingml/2006/main">
            <a:off x="628650" y="3105150"/>
            <a:ext cx="6819900" cy="2438400"/>
          </a:xfrm>
          <a:prstGeom xmlns:a="http://schemas.openxmlformats.org/drawingml/2006/main" prst="roundRect">
            <a:avLst>
              <a:gd name="adj" fmla="val 4688"/>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46059A28-CFC0-4DE7-BE54-1CE8A68779CF}"/>
              </a:ext>
            </a:extLst>
          </p:cNvPr>
          <p:cNvSpPr>
            <a:spLocks xmlns:a="http://schemas.openxmlformats.org/drawingml/2006/main" noGrp="1"/>
          </p:cNvSpPr>
          <p:nvPr/>
        </p:nvSpPr>
        <p:spPr>
          <a:xfrm xmlns:a="http://schemas.openxmlformats.org/drawingml/2006/main">
            <a:off x="914400" y="3352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778"/>
          </a:bodyPr>
          <a:lstStyle xmlns:a="http://schemas.openxmlformats.org/drawingml/2006/main">
            <a:defPPr algn="l">
              <a:defRPr sz="1800" b="1">
                <a:solidFill>
                  <a:srgbClr val="102230"/>
                </a:solidFill>
                <a:latin typeface="Arial"/>
                <a:ea typeface="Arial"/>
                <a:cs typeface="Arial"/>
              </a:defRPr>
            </a:defPPr>
          </a:lstStyle>
          <a:p xmlns:a="http://schemas.openxmlformats.org/drawingml/2006/main">
            <a:pPr algn="l">
              <a:defRPr sz="1800" b="1">
                <a:solidFill>
                  <a:srgbClr val="102230"/>
                </a:solidFill>
                <a:latin typeface="Arial"/>
                <a:ea typeface="Arial"/>
                <a:cs typeface="Arial"/>
              </a:defRPr>
            </a:pPr>
            <a:r>
              <a:rPr sz="1800" b="1">
                <a:solidFill>
                  <a:srgbClr val="102230"/>
                </a:solidFill>
                <a:latin typeface="Arial"/>
                <a:ea typeface="Arial"/>
                <a:cs typeface="Arial"/>
              </a:rPr>
              <a:t>Live-Demo in 90 Sekunden</a:t>
            </a:r>
          </a:p>
        </p:txBody>
      </p:sp>
      <p:sp>
        <p:nvSpPr>
          <p:cNvPr id="23" name="">
            <a:extLst xmlns:a="http://schemas.openxmlformats.org/drawingml/2006/main">
              <a:ext uri="{FF2B5EF4-FFF2-40B4-BE49-F238E27FC236}">
                <a16:creationId xmlns:a16="http://schemas.microsoft.com/office/drawing/2014/main" id="{B8D5056C-3D21-4624-9516-F5BC8DD8892B}"/>
              </a:ext>
            </a:extLst>
          </p:cNvPr>
          <p:cNvSpPr>
            <a:spLocks xmlns:a="http://schemas.openxmlformats.org/drawingml/2006/main" noGrp="1"/>
          </p:cNvSpPr>
          <p:nvPr/>
        </p:nvSpPr>
        <p:spPr>
          <a:xfrm xmlns:a="http://schemas.openxmlformats.org/drawingml/2006/main">
            <a:off x="933450" y="3867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9093B0AF-6CCC-4A5F-9637-117D818B4D3B}"/>
              </a:ext>
            </a:extLst>
          </p:cNvPr>
          <p:cNvSpPr>
            <a:spLocks xmlns:a="http://schemas.openxmlformats.org/drawingml/2006/main" noGrp="1"/>
          </p:cNvSpPr>
          <p:nvPr/>
        </p:nvSpPr>
        <p:spPr>
          <a:xfrm xmlns:a="http://schemas.openxmlformats.org/drawingml/2006/main">
            <a:off x="1371600" y="38671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docker compose ps</a:t>
            </a:r>
          </a:p>
        </p:txBody>
      </p:sp>
      <p:sp>
        <p:nvSpPr>
          <p:cNvPr id="25" name="">
            <a:extLst xmlns:a="http://schemas.openxmlformats.org/drawingml/2006/main">
              <a:ext uri="{FF2B5EF4-FFF2-40B4-BE49-F238E27FC236}">
                <a16:creationId xmlns:a16="http://schemas.microsoft.com/office/drawing/2014/main" id="{1D094BB6-F852-4BAB-AB73-4DD2AFCFD7A3}"/>
              </a:ext>
            </a:extLst>
          </p:cNvPr>
          <p:cNvSpPr>
            <a:spLocks xmlns:a="http://schemas.openxmlformats.org/drawingml/2006/main" noGrp="1"/>
          </p:cNvSpPr>
          <p:nvPr/>
        </p:nvSpPr>
        <p:spPr>
          <a:xfrm xmlns:a="http://schemas.openxmlformats.org/drawingml/2006/main">
            <a:off x="3905250" y="38671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gesunder Stack</a:t>
            </a:r>
          </a:p>
        </p:txBody>
      </p:sp>
      <p:sp>
        <p:nvSpPr>
          <p:cNvPr id="26" name="">
            <a:extLst xmlns:a="http://schemas.openxmlformats.org/drawingml/2006/main">
              <a:ext uri="{FF2B5EF4-FFF2-40B4-BE49-F238E27FC236}">
                <a16:creationId xmlns:a16="http://schemas.microsoft.com/office/drawing/2014/main" id="{A6148057-5272-4668-8CD2-8DF2011C7765}"/>
              </a:ext>
            </a:extLst>
          </p:cNvPr>
          <p:cNvSpPr>
            <a:spLocks xmlns:a="http://schemas.openxmlformats.org/drawingml/2006/main" noGrp="1"/>
          </p:cNvSpPr>
          <p:nvPr/>
        </p:nvSpPr>
        <p:spPr>
          <a:xfrm xmlns:a="http://schemas.openxmlformats.org/drawingml/2006/main">
            <a:off x="933450" y="42576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02</a:t>
            </a:r>
          </a:p>
        </p:txBody>
      </p:sp>
      <p:sp>
        <p:nvSpPr>
          <p:cNvPr id="27" name="">
            <a:extLst xmlns:a="http://schemas.openxmlformats.org/drawingml/2006/main">
              <a:ext uri="{FF2B5EF4-FFF2-40B4-BE49-F238E27FC236}">
                <a16:creationId xmlns:a16="http://schemas.microsoft.com/office/drawing/2014/main" id="{F6FE9D42-7B99-4AE0-89E5-C9C993040831}"/>
              </a:ext>
            </a:extLst>
          </p:cNvPr>
          <p:cNvSpPr>
            <a:spLocks xmlns:a="http://schemas.openxmlformats.org/drawingml/2006/main" noGrp="1"/>
          </p:cNvSpPr>
          <p:nvPr/>
        </p:nvSpPr>
        <p:spPr>
          <a:xfrm xmlns:a="http://schemas.openxmlformats.org/drawingml/2006/main">
            <a:off x="1371600" y="425767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GET /health</a:t>
            </a:r>
          </a:p>
        </p:txBody>
      </p:sp>
      <p:sp>
        <p:nvSpPr>
          <p:cNvPr id="28" name="">
            <a:extLst xmlns:a="http://schemas.openxmlformats.org/drawingml/2006/main">
              <a:ext uri="{FF2B5EF4-FFF2-40B4-BE49-F238E27FC236}">
                <a16:creationId xmlns:a16="http://schemas.microsoft.com/office/drawing/2014/main" id="{B492B4F2-0CB6-4C80-AC0D-AB348616D1EC}"/>
              </a:ext>
            </a:extLst>
          </p:cNvPr>
          <p:cNvSpPr>
            <a:spLocks xmlns:a="http://schemas.openxmlformats.org/drawingml/2006/main" noGrp="1"/>
          </p:cNvSpPr>
          <p:nvPr/>
        </p:nvSpPr>
        <p:spPr>
          <a:xfrm xmlns:a="http://schemas.openxmlformats.org/drawingml/2006/main">
            <a:off x="3905250" y="42576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Artefakte verfügbar</a:t>
            </a:r>
          </a:p>
        </p:txBody>
      </p:sp>
      <p:sp>
        <p:nvSpPr>
          <p:cNvPr id="29" name="">
            <a:extLst xmlns:a="http://schemas.openxmlformats.org/drawingml/2006/main">
              <a:ext uri="{FF2B5EF4-FFF2-40B4-BE49-F238E27FC236}">
                <a16:creationId xmlns:a16="http://schemas.microsoft.com/office/drawing/2014/main" id="{3F15E6D7-1BA3-4DA8-AAE1-3DD393CF37F5}"/>
              </a:ext>
            </a:extLst>
          </p:cNvPr>
          <p:cNvSpPr>
            <a:spLocks xmlns:a="http://schemas.openxmlformats.org/drawingml/2006/main" noGrp="1"/>
          </p:cNvSpPr>
          <p:nvPr/>
        </p:nvSpPr>
        <p:spPr>
          <a:xfrm xmlns:a="http://schemas.openxmlformats.org/drawingml/2006/main">
            <a:off x="933450" y="46482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F59E2F7B-C4EC-44D0-918D-8630E115F9DC}"/>
              </a:ext>
            </a:extLst>
          </p:cNvPr>
          <p:cNvSpPr>
            <a:spLocks xmlns:a="http://schemas.openxmlformats.org/drawingml/2006/main" noGrp="1"/>
          </p:cNvSpPr>
          <p:nvPr/>
        </p:nvSpPr>
        <p:spPr>
          <a:xfrm xmlns:a="http://schemas.openxmlformats.org/drawingml/2006/main">
            <a:off x="1371600" y="464820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GET /predictions</a:t>
            </a:r>
          </a:p>
        </p:txBody>
      </p:sp>
      <p:sp>
        <p:nvSpPr>
          <p:cNvPr id="31" name="">
            <a:extLst xmlns:a="http://schemas.openxmlformats.org/drawingml/2006/main">
              <a:ext uri="{FF2B5EF4-FFF2-40B4-BE49-F238E27FC236}">
                <a16:creationId xmlns:a16="http://schemas.microsoft.com/office/drawing/2014/main" id="{A42E6882-0EAC-457A-8548-419B9B1842E1}"/>
              </a:ext>
            </a:extLst>
          </p:cNvPr>
          <p:cNvSpPr>
            <a:spLocks xmlns:a="http://schemas.openxmlformats.org/drawingml/2006/main" noGrp="1"/>
          </p:cNvSpPr>
          <p:nvPr/>
        </p:nvSpPr>
        <p:spPr>
          <a:xfrm xmlns:a="http://schemas.openxmlformats.org/drawingml/2006/main">
            <a:off x="390525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Risikowerte abrufen</a:t>
            </a:r>
          </a:p>
        </p:txBody>
      </p:sp>
      <p:sp>
        <p:nvSpPr>
          <p:cNvPr id="32" name="">
            <a:extLst xmlns:a="http://schemas.openxmlformats.org/drawingml/2006/main">
              <a:ext uri="{FF2B5EF4-FFF2-40B4-BE49-F238E27FC236}">
                <a16:creationId xmlns:a16="http://schemas.microsoft.com/office/drawing/2014/main" id="{A03165C4-BA5B-438A-877F-1BF4C4034DB2}"/>
              </a:ext>
            </a:extLst>
          </p:cNvPr>
          <p:cNvSpPr>
            <a:spLocks xmlns:a="http://schemas.openxmlformats.org/drawingml/2006/main" noGrp="1"/>
          </p:cNvSpPr>
          <p:nvPr/>
        </p:nvSpPr>
        <p:spPr>
          <a:xfrm xmlns:a="http://schemas.openxmlformats.org/drawingml/2006/main">
            <a:off x="933450" y="50387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448B11BD-1439-4937-9194-2CC5C1C7E5C1}"/>
              </a:ext>
            </a:extLst>
          </p:cNvPr>
          <p:cNvSpPr>
            <a:spLocks xmlns:a="http://schemas.openxmlformats.org/drawingml/2006/main" noGrp="1"/>
          </p:cNvSpPr>
          <p:nvPr/>
        </p:nvSpPr>
        <p:spPr>
          <a:xfrm xmlns:a="http://schemas.openxmlformats.org/drawingml/2006/main">
            <a:off x="1371600" y="503872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Airflow / Neo4j</a:t>
            </a:r>
          </a:p>
        </p:txBody>
      </p:sp>
      <p:sp>
        <p:nvSpPr>
          <p:cNvPr id="34" name="">
            <a:extLst xmlns:a="http://schemas.openxmlformats.org/drawingml/2006/main">
              <a:ext uri="{FF2B5EF4-FFF2-40B4-BE49-F238E27FC236}">
                <a16:creationId xmlns:a16="http://schemas.microsoft.com/office/drawing/2014/main" id="{D74CBD4D-05BE-46A4-81B4-D48ACEA12E42}"/>
              </a:ext>
            </a:extLst>
          </p:cNvPr>
          <p:cNvSpPr>
            <a:spLocks xmlns:a="http://schemas.openxmlformats.org/drawingml/2006/main" noGrp="1"/>
          </p:cNvSpPr>
          <p:nvPr/>
        </p:nvSpPr>
        <p:spPr>
          <a:xfrm xmlns:a="http://schemas.openxmlformats.org/drawingml/2006/main">
            <a:off x="3905250" y="503872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Ablauf + Kontext</a:t>
            </a:r>
          </a:p>
        </p:txBody>
      </p:sp>
      <p:sp>
        <p:nvSpPr>
          <p:cNvPr id="35" name="">
            <a:extLst xmlns:a="http://schemas.openxmlformats.org/drawingml/2006/main">
              <a:ext uri="{FF2B5EF4-FFF2-40B4-BE49-F238E27FC236}">
                <a16:creationId xmlns:a16="http://schemas.microsoft.com/office/drawing/2014/main" id="{D39CF583-F5AD-4940-BF5E-CAD6D77EF57C}"/>
              </a:ext>
            </a:extLst>
          </p:cNvPr>
          <p:cNvSpPr>
            <a:spLocks xmlns:a="http://schemas.openxmlformats.org/drawingml/2006/main" noGrp="1"/>
          </p:cNvSpPr>
          <p:nvPr/>
        </p:nvSpPr>
        <p:spPr>
          <a:xfrm xmlns:a="http://schemas.openxmlformats.org/drawingml/2006/main">
            <a:off x="7734300" y="3105150"/>
            <a:ext cx="3467100" cy="2438400"/>
          </a:xfrm>
          <a:prstGeom xmlns:a="http://schemas.openxmlformats.org/drawingml/2006/main" prst="roundRect">
            <a:avLst>
              <a:gd name="adj" fmla="val 4688"/>
            </a:avLst>
          </a:prstGeom>
          <a:solidFill xmlns:a="http://schemas.openxmlformats.org/drawingml/2006/main">
            <a:srgbClr val="0A1822"/>
          </a:solidFill>
          <a:ln xmlns:a="http://schemas.openxmlformats.org/drawingml/2006/main" w="9525">
            <a:solidFill>
              <a:srgbClr val="0A1822"/>
            </a:solidFill>
            <a:prstDash val="solid"/>
          </a:ln>
        </p:spPr>
      </p:sp>
      <p:sp>
        <p:nvSpPr>
          <p:cNvPr id="36" name="">
            <a:extLst xmlns:a="http://schemas.openxmlformats.org/drawingml/2006/main">
              <a:ext uri="{FF2B5EF4-FFF2-40B4-BE49-F238E27FC236}">
                <a16:creationId xmlns:a16="http://schemas.microsoft.com/office/drawing/2014/main" id="{0D715CC5-489A-442B-88AA-600A58724209}"/>
              </a:ext>
            </a:extLst>
          </p:cNvPr>
          <p:cNvSpPr>
            <a:spLocks xmlns:a="http://schemas.openxmlformats.org/drawingml/2006/main" noGrp="1"/>
          </p:cNvSpPr>
          <p:nvPr/>
        </p:nvSpPr>
        <p:spPr>
          <a:xfrm xmlns:a="http://schemas.openxmlformats.org/drawingml/2006/main">
            <a:off x="8039100" y="3371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F4A261"/>
                </a:solidFill>
                <a:latin typeface="Arial"/>
                <a:ea typeface="Arial"/>
                <a:cs typeface="Arial"/>
              </a:defRPr>
            </a:defPPr>
          </a:lstStyle>
          <a:p xmlns:a="http://schemas.openxmlformats.org/drawingml/2006/main">
            <a:pPr algn="ctr">
              <a:defRPr sz="1200" b="1">
                <a:solidFill>
                  <a:srgbClr val="F4A261"/>
                </a:solidFill>
                <a:latin typeface="Arial"/>
                <a:ea typeface="Arial"/>
                <a:cs typeface="Arial"/>
              </a:defRPr>
            </a:pPr>
            <a:r>
              <a:rPr sz="1200" b="1">
                <a:solidFill>
                  <a:srgbClr val="F4A261"/>
                </a:solidFill>
                <a:latin typeface="Arial"/>
                <a:ea typeface="Arial"/>
                <a:cs typeface="Arial"/>
              </a:rPr>
              <a:t>Integriertes Modell</a:t>
            </a:r>
          </a:p>
        </p:txBody>
      </p:sp>
      <p:sp>
        <p:nvSpPr>
          <p:cNvPr id="37" name="">
            <a:extLst xmlns:a="http://schemas.openxmlformats.org/drawingml/2006/main">
              <a:ext uri="{FF2B5EF4-FFF2-40B4-BE49-F238E27FC236}">
                <a16:creationId xmlns:a16="http://schemas.microsoft.com/office/drawing/2014/main" id="{46A77022-E90C-494F-8599-B20AE89C9A41}"/>
              </a:ext>
            </a:extLst>
          </p:cNvPr>
          <p:cNvSpPr>
            <a:spLocks xmlns:a="http://schemas.openxmlformats.org/drawingml/2006/main" noGrp="1"/>
          </p:cNvSpPr>
          <p:nvPr/>
        </p:nvSpPr>
        <p:spPr>
          <a:xfrm xmlns:a="http://schemas.openxmlformats.org/drawingml/2006/main">
            <a:off x="8039100" y="37909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225" b="1">
                <a:solidFill>
                  <a:srgbClr val="FFFFFF"/>
                </a:solidFill>
                <a:latin typeface="Arial"/>
                <a:ea typeface="Arial"/>
                <a:cs typeface="Arial"/>
              </a:defRPr>
            </a:defPPr>
          </a:lstStyle>
          <a:p xmlns:a="http://schemas.openxmlformats.org/drawingml/2006/main">
            <a:pPr algn="ctr">
              <a:defRPr sz="3225" b="1">
                <a:solidFill>
                  <a:srgbClr val="FFFFFF"/>
                </a:solidFill>
                <a:latin typeface="Arial"/>
                <a:ea typeface="Arial"/>
                <a:cs typeface="Arial"/>
              </a:defRPr>
            </a:pPr>
            <a:r>
              <a:rPr sz="3225" b="1">
                <a:solidFill>
                  <a:srgbClr val="FFFFFF"/>
                </a:solidFill>
                <a:latin typeface="Arial"/>
                <a:ea typeface="Arial"/>
                <a:cs typeface="Arial"/>
              </a:rPr>
              <a:t>Logistic</a:t>
            </a:r>
          </a:p>
        </p:txBody>
      </p:sp>
      <p:sp>
        <p:nvSpPr>
          <p:cNvPr id="38" name="">
            <a:extLst xmlns:a="http://schemas.openxmlformats.org/drawingml/2006/main">
              <a:ext uri="{FF2B5EF4-FFF2-40B4-BE49-F238E27FC236}">
                <a16:creationId xmlns:a16="http://schemas.microsoft.com/office/drawing/2014/main" id="{96345EAC-1AFE-4761-8144-CFC929850BEE}"/>
              </a:ext>
            </a:extLst>
          </p:cNvPr>
          <p:cNvSpPr>
            <a:spLocks xmlns:a="http://schemas.openxmlformats.org/drawingml/2006/main" noGrp="1"/>
          </p:cNvSpPr>
          <p:nvPr/>
        </p:nvSpPr>
        <p:spPr>
          <a:xfrm xmlns:a="http://schemas.openxmlformats.org/drawingml/2006/main">
            <a:off x="8039100" y="4476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defPPr algn="ctr">
              <a:defRPr sz="1425" b="1">
                <a:solidFill>
                  <a:srgbClr val="C8D7DD"/>
                </a:solidFill>
                <a:latin typeface="Arial"/>
                <a:ea typeface="Arial"/>
                <a:cs typeface="Arial"/>
              </a:defRPr>
            </a:defPPr>
          </a:lstStyle>
          <a:p xmlns:a="http://schemas.openxmlformats.org/drawingml/2006/main">
            <a:pPr algn="ctr">
              <a:defRPr sz="1425" b="1">
                <a:solidFill>
                  <a:srgbClr val="C8D7DD"/>
                </a:solidFill>
                <a:latin typeface="Arial"/>
                <a:ea typeface="Arial"/>
                <a:cs typeface="Arial"/>
              </a:defRPr>
            </a:pPr>
            <a:r>
              <a:rPr sz="1425" b="1">
                <a:solidFill>
                  <a:srgbClr val="C8D7DD"/>
                </a:solidFill>
                <a:latin typeface="Arial"/>
                <a:ea typeface="Arial"/>
                <a:cs typeface="Arial"/>
              </a:rPr>
              <a:t>Macro-F1 +0,102</a:t>
            </a:r>
          </a:p>
        </p:txBody>
      </p:sp>
      <p:sp>
        <p:nvSpPr>
          <p:cNvPr id="39" name="">
            <a:extLst xmlns:a="http://schemas.openxmlformats.org/drawingml/2006/main">
              <a:ext uri="{FF2B5EF4-FFF2-40B4-BE49-F238E27FC236}">
                <a16:creationId xmlns:a16="http://schemas.microsoft.com/office/drawing/2014/main" id="{CA38F389-EEF0-47DE-B6CD-3DEB6FFF40D3}"/>
              </a:ext>
            </a:extLst>
          </p:cNvPr>
          <p:cNvSpPr>
            <a:spLocks xmlns:a="http://schemas.openxmlformats.org/drawingml/2006/main" noGrp="1"/>
          </p:cNvSpPr>
          <p:nvPr/>
        </p:nvSpPr>
        <p:spPr>
          <a:xfrm xmlns:a="http://schemas.openxmlformats.org/drawingml/2006/main">
            <a:off x="8039100" y="49339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8FA6B0"/>
                </a:solidFill>
                <a:latin typeface="Arial"/>
                <a:ea typeface="Arial"/>
                <a:cs typeface="Arial"/>
              </a:defRPr>
            </a:defPPr>
          </a:lstStyle>
          <a:p xmlns:a="http://schemas.openxmlformats.org/drawingml/2006/main">
            <a:pPr algn="ctr">
              <a:defRPr sz="1050" b="0">
                <a:solidFill>
                  <a:srgbClr val="8FA6B0"/>
                </a:solidFill>
                <a:latin typeface="Arial"/>
                <a:ea typeface="Arial"/>
                <a:cs typeface="Arial"/>
              </a:defRPr>
            </a:pPr>
            <a:r>
              <a:rPr sz="1050" b="0">
                <a:solidFill>
                  <a:srgbClr val="8FA6B0"/>
                </a:solidFill>
                <a:latin typeface="Arial"/>
                <a:ea typeface="Arial"/>
                <a:cs typeface="Arial"/>
              </a:rPr>
              <a:t>gegen Majority-Baseline</a:t>
            </a:r>
          </a:p>
          <a:p xmlns:a="http://schemas.openxmlformats.org/drawingml/2006/main">
            <a:pPr algn="ctr">
              <a:defRPr sz="1050" b="0">
                <a:solidFill>
                  <a:srgbClr val="8FA6B0"/>
                </a:solidFill>
                <a:latin typeface="Arial"/>
                <a:ea typeface="Arial"/>
                <a:cs typeface="Arial"/>
              </a:defRPr>
            </a:pPr>
            <a:r>
              <a:rPr sz="1050" b="0">
                <a:solidFill>
                  <a:srgbClr val="8FA6B0"/>
                </a:solidFill>
                <a:latin typeface="Arial"/>
                <a:ea typeface="Arial"/>
                <a:cs typeface="Arial"/>
              </a:rPr>
              <a:t>beide Klassen vorhergesagt</a:t>
            </a:r>
          </a:p>
        </p:txBody>
      </p:sp>
    </p:spTree>
    <p:extLst>
      <p:ext uri="{BB962C8B-B14F-4D97-AF65-F5344CB8AC3E}">
        <p14:creationId xmlns:p14="http://schemas.microsoft.com/office/powerpoint/2010/main" val="1176314456"/>
      </p:ext>
    </p:extLst>
  </p:cSld>
</p:sld>
</file>

<file path=ppt/slides/slide10.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E3D18C-4357-42D4-A961-14BDE219CDA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FAZIT</a:t>
            </a:r>
          </a:p>
        </p:txBody>
      </p:sp>
      <p:sp>
        <p:nvSpPr>
          <p:cNvPr id="2" name="">
            <a:extLst xmlns:a="http://schemas.openxmlformats.org/drawingml/2006/main">
              <a:ext uri="{FF2B5EF4-FFF2-40B4-BE49-F238E27FC236}">
                <a16:creationId xmlns:a16="http://schemas.microsoft.com/office/drawing/2014/main" id="{50B33D4B-B25A-4B45-8489-882E1EFB6393}"/>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Technik abgeschlossen, Klassifikation messbar verbessert</a:t>
            </a:r>
          </a:p>
        </p:txBody>
      </p:sp>
      <p:sp>
        <p:nvSpPr>
          <p:cNvPr id="3" name="">
            <a:extLst xmlns:a="http://schemas.openxmlformats.org/drawingml/2006/main">
              <a:ext uri="{FF2B5EF4-FFF2-40B4-BE49-F238E27FC236}">
                <a16:creationId xmlns:a16="http://schemas.microsoft.com/office/drawing/2014/main" id="{09E49BAF-39B7-49D3-BDC8-B7898FCEB31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5321DD-A73D-459E-8FD8-8C43EA46B57C}"/>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A489ECF-6618-4DEF-9825-BAF08C2CDE28}"/>
              </a:ext>
            </a:extLst>
          </p:cNvPr>
          <p:cNvSpPr>
            <a:spLocks xmlns:a="http://schemas.openxmlformats.org/drawingml/2006/main" noGrp="1"/>
          </p:cNvSpPr>
          <p:nvPr/>
        </p:nvSpPr>
        <p:spPr>
          <a:xfrm xmlns:a="http://schemas.openxmlformats.org/drawingml/2006/main">
            <a:off x="628650" y="1562100"/>
            <a:ext cx="5124450" cy="3600450"/>
          </a:xfrm>
          <a:prstGeom xmlns:a="http://schemas.openxmlformats.org/drawingml/2006/main" prst="roundRect">
            <a:avLst>
              <a:gd name="adj" fmla="val 3175"/>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785A300F-FDC4-455D-ABA5-A88A58F2D5C3}"/>
              </a:ext>
            </a:extLst>
          </p:cNvPr>
          <p:cNvSpPr>
            <a:spLocks xmlns:a="http://schemas.openxmlformats.org/drawingml/2006/main" noGrp="1"/>
          </p:cNvSpPr>
          <p:nvPr/>
        </p:nvSpPr>
        <p:spPr>
          <a:xfrm xmlns:a="http://schemas.openxmlformats.org/drawingml/2006/main">
            <a:off x="933450" y="18669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Erreicht</a:t>
            </a:r>
          </a:p>
        </p:txBody>
      </p:sp>
      <p:sp>
        <p:nvSpPr>
          <p:cNvPr id="7" name="">
            <a:extLst xmlns:a="http://schemas.openxmlformats.org/drawingml/2006/main">
              <a:ext uri="{FF2B5EF4-FFF2-40B4-BE49-F238E27FC236}">
                <a16:creationId xmlns:a16="http://schemas.microsoft.com/office/drawing/2014/main" id="{7D33794D-41DB-4692-BAE1-FF8D7067DD94}"/>
              </a:ext>
            </a:extLst>
          </p:cNvPr>
          <p:cNvSpPr>
            <a:spLocks xmlns:a="http://schemas.openxmlformats.org/drawingml/2006/main" noGrp="1"/>
          </p:cNvSpPr>
          <p:nvPr/>
        </p:nvSpPr>
        <p:spPr>
          <a:xfrm xmlns:a="http://schemas.openxmlformats.org/drawingml/2006/main">
            <a:off x="971550" y="2476500"/>
            <a:ext cx="4286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End-to-End-Plattform statt Demo-Skripte</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Full-DAG mit 1 Mio. Messungen erfolgreich</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fünf Klassifikatoren fair verglichen</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beide Klassen im unabhängigen Test erkannt</a:t>
            </a:r>
          </a:p>
        </p:txBody>
      </p:sp>
      <p:sp>
        <p:nvSpPr>
          <p:cNvPr id="8" name="">
            <a:extLst xmlns:a="http://schemas.openxmlformats.org/drawingml/2006/main">
              <a:ext uri="{FF2B5EF4-FFF2-40B4-BE49-F238E27FC236}">
                <a16:creationId xmlns:a16="http://schemas.microsoft.com/office/drawing/2014/main" id="{F400ACFF-6AD4-472B-A0BC-7EDF7F97A300}"/>
              </a:ext>
            </a:extLst>
          </p:cNvPr>
          <p:cNvSpPr>
            <a:spLocks xmlns:a="http://schemas.openxmlformats.org/drawingml/2006/main" noGrp="1"/>
          </p:cNvSpPr>
          <p:nvPr/>
        </p:nvSpPr>
        <p:spPr>
          <a:xfrm xmlns:a="http://schemas.openxmlformats.org/drawingml/2006/main">
            <a:off x="6076950" y="1562100"/>
            <a:ext cx="5486400" cy="3600450"/>
          </a:xfrm>
          <a:prstGeom xmlns:a="http://schemas.openxmlformats.org/drawingml/2006/main" prst="roundRect">
            <a:avLst>
              <a:gd name="adj" fmla="val 3175"/>
            </a:avLst>
          </a:prstGeom>
          <a:solidFill xmlns:a="http://schemas.openxmlformats.org/drawingml/2006/main">
            <a:srgbClr val="0E3544"/>
          </a:solidFill>
          <a:ln xmlns:a="http://schemas.openxmlformats.org/drawingml/2006/main" w="9525">
            <a:solidFill>
              <a:srgbClr val="31505D"/>
            </a:solidFill>
            <a:prstDash val="solid"/>
          </a:ln>
        </p:spPr>
      </p:sp>
      <p:sp>
        <p:nvSpPr>
          <p:cNvPr id="9" name="">
            <a:extLst xmlns:a="http://schemas.openxmlformats.org/drawingml/2006/main">
              <a:ext uri="{FF2B5EF4-FFF2-40B4-BE49-F238E27FC236}">
                <a16:creationId xmlns:a16="http://schemas.microsoft.com/office/drawing/2014/main" id="{555A0850-85C0-42A3-975D-E6EC9283FE18}"/>
              </a:ext>
            </a:extLst>
          </p:cNvPr>
          <p:cNvSpPr>
            <a:spLocks xmlns:a="http://schemas.openxmlformats.org/drawingml/2006/main" noGrp="1"/>
          </p:cNvSpPr>
          <p:nvPr/>
        </p:nvSpPr>
        <p:spPr>
          <a:xfrm xmlns:a="http://schemas.openxmlformats.org/drawingml/2006/main">
            <a:off x="6400800" y="1866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4A261"/>
                </a:solidFill>
                <a:latin typeface="Arial"/>
                <a:ea typeface="Arial"/>
                <a:cs typeface="Arial"/>
              </a:defRPr>
            </a:defPPr>
          </a:lstStyle>
          <a:p xmlns:a="http://schemas.openxmlformats.org/drawingml/2006/main">
            <a:pPr algn="l">
              <a:defRPr sz="2100" b="1">
                <a:solidFill>
                  <a:srgbClr val="F4A261"/>
                </a:solidFill>
                <a:latin typeface="Arial"/>
                <a:ea typeface="Arial"/>
                <a:cs typeface="Arial"/>
              </a:defRPr>
            </a:pPr>
            <a:r>
              <a:rPr sz="2100" b="1">
                <a:solidFill>
                  <a:srgbClr val="F4A261"/>
                </a:solidFill>
                <a:latin typeface="Arial"/>
                <a:ea typeface="Arial"/>
                <a:cs typeface="Arial"/>
              </a:rPr>
              <a:t>Nächste Ausbaustufe</a:t>
            </a:r>
          </a:p>
        </p:txBody>
      </p:sp>
      <p:sp>
        <p:nvSpPr>
          <p:cNvPr id="10" name="">
            <a:extLst xmlns:a="http://schemas.openxmlformats.org/drawingml/2006/main">
              <a:ext uri="{FF2B5EF4-FFF2-40B4-BE49-F238E27FC236}">
                <a16:creationId xmlns:a16="http://schemas.microsoft.com/office/drawing/2014/main" id="{662B5989-90CA-4F86-832E-51D5BEB5867B}"/>
              </a:ext>
            </a:extLst>
          </p:cNvPr>
          <p:cNvSpPr>
            <a:spLocks xmlns:a="http://schemas.openxmlformats.org/drawingml/2006/main" noGrp="1"/>
          </p:cNvSpPr>
          <p:nvPr/>
        </p:nvSpPr>
        <p:spPr>
          <a:xfrm xmlns:a="http://schemas.openxmlformats.org/drawingml/2006/main">
            <a:off x="6438900" y="2476500"/>
            <a:ext cx="4572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echte Historien und fachlich validierte Labels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neue Datenversion mit Druck und Verschleißtrajektorien</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Kosten falscher Alarme und Gerätesplit</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Registry, Drift-Monitoring und Security</a:t>
            </a:r>
          </a:p>
        </p:txBody>
      </p:sp>
      <p:sp>
        <p:nvSpPr>
          <p:cNvPr id="11" name="">
            <a:extLst xmlns:a="http://schemas.openxmlformats.org/drawingml/2006/main">
              <a:ext uri="{FF2B5EF4-FFF2-40B4-BE49-F238E27FC236}">
                <a16:creationId xmlns:a16="http://schemas.microsoft.com/office/drawing/2014/main" id="{224FCD98-3125-4B13-AD10-3F847CCF5DA2}"/>
              </a:ext>
            </a:extLst>
          </p:cNvPr>
          <p:cNvSpPr>
            <a:spLocks xmlns:a="http://schemas.openxmlformats.org/drawingml/2006/main" noGrp="1"/>
          </p:cNvSpPr>
          <p:nvPr/>
        </p:nvSpPr>
        <p:spPr>
          <a:xfrm xmlns:a="http://schemas.openxmlformats.org/drawingml/2006/main">
            <a:off x="1524000" y="5505450"/>
            <a:ext cx="9144000" cy="495300"/>
          </a:xfrm>
          <a:prstGeom xmlns:a="http://schemas.openxmlformats.org/drawingml/2006/main" prst="roundRect">
            <a:avLst>
              <a:gd name="adj" fmla="val 23077"/>
            </a:avLst>
          </a:prstGeom>
          <a:solidFill xmlns:a="http://schemas.openxmlformats.org/drawingml/2006/main">
            <a:srgbClr val="F4A261"/>
          </a:solidFill>
          <a:ln xmlns:a="http://schemas.openxmlformats.org/drawingml/2006/main" w="9525">
            <a:solidFill>
              <a:srgbClr val="F4A261"/>
            </a:solidFill>
            <a:prstDash val="solid"/>
          </a:ln>
        </p:spPr>
      </p:sp>
      <p:sp>
        <p:nvSpPr>
          <p:cNvPr id="12" name="">
            <a:extLst xmlns:a="http://schemas.openxmlformats.org/drawingml/2006/main">
              <a:ext uri="{FF2B5EF4-FFF2-40B4-BE49-F238E27FC236}">
                <a16:creationId xmlns:a16="http://schemas.microsoft.com/office/drawing/2014/main" id="{B2018507-CF24-48C1-84CA-B7878F999012}"/>
              </a:ext>
            </a:extLst>
          </p:cNvPr>
          <p:cNvSpPr>
            <a:spLocks xmlns:a="http://schemas.openxmlformats.org/drawingml/2006/main" noGrp="1"/>
          </p:cNvSpPr>
          <p:nvPr/>
        </p:nvSpPr>
        <p:spPr>
          <a:xfrm xmlns:a="http://schemas.openxmlformats.org/drawingml/2006/main">
            <a:off x="1809750" y="5629275"/>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defPPr algn="ctr">
              <a:defRPr sz="1575" b="1">
                <a:solidFill>
                  <a:srgbClr val="0A1822"/>
                </a:solidFill>
                <a:latin typeface="Arial"/>
                <a:ea typeface="Arial"/>
                <a:cs typeface="Arial"/>
              </a:defRPr>
            </a:defPPr>
          </a:lstStyle>
          <a:p xmlns:a="http://schemas.openxmlformats.org/drawingml/2006/main">
            <a:pPr algn="ctr">
              <a:defRPr sz="1575" b="1">
                <a:solidFill>
                  <a:srgbClr val="0A1822"/>
                </a:solidFill>
                <a:latin typeface="Arial"/>
                <a:ea typeface="Arial"/>
                <a:cs typeface="Arial"/>
              </a:defRPr>
            </a:pPr>
            <a:r>
              <a:rPr sz="1575" b="1">
                <a:solidFill>
                  <a:srgbClr val="0A1822"/>
                </a:solidFill>
                <a:latin typeface="Arial"/>
                <a:ea typeface="Arial"/>
                <a:cs typeface="Arial"/>
              </a:rPr>
              <a:t>Macro-F1 steigt von 0,432 auf 0,534. Klasse 0 bleibt die zentrale Schwäche.</a:t>
            </a:r>
          </a:p>
        </p:txBody>
      </p:sp>
    </p:spTree>
    <p:extLst>
      <p:ext uri="{BB962C8B-B14F-4D97-AF65-F5344CB8AC3E}">
        <p14:creationId xmlns:p14="http://schemas.microsoft.com/office/powerpoint/2010/main" val="871094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2026-10-19T09:49:28.9980000Z</dcterms:created>
  <dcterms:modified xsi:type="dcterms:W3CDTF">2026-10-19T09:49:28.9980000Z</dcterms:modified>
</coreProperties>
</file>