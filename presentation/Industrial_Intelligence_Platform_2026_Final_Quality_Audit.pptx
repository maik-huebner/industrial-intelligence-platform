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b1df56248b74d3e" /><Relationship Type="http://schemas.openxmlformats.org/officeDocument/2006/relationships/extended-properties" Target="/docProps/app.xml" Id="R869d6f9385d74b2d" /><Relationship Type="http://schemas.openxmlformats.org/officeDocument/2006/relationships/officeDocument" Target="/ppt/presentation.xml" Id="R4e3cb20895804797" /></Relationships>
</file>

<file path=ppt/presentation.xml><?xml version="1.0" encoding="utf-8"?>
<p:presentation xmlns:p="http://schemas.openxmlformats.org/presentationml/2006/main">
  <p:sldMasterIdLst>
    <p:sldMasterId xmlns:r="http://schemas.openxmlformats.org/officeDocument/2006/relationships" id="2147483648" r:id="Rccebf48b97da4333"/>
  </p:sldMasterIdLst>
  <p:notesMasterIdLst>
    <p:notesMasterId xmlns:r="http://schemas.openxmlformats.org/officeDocument/2006/relationships" r:id="Rfc3256b204224f6f"/>
  </p:notesMasterIdLst>
  <p:sldIdLst>
    <p:sldId xmlns:r="http://schemas.openxmlformats.org/officeDocument/2006/relationships" id="256" r:id="R0789af30555649bd"/>
    <p:sldId xmlns:r="http://schemas.openxmlformats.org/officeDocument/2006/relationships" id="257" r:id="Rd4f2952e2aa34d99"/>
    <p:sldId xmlns:r="http://schemas.openxmlformats.org/officeDocument/2006/relationships" id="258" r:id="R15ec640edae64118"/>
    <p:sldId xmlns:r="http://schemas.openxmlformats.org/officeDocument/2006/relationships" id="259" r:id="R0210f66543914253"/>
    <p:sldId xmlns:r="http://schemas.openxmlformats.org/officeDocument/2006/relationships" id="260" r:id="R1b3358a1c17a4740"/>
    <p:sldId xmlns:r="http://schemas.openxmlformats.org/officeDocument/2006/relationships" id="261" r:id="R271b4ed5c67f4e8f"/>
    <p:sldId xmlns:r="http://schemas.openxmlformats.org/officeDocument/2006/relationships" id="262" r:id="Rd2ccfbce1a104d4b"/>
    <p:sldId xmlns:r="http://schemas.openxmlformats.org/officeDocument/2006/relationships" id="263" r:id="R7c234f7a125a4137"/>
    <p:sldId xmlns:r="http://schemas.openxmlformats.org/officeDocument/2006/relationships" id="264" r:id="R1d10f18514ae4713"/>
    <p:sldId xmlns:r="http://schemas.openxmlformats.org/officeDocument/2006/relationships" id="265" r:id="Rae4e76961ac14e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80fe014b7c485a" /><Relationship Type="http://schemas.openxmlformats.org/officeDocument/2006/relationships/slideMaster" Target="/ppt/slideMasters/slideMaster1.xml" Id="Rccebf48b97da4333" /><Relationship Type="http://schemas.openxmlformats.org/officeDocument/2006/relationships/notesMaster" Target="/ppt/notesMasters/notesMaster1.xml" Id="Rfc3256b204224f6f" /><Relationship Type="http://schemas.openxmlformats.org/officeDocument/2006/relationships/presProps" Target="/ppt/presProps.xml" Id="R4b29ab865e63433d" /><Relationship Type="http://schemas.openxmlformats.org/officeDocument/2006/relationships/tableStyles" Target="/ppt/tableStyles.xml" Id="Rcd79390750ca465b" /><Relationship Type="http://schemas.openxmlformats.org/officeDocument/2006/relationships/slide" Target="/ppt/slides/slide1.xml" Id="R0789af30555649bd" /><Relationship Type="http://schemas.openxmlformats.org/officeDocument/2006/relationships/slide" Target="/ppt/slides/slide2.xml" Id="Rd4f2952e2aa34d99" /><Relationship Type="http://schemas.openxmlformats.org/officeDocument/2006/relationships/slide" Target="/ppt/slides/slide3.xml" Id="R15ec640edae64118" /><Relationship Type="http://schemas.openxmlformats.org/officeDocument/2006/relationships/slide" Target="/ppt/slides/slide4.xml" Id="R0210f66543914253" /><Relationship Type="http://schemas.openxmlformats.org/officeDocument/2006/relationships/slide" Target="/ppt/slides/slide5.xml" Id="R1b3358a1c17a4740" /><Relationship Type="http://schemas.openxmlformats.org/officeDocument/2006/relationships/slide" Target="/ppt/slides/slide6.xml" Id="R271b4ed5c67f4e8f" /><Relationship Type="http://schemas.openxmlformats.org/officeDocument/2006/relationships/slide" Target="/ppt/slides/slide7.xml" Id="Rd2ccfbce1a104d4b" /><Relationship Type="http://schemas.openxmlformats.org/officeDocument/2006/relationships/slide" Target="/ppt/slides/slide8.xml" Id="R7c234f7a125a4137" /><Relationship Type="http://schemas.openxmlformats.org/officeDocument/2006/relationships/slide" Target="/ppt/slides/slide9.xml" Id="R1d10f18514ae4713" /><Relationship Type="http://schemas.openxmlformats.org/officeDocument/2006/relationships/slide" Target="/ppt/slides/slide10.xml" Id="Rae4e76961ac14e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6f4f47de9048d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389367eeec4dd9" /><Relationship Type="http://schemas.openxmlformats.org/officeDocument/2006/relationships/notesMaster" Target="/ppt/notesMasters/notesMaster1.xml" Id="R661fa20064f340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9e5073c9f24ff7" /><Relationship Type="http://schemas.openxmlformats.org/officeDocument/2006/relationships/notesMaster" Target="/ppt/notesMasters/notesMaster1.xml" Id="R6f63e576625247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1b9d980a234504" /><Relationship Type="http://schemas.openxmlformats.org/officeDocument/2006/relationships/notesMaster" Target="/ppt/notesMasters/notesMaster1.xml" Id="Rce47fc0e256d4a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4a8106548744da5" /><Relationship Type="http://schemas.openxmlformats.org/officeDocument/2006/relationships/notesMaster" Target="/ppt/notesMasters/notesMaster1.xml" Id="R7defec6e0d7342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bfc07f1eff4781" /><Relationship Type="http://schemas.openxmlformats.org/officeDocument/2006/relationships/notesMaster" Target="/ppt/notesMasters/notesMaster1.xml" Id="Re0bb47d454c441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d8766381d4408a" /><Relationship Type="http://schemas.openxmlformats.org/officeDocument/2006/relationships/notesMaster" Target="/ppt/notesMasters/notesMaster1.xml" Id="Reecbcce8e0c749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d7f160adf2448c" /><Relationship Type="http://schemas.openxmlformats.org/officeDocument/2006/relationships/notesMaster" Target="/ppt/notesMasters/notesMaster1.xml" Id="R479d117e836841a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5e54668baf94712" /><Relationship Type="http://schemas.openxmlformats.org/officeDocument/2006/relationships/notesMaster" Target="/ppt/notesMasters/notesMaster1.xml" Id="R13eea4372b4d4f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4aff5163704583" /><Relationship Type="http://schemas.openxmlformats.org/officeDocument/2006/relationships/notesMaster" Target="/ppt/notesMasters/notesMaster1.xml" Id="Rc87f36d6bc1147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88c35c4cd64bcf" /><Relationship Type="http://schemas.openxmlformats.org/officeDocument/2006/relationships/notesMaster" Target="/ppt/notesMasters/notesMaster1.xml" Id="R15c1090231a746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Ich stelle die Industrial Intelligence Platform vor. Das Projekt verbindet Data Engineering, Big-Data-Verarbeitung und Predictive Maintenance in einer durchgängigen Anwendung. Die Plattform erzeugt reproduzierbare Fabrikdaten, verarbeitet eine Million Sensormessungen mit Spark und macht Risiken über eine API zugänglich. Es ist ein vollständiges Ausbildungs- und Portfolioprojekt auf synthetischen Daten, kein freigegebenes Wartungssystem.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einem Werk liegen Informationen verteilt: Stammdaten und Aufträge sind relational, Sensordaten dokumentenorientiert, Wartungen kommen aus CSV, Störungen aus JSON und technische Abhängigkeiten bilden einen Graphen. Erst zusammen mit Alter, Last, Störungen, Wartung und Komponenten entsteht eine nachvollziehbare Entscheidungsgrundlage.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Lösung musste reproduzierbare Daten bis eine Million Messungen, echte Nutzung von drei Datenbanken, einen orchestrierten ETL-Pfad, drei MLlib-Aufgaben sowie belastbare Tests und Dokumentation liefern. Fehlerhafte Messungen werden mit einem fachlichen Grund quarantänisiert.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Airflow steuert 13 Tasks. MongoDB ist die verifizierte Sensorquelle; ein kontrollierter, atomarer JSONL-Snapshot speist Spark. Zwei Quality Gates stoppen den Lauf vor Feature-Nutzung beziehungsweise vor ML und Ergebnis-Persistenz. Spark erzeugt Tagesmerkmale mit SQL, Joins, Fenstern und Aggregationen. PostgreSQL speichert strukturierte Fakten, Metriken, versionierte Prognosen und Laufstatus. Neo4j hält technischen Kontext. FastAPI liest PostgreSQL und Neo4j direkt. Messreihen werden bewusst nicht als Graphknoten modelliert.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PostgreSQL sichert strukturierte Fakten, Metriken, versionierte Prognosen und Pipeline-Läufe. MongoDB ist die operative Sensorquelle: Ein temporärer Batch-Load wird erst nach vollständiger Zählprüfung atomar aktiviert und anschließend deterministisch exportiert. Neo4j beantwortet Beziehungsfragen. Im verifizierten Stand liegen 1.950 versionierte Prognosen in PostgreSQL, eine Million Sensordokumente in MongoDB sowie 50 Maschinen, 220 Komponenten und 400 Beziehungen in Neo4j. FastAPI liest PostgreSQL und Neo4j direkt; Authentifizierung bleibt für einen externen Betrieb ausdrücklich offen.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DAG umfasst 13 technische Tasks, die auf der Folie zu zehn gut lesbaren Phasen verdichtet sind. Große Daten werden nicht über XCom verschoben. MongoDB wird vollständig geladen und erst danach atomar aktiviert; der kontrollierte Snapshot wird vor Spark gezählt und geprüft. Das Source Gate liegt vor Spark, das Feature Gate vor Metrik, ML und PostgreSQL-Persistenz. Im Full-DAG wurden 994.905 Messungen akzeptiert und 5.095 quarantänisiert. Alle 13 Tasks endeten erfolgreich. Die gemessene aktive Verarbeitung dauerte rund zwei Minuten und 33 Sekunden; die spätere DAG-Endzeit enthält nur den einmaligen Retry-Delay nach einem anschließend korrigierten Airflow-Import.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Spark liest ausschließlich den verifizierten MongoDB-Export. DataFrames, Spark SQL, Joins und Window Functions erzeugen die Tagesfeatures. Die Merkmale verwenden ausschließlich aktuelle oder frühere Tage; das Label stammt aus dem Folgetag. Je ein Purge-Tag verhindert, dass der eintägige Target-Horizont über eine Split-Grenze reicht. Aus einer Million Eingaben entstanden 994.905 gültige Messungen und 4.950 Tagesfeatures. Der Feature-Gate bestätigte beide Klassen im Gesamtbestand und in jedem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 Benchmark vergleicht Majority-Baseline, logistische Regression, Decision Tree, Random Forest und Gradient Boosted Trees. Die Auswahl nutzt nur Training und Validierung. Das finale logistische Modell erreicht auf 950 unabhängigen Testzeilen Macro-F1 0,534 statt 0,432 sowie Balanced Accuracy 0,537 statt 0,500. Die Confusion-Matrix enthält 41 richtig negative und 646 richtig positive Fälle; Recall für Klasse 0 bleibt mit 0,180 schwach. Die Regression verwendet nun ebenfalls eine bereinigte Zeitgrenze: 3.900 Trainingszeilen, 50 ausgelassene Grenzzeilen und 1.000 Testzeilen. Ihr RMSE beträgt 0,514 Grad gegenüber 3,557 Grad der Trainingsmittelwert-Baseline. KMeans erreicht auf dem bereinigten Trainingsausschnitt eine Silhouette von 0,554; der kleine Anomaliecluster umfasst 80 Zeilen.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der Demo zeige ich den lokal gebundenen, gesunden Stack, den API-Healthcheck gegen PostgreSQL, versionierte und paginierte Prognosen, die Pipeline-Laufhistorie sowie reale Neo4j-Abhängigkeiten. Die neue Modellversion enthält 950 Testprognosen und beide vorhergesagten Klassen; die historischen 1.000 Prognosen bleiben erhalten. Der verifizierte Full-Lauf weist außerdem eine Million MongoDB-Dokumente und 400 Neo4j-Beziehungen nach. 32 automatisierte Host-, Integrations- und E2E-Tests bestanden. Zwei Spark-Verträge, darunter der neue Purge-Split-Test, liefen zusätzlich im identischen Spark-3.5.3-Container erfolgreich.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Die Produktionsintegration ist lokal gehärtet: MongoDB ist die nachvollziehbare Sensorquelle für Spark, zwei Quality Gates schützen nachgelagerte Berechnung und Persistenz, FastAPI liest PostgreSQL und Neo4j direkt, und der vollständige Lauf ist mit einer Million Messungen belegt. Der Abschlussaudit hat zusätzlich die zeitliche Regressionsgrenze bereinigt und veraltete Modellartefakte durch reproduzierbares Überschreiben verhindert. Die logistische Klassifikation verbessert den Macro-F1 messbar gegenüber der Majority-Baseline. Die fachliche Einschränkung bleibt sichtbar: Der synthetische Vibrationsgrenzwert dominiert das Label und die negative Klasse wird noch zu selten erkannt. Für einen externen oder produktiven Betrieb fehlen insbesondere Authentifizierung, TLS, Rate Limits, Secret Management, SLOs und Recovery-Übungen.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d724c906494f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bbc0a967e8b46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660a641c699459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0739cc8c2341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923d5a2f3e4a6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84b97d6e89f4af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E660A08-59D2-4E9D-BC4C-580FADCEEEB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97234F-D4F5-4BDA-B895-8BE562E2C9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E9205A-4B00-4FDF-B14D-31F3DF5F48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D8F3C7-2636-46EB-840E-AD44778A89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5E2017E-58FC-41EC-8275-A0286416752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EE26556-6CB3-47B0-B68F-933BC3C0190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98D322-2E0B-4556-B14B-37788ED7A2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DDA4A6-9CA9-4982-B819-22566809669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000F6BC-BADD-4A16-8524-617315DCF1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BA4C59-53BA-4420-A109-00869D1218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2950b2fe92464d" /><Relationship Type="http://schemas.openxmlformats.org/officeDocument/2006/relationships/slideLayout" Target="/ppt/slideLayouts/slideLayout1.xml" Id="Rfb8f5368204243aa" /><Relationship Type="http://schemas.openxmlformats.org/officeDocument/2006/relationships/slideLayout" Target="/ppt/slideLayouts/slideLayout2.xml" Id="R7fb20a6f7e6141e6" /><Relationship Type="http://schemas.openxmlformats.org/officeDocument/2006/relationships/slideLayout" Target="/ppt/slideLayouts/slideLayout3.xml" Id="Rf4fb44986f134c59" /><Relationship Type="http://schemas.openxmlformats.org/officeDocument/2006/relationships/slideLayout" Target="/ppt/slideLayouts/slideLayout4.xml" Id="Rdef0f8e173624e1a" /><Relationship Type="http://schemas.openxmlformats.org/officeDocument/2006/relationships/slideLayout" Target="/ppt/slideLayouts/slideLayout5.xml" Id="R3ebe30092ef0472c" /><Relationship Type="http://schemas.openxmlformats.org/officeDocument/2006/relationships/slideLayout" Target="/ppt/slideLayouts/slideLayout6.xml" Id="Rb21f921b6f30416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8f5368204243aa"/>
    <p:sldLayoutId xmlns:r="http://schemas.openxmlformats.org/officeDocument/2006/relationships" id="2147483650" r:id="R7fb20a6f7e6141e6"/>
    <p:sldLayoutId xmlns:r="http://schemas.openxmlformats.org/officeDocument/2006/relationships" id="2147483651" r:id="Rf4fb44986f134c59"/>
    <p:sldLayoutId xmlns:r="http://schemas.openxmlformats.org/officeDocument/2006/relationships" id="2147483652" r:id="Rdef0f8e173624e1a"/>
    <p:sldLayoutId xmlns:r="http://schemas.openxmlformats.org/officeDocument/2006/relationships" id="2147483653" r:id="R3ebe30092ef0472c"/>
    <p:sldLayoutId xmlns:r="http://schemas.openxmlformats.org/officeDocument/2006/relationships" id="2147483654" r:id="Rb21f921b6f30416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df0b32bcde140d4" /><Relationship Type="http://schemas.openxmlformats.org/officeDocument/2006/relationships/notesSlide" Target="/ppt/notesSlides/notesSlide1.xml" Id="R331ceeef307445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2c09ef625334b57" /><Relationship Type="http://schemas.openxmlformats.org/officeDocument/2006/relationships/notesSlide" Target="/ppt/notesSlides/notesSlide2.xml" Id="R225b061cef5a40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79dbfccbe114f92" /><Relationship Type="http://schemas.openxmlformats.org/officeDocument/2006/relationships/notesSlide" Target="/ppt/notesSlides/notesSlide3.xml" Id="Rf559b8d53fd544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6d74c7beff4a00" /><Relationship Type="http://schemas.openxmlformats.org/officeDocument/2006/relationships/notesSlide" Target="/ppt/notesSlides/notesSlide4.xml" Id="R1134f16c56ec410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db77e9025041c5" /><Relationship Type="http://schemas.openxmlformats.org/officeDocument/2006/relationships/notesSlide" Target="/ppt/notesSlides/notesSlide5.xml" Id="Rf3577b0271154a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71b8d7d4ebd4aec" /><Relationship Type="http://schemas.openxmlformats.org/officeDocument/2006/relationships/notesSlide" Target="/ppt/notesSlides/notesSlide6.xml" Id="R30cca533b2fb42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3dedf46522d4f50" /><Relationship Type="http://schemas.openxmlformats.org/officeDocument/2006/relationships/notesSlide" Target="/ppt/notesSlides/notesSlide7.xml" Id="Rb8fba6a98ace40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9e254cee099457d" /><Relationship Type="http://schemas.openxmlformats.org/officeDocument/2006/relationships/chart" Target="/ppt/slides/charts/chart1.xml" Id="R33b62352fad64ce7" /><Relationship Type="http://schemas.openxmlformats.org/officeDocument/2006/relationships/notesSlide" Target="/ppt/notesSlides/notesSlide8.xml" Id="Rab20901a5bf4472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4ec0a4c8c74742" /><Relationship Type="http://schemas.openxmlformats.org/officeDocument/2006/relationships/notesSlide" Target="/ppt/notesSlides/notesSlide9.xml" Id="R77908a16f39b452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54166f45ee243db" /><Relationship Type="http://schemas.openxmlformats.org/officeDocument/2006/relationships/notesSlide" Target="/ppt/notesSlides/notesSlide10.xml" Id="R53a494d2845c4da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RMSE °C</c:v>
          </c:tx>
          <c:spPr>
            <a:solidFill xmlns:a="http://schemas.openxmlformats.org/drawingml/2006/main">
              <a:srgbClr val="1B7F8C"/>
            </a:solidFill>
          </c:spPr>
          <c:invertIfNegative val="0"/>
          <c:cat>
            <c:strRef>
              <c:f>'Chart Data'!$A$2:$A$3</c:f>
              <c:strCache>
                <c:ptCount val="2"/>
                <c:pt idx="0">
                  <c:v>Lineare Regression</c:v>
                </c:pt>
                <c:pt idx="1">
                  <c:v>Mittelwert-Baseline</c:v>
                </c:pt>
              </c:strCache>
            </c:strRef>
          </c:cat>
          <c:val>
            <c:numRef>
              <c:f>'Chart Data'!$B$2:$B$3</c:f>
              <c:numCache>
                <c:formatCode>General</c:formatCode>
                <c:ptCount val="2"/>
                <c:pt idx="0">
                  <c:v>0.514</c:v>
                </c:pt>
                <c:pt idx="1">
                  <c:v>3.557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975" b="1">
                  <a:solidFill>
                    <a:srgbClr val="10223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CE5E9"/>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36675"/>
                    </a:solidFill>
                  </a:rPr>
                  <a:t>RMSE in °C</a:t>
                </a:r>
              </a:p>
            </c:rich>
          </c:tx>
          <c:overlay val="0"/>
          <c:txPr>
            <a:bodyPr xmlns:a="http://schemas.openxmlformats.org/drawingml/2006/main" anchorCtr="1"/>
            <a:lstStyle xmlns:a="http://schemas.openxmlformats.org/drawingml/2006/main"/>
            <a:p xmlns:a="http://schemas.openxmlformats.org/drawingml/2006/main">
              <a:pPr>
                <a:defRPr sz="900">
                  <a:solidFill>
                    <a:srgbClr val="536675"/>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536675"/>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CE5E9"/>
            </a:solidFill>
            <a:prstDash val="solid"/>
          </a:ln>
        </c:spPr>
        <c:txPr>
          <a:bodyPr xmlns:a="http://schemas.openxmlformats.org/drawingml/2006/main" anchorCtr="1"/>
          <a:lstStyle xmlns:a="http://schemas.openxmlformats.org/drawingml/2006/main"/>
          <a:p xmlns:a="http://schemas.openxmlformats.org/drawingml/2006/main">
            <a:pPr>
              <a:defRPr sz="900" b="1">
                <a:solidFill>
                  <a:srgbClr val="102230"/>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solidFill>
        <a:srgbClr val="FFFFFF"/>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6564618-6397-4774-9F2E-3CCFF15D16B7}"/>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1D426330-63EB-48C7-BBD9-EA56067BFCC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822"/>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054F08E-C3E3-4084-8E02-52D98AD2513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75D455-FD5F-490F-B371-D97AEB4B617D}"/>
              </a:ext>
            </a:extLst>
          </p:cNvPr>
          <p:cNvSpPr>
            <a:spLocks xmlns:a="http://schemas.openxmlformats.org/drawingml/2006/main" noGrp="1"/>
          </p:cNvSpPr>
          <p:nvPr/>
        </p:nvSpPr>
        <p:spPr>
          <a:xfrm xmlns:a="http://schemas.openxmlformats.org/drawingml/2006/main">
            <a:off x="781050" y="7239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050" b="1">
                <a:solidFill>
                  <a:srgbClr val="F4A261"/>
                </a:solidFill>
                <a:latin typeface="Arial"/>
                <a:ea typeface="Arial"/>
                <a:cs typeface="Arial"/>
              </a:defRPr>
            </a:defPPr>
          </a:lstStyle>
          <a:p xmlns:a="http://schemas.openxmlformats.org/drawingml/2006/main">
            <a:pPr algn="l">
              <a:buNone/>
              <a:defRPr sz="1050" b="1">
                <a:solidFill>
                  <a:srgbClr val="F4A261"/>
                </a:solidFill>
                <a:latin typeface="Arial"/>
                <a:ea typeface="Arial"/>
                <a:cs typeface="Arial"/>
              </a:defRPr>
            </a:pPr>
            <a:r>
              <a:rPr sz="1050" b="1">
                <a:solidFill>
                  <a:srgbClr val="F4A261"/>
                </a:solidFill>
                <a:latin typeface="Arial"/>
                <a:ea typeface="Arial"/>
                <a:cs typeface="Arial"/>
              </a:rPr>
              <a:t>INDUSTRIAL DATA ENGINEERING · PREDICTIVE MAINTENANCE</a:t>
            </a:r>
          </a:p>
        </p:txBody>
      </p:sp>
      <p:sp>
        <p:nvSpPr>
          <p:cNvPr id="5" name="">
            <a:extLst xmlns:a="http://schemas.openxmlformats.org/drawingml/2006/main">
              <a:ext uri="{FF2B5EF4-FFF2-40B4-BE49-F238E27FC236}">
                <a16:creationId xmlns:a16="http://schemas.microsoft.com/office/drawing/2014/main" id="{65D954B1-EFF4-4473-8F5D-B9C3EED8126B}"/>
              </a:ext>
            </a:extLst>
          </p:cNvPr>
          <p:cNvSpPr>
            <a:spLocks xmlns:a="http://schemas.openxmlformats.org/drawingml/2006/main" noGrp="1"/>
          </p:cNvSpPr>
          <p:nvPr/>
        </p:nvSpPr>
        <p:spPr>
          <a:xfrm xmlns:a="http://schemas.openxmlformats.org/drawingml/2006/main">
            <a:off x="781050" y="1409700"/>
            <a:ext cx="6572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4275" b="1">
                <a:solidFill>
                  <a:srgbClr val="FFFFFF"/>
                </a:solidFill>
                <a:latin typeface="Arial"/>
                <a:ea typeface="Arial"/>
                <a:cs typeface="Arial"/>
              </a:defRPr>
            </a:defPPr>
          </a:lstStyle>
          <a:p xmlns:a="http://schemas.openxmlformats.org/drawingml/2006/main">
            <a:pPr algn="l">
              <a:buNone/>
              <a:defRPr sz="4275" b="1">
                <a:solidFill>
                  <a:srgbClr val="FFFFFF"/>
                </a:solidFill>
                <a:latin typeface="Arial"/>
                <a:ea typeface="Arial"/>
                <a:cs typeface="Arial"/>
              </a:defRPr>
            </a:pPr>
            <a:r>
              <a:rPr sz="4275" b="1">
                <a:solidFill>
                  <a:srgbClr val="FFFFFF"/>
                </a:solidFill>
                <a:latin typeface="Arial"/>
                <a:ea typeface="Arial"/>
                <a:cs typeface="Arial"/>
              </a:rPr>
              <a:t>Industrial</a:t>
            </a:r>
          </a:p>
          <a:p xmlns:a="http://schemas.openxmlformats.org/drawingml/2006/main">
            <a:pPr algn="l">
              <a:buNone/>
              <a:defRPr sz="4275" b="1">
                <a:solidFill>
                  <a:srgbClr val="FFFFFF"/>
                </a:solidFill>
                <a:latin typeface="Arial"/>
                <a:ea typeface="Arial"/>
                <a:cs typeface="Arial"/>
              </a:defRPr>
            </a:pPr>
            <a:r>
              <a:rPr sz="4275" b="1">
                <a:solidFill>
                  <a:srgbClr val="FFFFFF"/>
                </a:solidFill>
                <a:latin typeface="Arial"/>
                <a:ea typeface="Arial"/>
                <a:cs typeface="Arial"/>
              </a:rPr>
              <a:t>Intelligence</a:t>
            </a:r>
          </a:p>
          <a:p xmlns:a="http://schemas.openxmlformats.org/drawingml/2006/main">
            <a:pPr algn="l">
              <a:buNone/>
              <a:defRPr sz="4275" b="1">
                <a:solidFill>
                  <a:srgbClr val="FFFFFF"/>
                </a:solidFill>
                <a:latin typeface="Arial"/>
                <a:ea typeface="Arial"/>
                <a:cs typeface="Arial"/>
              </a:defRPr>
            </a:pPr>
            <a:r>
              <a:rPr sz="4275" b="1">
                <a:solidFill>
                  <a:srgbClr val="FFFFFF"/>
                </a:solidFill>
                <a:latin typeface="Arial"/>
                <a:ea typeface="Arial"/>
                <a:cs typeface="Arial"/>
              </a:rPr>
              <a:t>Platform</a:t>
            </a:r>
          </a:p>
        </p:txBody>
      </p:sp>
      <p:sp>
        <p:nvSpPr>
          <p:cNvPr id="6" name="">
            <a:extLst xmlns:a="http://schemas.openxmlformats.org/drawingml/2006/main">
              <a:ext uri="{FF2B5EF4-FFF2-40B4-BE49-F238E27FC236}">
                <a16:creationId xmlns:a16="http://schemas.microsoft.com/office/drawing/2014/main" id="{0CCFB32D-0998-4723-8EB4-62AF2AD83EEA}"/>
              </a:ext>
            </a:extLst>
          </p:cNvPr>
          <p:cNvSpPr>
            <a:spLocks xmlns:a="http://schemas.openxmlformats.org/drawingml/2006/main" noGrp="1"/>
          </p:cNvSpPr>
          <p:nvPr/>
        </p:nvSpPr>
        <p:spPr>
          <a:xfrm xmlns:a="http://schemas.openxmlformats.org/drawingml/2006/main">
            <a:off x="819150" y="39052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800" b="0">
                <a:solidFill>
                  <a:srgbClr val="C7D4DA"/>
                </a:solidFill>
                <a:latin typeface="Arial"/>
                <a:ea typeface="Arial"/>
                <a:cs typeface="Arial"/>
              </a:defRPr>
            </a:defPPr>
          </a:lstStyle>
          <a:p xmlns:a="http://schemas.openxmlformats.org/drawingml/2006/main">
            <a:pPr algn="l">
              <a:buNone/>
              <a:defRPr sz="1800" b="0">
                <a:solidFill>
                  <a:srgbClr val="C7D4DA"/>
                </a:solidFill>
                <a:latin typeface="Arial"/>
                <a:ea typeface="Arial"/>
                <a:cs typeface="Arial"/>
              </a:defRPr>
            </a:pPr>
            <a:r>
              <a:rPr sz="1800" b="0">
                <a:solidFill>
                  <a:srgbClr val="C7D4DA"/>
                </a:solidFill>
                <a:latin typeface="Arial"/>
                <a:ea typeface="Arial"/>
                <a:cs typeface="Arial"/>
              </a:rPr>
              <a:t>Von heterogenen Fabrikdaten zur nachvollziehbaren Wartungspriorität</a:t>
            </a:r>
          </a:p>
        </p:txBody>
      </p:sp>
      <p:sp>
        <p:nvSpPr>
          <p:cNvPr id="7" name="">
            <a:extLst xmlns:a="http://schemas.openxmlformats.org/drawingml/2006/main">
              <a:ext uri="{FF2B5EF4-FFF2-40B4-BE49-F238E27FC236}">
                <a16:creationId xmlns:a16="http://schemas.microsoft.com/office/drawing/2014/main" id="{DA9368CC-EFC4-44D0-9F02-C9C308E8BEFB}"/>
              </a:ext>
            </a:extLst>
          </p:cNvPr>
          <p:cNvSpPr>
            <a:spLocks xmlns:a="http://schemas.openxmlformats.org/drawingml/2006/main" noGrp="1"/>
          </p:cNvSpPr>
          <p:nvPr/>
        </p:nvSpPr>
        <p:spPr>
          <a:xfrm xmlns:a="http://schemas.openxmlformats.org/drawingml/2006/main">
            <a:off x="7924800" y="1028700"/>
            <a:ext cx="2990850" cy="3981450"/>
          </a:xfrm>
          <a:prstGeom xmlns:a="http://schemas.openxmlformats.org/drawingml/2006/main" prst="roundRect">
            <a:avLst>
              <a:gd name="adj" fmla="val 3822"/>
            </a:avLst>
          </a:prstGeom>
          <a:solidFill xmlns:a="http://schemas.openxmlformats.org/drawingml/2006/main">
            <a:srgbClr val="102B38"/>
          </a:solidFill>
          <a:ln xmlns:a="http://schemas.openxmlformats.org/drawingml/2006/main" w="9525">
            <a:solidFill>
              <a:srgbClr val="31505D"/>
            </a:solidFill>
            <a:prstDash val="solid"/>
          </a:ln>
        </p:spPr>
      </p:sp>
      <p:sp>
        <p:nvSpPr>
          <p:cNvPr id="8" name="">
            <a:extLst xmlns:a="http://schemas.openxmlformats.org/drawingml/2006/main">
              <a:ext uri="{FF2B5EF4-FFF2-40B4-BE49-F238E27FC236}">
                <a16:creationId xmlns:a16="http://schemas.microsoft.com/office/drawing/2014/main" id="{398D9476-505A-4E1B-9B1E-ADFBEA6093C8}"/>
              </a:ext>
            </a:extLst>
          </p:cNvPr>
          <p:cNvSpPr>
            <a:spLocks xmlns:a="http://schemas.openxmlformats.org/drawingml/2006/main" noGrp="1"/>
          </p:cNvSpPr>
          <p:nvPr/>
        </p:nvSpPr>
        <p:spPr>
          <a:xfrm xmlns:a="http://schemas.openxmlformats.org/drawingml/2006/main">
            <a:off x="8334375" y="1524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000" b="1">
                <a:solidFill>
                  <a:srgbClr val="FFFFFF"/>
                </a:solidFill>
                <a:latin typeface="Arial"/>
                <a:ea typeface="Arial"/>
                <a:cs typeface="Arial"/>
              </a:defRPr>
            </a:defPPr>
          </a:lstStyle>
          <a:p xmlns:a="http://schemas.openxmlformats.org/drawingml/2006/main">
            <a:pPr algn="ctr">
              <a:buNone/>
              <a:defRPr sz="3000" b="1">
                <a:solidFill>
                  <a:srgbClr val="FFFFFF"/>
                </a:solidFill>
                <a:latin typeface="Arial"/>
                <a:ea typeface="Arial"/>
                <a:cs typeface="Arial"/>
              </a:defRPr>
            </a:pPr>
            <a:r>
              <a:rPr sz="3000" b="1">
                <a:solidFill>
                  <a:srgbClr val="FFFFFF"/>
                </a:solidFill>
                <a:latin typeface="Arial"/>
                <a:ea typeface="Arial"/>
                <a:cs typeface="Arial"/>
              </a:rPr>
              <a:t>1.000.000</a:t>
            </a:r>
          </a:p>
        </p:txBody>
      </p:sp>
      <p:sp>
        <p:nvSpPr>
          <p:cNvPr id="9" name="">
            <a:extLst xmlns:a="http://schemas.openxmlformats.org/drawingml/2006/main">
              <a:ext uri="{FF2B5EF4-FFF2-40B4-BE49-F238E27FC236}">
                <a16:creationId xmlns:a16="http://schemas.microsoft.com/office/drawing/2014/main" id="{D75D7BB4-427A-4865-B143-F2FAD1E71059}"/>
              </a:ext>
            </a:extLst>
          </p:cNvPr>
          <p:cNvSpPr>
            <a:spLocks xmlns:a="http://schemas.openxmlformats.org/drawingml/2006/main" noGrp="1"/>
          </p:cNvSpPr>
          <p:nvPr/>
        </p:nvSpPr>
        <p:spPr>
          <a:xfrm xmlns:a="http://schemas.openxmlformats.org/drawingml/2006/main">
            <a:off x="8334375"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ctr">
              <a:defRPr sz="1275" b="0">
                <a:solidFill>
                  <a:srgbClr val="B8C8D0"/>
                </a:solidFill>
                <a:latin typeface="Arial"/>
                <a:ea typeface="Arial"/>
                <a:cs typeface="Arial"/>
              </a:defRPr>
            </a:defPPr>
          </a:lstStyle>
          <a:p xmlns:a="http://schemas.openxmlformats.org/drawingml/2006/main">
            <a:pPr algn="ctr">
              <a:buNone/>
              <a:defRPr sz="1275" b="0">
                <a:solidFill>
                  <a:srgbClr val="B8C8D0"/>
                </a:solidFill>
                <a:latin typeface="Arial"/>
                <a:ea typeface="Arial"/>
                <a:cs typeface="Arial"/>
              </a:defRPr>
            </a:pPr>
            <a:r>
              <a:rPr sz="1275" b="0">
                <a:solidFill>
                  <a:srgbClr val="B8C8D0"/>
                </a:solidFill>
                <a:latin typeface="Arial"/>
                <a:ea typeface="Arial"/>
                <a:cs typeface="Arial"/>
              </a:rPr>
              <a:t>Sensormessungen</a:t>
            </a:r>
          </a:p>
        </p:txBody>
      </p:sp>
      <p:sp>
        <p:nvSpPr>
          <p:cNvPr id="10" name="">
            <a:extLst xmlns:a="http://schemas.openxmlformats.org/drawingml/2006/main">
              <a:ext uri="{FF2B5EF4-FFF2-40B4-BE49-F238E27FC236}">
                <a16:creationId xmlns:a16="http://schemas.microsoft.com/office/drawing/2014/main" id="{5AE61485-81C0-4B6A-943F-73089B799BB1}"/>
              </a:ext>
            </a:extLst>
          </p:cNvPr>
          <p:cNvSpPr>
            <a:spLocks xmlns:a="http://schemas.openxmlformats.org/drawingml/2006/main" noGrp="1"/>
          </p:cNvSpPr>
          <p:nvPr/>
        </p:nvSpPr>
        <p:spPr>
          <a:xfrm xmlns:a="http://schemas.openxmlformats.org/drawingml/2006/main">
            <a:off x="8401050" y="2762250"/>
            <a:ext cx="2057400" cy="19050"/>
          </a:xfrm>
          <a:prstGeom xmlns:a="http://schemas.openxmlformats.org/drawingml/2006/main" prst="rect">
            <a:avLst/>
          </a:prstGeom>
          <a:solidFill xmlns:a="http://schemas.openxmlformats.org/drawingml/2006/main">
            <a:srgbClr val="F4A261"/>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B3F4225-AE4B-405C-AF83-F53B5A4AF013}"/>
              </a:ext>
            </a:extLst>
          </p:cNvPr>
          <p:cNvSpPr>
            <a:spLocks xmlns:a="http://schemas.openxmlformats.org/drawingml/2006/main" noGrp="1"/>
          </p:cNvSpPr>
          <p:nvPr/>
        </p:nvSpPr>
        <p:spPr>
          <a:xfrm xmlns:a="http://schemas.openxmlformats.org/drawingml/2006/main">
            <a:off x="8286750" y="3067050"/>
            <a:ext cx="22860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PostgreSQL</a:t>
            </a:r>
          </a:p>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MongoDB</a:t>
            </a:r>
          </a:p>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Neo4j</a:t>
            </a:r>
          </a:p>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Airflow · Spark · MLlib</a:t>
            </a:r>
          </a:p>
        </p:txBody>
      </p:sp>
      <p:sp>
        <p:nvSpPr>
          <p:cNvPr id="12" name="">
            <a:extLst xmlns:a="http://schemas.openxmlformats.org/drawingml/2006/main">
              <a:ext uri="{FF2B5EF4-FFF2-40B4-BE49-F238E27FC236}">
                <a16:creationId xmlns:a16="http://schemas.microsoft.com/office/drawing/2014/main" id="{B6A66335-150B-4FFB-99A7-C30F5B8A62CF}"/>
              </a:ext>
            </a:extLst>
          </p:cNvPr>
          <p:cNvSpPr>
            <a:spLocks xmlns:a="http://schemas.openxmlformats.org/drawingml/2006/main" noGrp="1"/>
          </p:cNvSpPr>
          <p:nvPr/>
        </p:nvSpPr>
        <p:spPr>
          <a:xfrm xmlns:a="http://schemas.openxmlformats.org/drawingml/2006/main">
            <a:off x="800100" y="609600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0">
                <a:solidFill>
                  <a:srgbClr val="92A7B2"/>
                </a:solidFill>
                <a:latin typeface="Arial"/>
                <a:ea typeface="Arial"/>
                <a:cs typeface="Arial"/>
              </a:defRPr>
            </a:defPPr>
          </a:lstStyle>
          <a:p xmlns:a="http://schemas.openxmlformats.org/drawingml/2006/main">
            <a:pPr algn="l">
              <a:buNone/>
              <a:defRPr sz="1125" b="0">
                <a:solidFill>
                  <a:srgbClr val="92A7B2"/>
                </a:solidFill>
                <a:latin typeface="Arial"/>
                <a:ea typeface="Arial"/>
                <a:cs typeface="Arial"/>
              </a:defRPr>
            </a:pPr>
            <a:r>
              <a:rPr sz="1125" b="0">
                <a:solidFill>
                  <a:srgbClr val="92A7B2"/>
                </a:solidFill>
                <a:latin typeface="Arial"/>
                <a:ea typeface="Arial"/>
                <a:cs typeface="Arial"/>
              </a:rPr>
              <a:t>AI Engineer Abschlussprojekt · 2026</a:t>
            </a:r>
          </a:p>
        </p:txBody>
      </p:sp>
    </p:spTree>
    <p:extLst>
      <p:ext uri="{BB962C8B-B14F-4D97-AF65-F5344CB8AC3E}">
        <p14:creationId xmlns:p14="http://schemas.microsoft.com/office/powerpoint/2010/main" val="1064474716"/>
      </p:ext>
    </p:extLst>
  </p:cSld>
</p:sld>
</file>

<file path=ppt/slides/slide2.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ADC5C9B6-EB71-42F1-9E80-AFB9B7035269}"/>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INDUSTRIELLES PROBLEM</a:t>
            </a:r>
          </a:p>
        </p:txBody>
      </p:sp>
      <p:sp>
        <p:nvSpPr>
          <p:cNvPr id="2" name="">
            <a:extLst xmlns:a="http://schemas.openxmlformats.org/drawingml/2006/main">
              <a:ext uri="{FF2B5EF4-FFF2-40B4-BE49-F238E27FC236}">
                <a16:creationId xmlns:a16="http://schemas.microsoft.com/office/drawing/2014/main" id="{10B0F745-D2C4-497A-8E3D-E8362ACFE840}"/>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Verteilte Daten verhindern gemeinsame Entscheidungen</a:t>
            </a:r>
          </a:p>
        </p:txBody>
      </p:sp>
      <p:sp>
        <p:nvSpPr>
          <p:cNvPr id="3" name="">
            <a:extLst xmlns:a="http://schemas.openxmlformats.org/drawingml/2006/main">
              <a:ext uri="{FF2B5EF4-FFF2-40B4-BE49-F238E27FC236}">
                <a16:creationId xmlns:a16="http://schemas.microsoft.com/office/drawing/2014/main" id="{F53D1C4F-D459-4D1E-9AA4-D063CB0D5CA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B0AC3E8-15D2-4061-9A08-35ADCA2D91B3}"/>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DAED092-2252-4E71-9E12-C358577AA38A}"/>
              </a:ext>
            </a:extLst>
          </p:cNvPr>
          <p:cNvSpPr>
            <a:spLocks xmlns:a="http://schemas.openxmlformats.org/drawingml/2006/main" noGrp="1"/>
          </p:cNvSpPr>
          <p:nvPr/>
        </p:nvSpPr>
        <p:spPr>
          <a:xfrm xmlns:a="http://schemas.openxmlformats.org/drawingml/2006/main">
            <a:off x="723900" y="158115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CB5CEABF-1EF2-4227-AB9C-D9C5E0DC80A2}"/>
              </a:ext>
            </a:extLst>
          </p:cNvPr>
          <p:cNvSpPr>
            <a:spLocks xmlns:a="http://schemas.openxmlformats.org/drawingml/2006/main" noGrp="1"/>
          </p:cNvSpPr>
          <p:nvPr/>
        </p:nvSpPr>
        <p:spPr>
          <a:xfrm xmlns:a="http://schemas.openxmlformats.org/drawingml/2006/main">
            <a:off x="952500" y="17145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Stammdaten &amp; Aufträge</a:t>
            </a:r>
          </a:p>
        </p:txBody>
      </p:sp>
      <p:sp>
        <p:nvSpPr>
          <p:cNvPr id="7" name="">
            <a:extLst xmlns:a="http://schemas.openxmlformats.org/drawingml/2006/main">
              <a:ext uri="{FF2B5EF4-FFF2-40B4-BE49-F238E27FC236}">
                <a16:creationId xmlns:a16="http://schemas.microsoft.com/office/drawing/2014/main" id="{61580672-57F9-42BA-B11B-38141B94B743}"/>
              </a:ext>
            </a:extLst>
          </p:cNvPr>
          <p:cNvSpPr>
            <a:spLocks xmlns:a="http://schemas.openxmlformats.org/drawingml/2006/main" noGrp="1"/>
          </p:cNvSpPr>
          <p:nvPr/>
        </p:nvSpPr>
        <p:spPr>
          <a:xfrm xmlns:a="http://schemas.openxmlformats.org/drawingml/2006/main">
            <a:off x="952500" y="200977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relational</a:t>
            </a:r>
          </a:p>
        </p:txBody>
      </p:sp>
      <p:sp>
        <p:nvSpPr>
          <p:cNvPr id="8" name="">
            <a:extLst xmlns:a="http://schemas.openxmlformats.org/drawingml/2006/main">
              <a:ext uri="{FF2B5EF4-FFF2-40B4-BE49-F238E27FC236}">
                <a16:creationId xmlns:a16="http://schemas.microsoft.com/office/drawing/2014/main" id="{F1F60B80-91E3-41C7-A262-CA98E5DBDC42}"/>
              </a:ext>
            </a:extLst>
          </p:cNvPr>
          <p:cNvSpPr>
            <a:spLocks xmlns:a="http://schemas.openxmlformats.org/drawingml/2006/main" noGrp="1"/>
          </p:cNvSpPr>
          <p:nvPr/>
        </p:nvSpPr>
        <p:spPr>
          <a:xfrm xmlns:a="http://schemas.openxmlformats.org/drawingml/2006/main">
            <a:off x="723900" y="258127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9" name="">
            <a:extLst xmlns:a="http://schemas.openxmlformats.org/drawingml/2006/main">
              <a:ext uri="{FF2B5EF4-FFF2-40B4-BE49-F238E27FC236}">
                <a16:creationId xmlns:a16="http://schemas.microsoft.com/office/drawing/2014/main" id="{AA6A14DD-14EE-4BF6-B12F-0ECA1DEA39CC}"/>
              </a:ext>
            </a:extLst>
          </p:cNvPr>
          <p:cNvSpPr>
            <a:spLocks xmlns:a="http://schemas.openxmlformats.org/drawingml/2006/main" noGrp="1"/>
          </p:cNvSpPr>
          <p:nvPr/>
        </p:nvSpPr>
        <p:spPr>
          <a:xfrm xmlns:a="http://schemas.openxmlformats.org/drawingml/2006/main">
            <a:off x="952500" y="271462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Sensorströme</a:t>
            </a:r>
          </a:p>
        </p:txBody>
      </p:sp>
      <p:sp>
        <p:nvSpPr>
          <p:cNvPr id="10" name="">
            <a:extLst xmlns:a="http://schemas.openxmlformats.org/drawingml/2006/main">
              <a:ext uri="{FF2B5EF4-FFF2-40B4-BE49-F238E27FC236}">
                <a16:creationId xmlns:a16="http://schemas.microsoft.com/office/drawing/2014/main" id="{3912275B-1A5E-443E-9502-2B052058A38F}"/>
              </a:ext>
            </a:extLst>
          </p:cNvPr>
          <p:cNvSpPr>
            <a:spLocks xmlns:a="http://schemas.openxmlformats.org/drawingml/2006/main" noGrp="1"/>
          </p:cNvSpPr>
          <p:nvPr/>
        </p:nvSpPr>
        <p:spPr>
          <a:xfrm xmlns:a="http://schemas.openxmlformats.org/drawingml/2006/main">
            <a:off x="952500" y="30099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verschachtelt</a:t>
            </a:r>
          </a:p>
        </p:txBody>
      </p:sp>
      <p:sp>
        <p:nvSpPr>
          <p:cNvPr id="11" name="">
            <a:extLst xmlns:a="http://schemas.openxmlformats.org/drawingml/2006/main">
              <a:ext uri="{FF2B5EF4-FFF2-40B4-BE49-F238E27FC236}">
                <a16:creationId xmlns:a16="http://schemas.microsoft.com/office/drawing/2014/main" id="{F184B00C-97BD-4224-86E9-2F55395286E7}"/>
              </a:ext>
            </a:extLst>
          </p:cNvPr>
          <p:cNvSpPr>
            <a:spLocks xmlns:a="http://schemas.openxmlformats.org/drawingml/2006/main" noGrp="1"/>
          </p:cNvSpPr>
          <p:nvPr/>
        </p:nvSpPr>
        <p:spPr>
          <a:xfrm xmlns:a="http://schemas.openxmlformats.org/drawingml/2006/main">
            <a:off x="723900" y="3581400"/>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DF52DB8D-2A2A-4072-851F-6ED484C03542}"/>
              </a:ext>
            </a:extLst>
          </p:cNvPr>
          <p:cNvSpPr>
            <a:spLocks xmlns:a="http://schemas.openxmlformats.org/drawingml/2006/main" noGrp="1"/>
          </p:cNvSpPr>
          <p:nvPr/>
        </p:nvSpPr>
        <p:spPr>
          <a:xfrm xmlns:a="http://schemas.openxmlformats.org/drawingml/2006/main">
            <a:off x="952500" y="37147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Wartung &amp; Störung</a:t>
            </a:r>
          </a:p>
        </p:txBody>
      </p:sp>
      <p:sp>
        <p:nvSpPr>
          <p:cNvPr id="13" name="">
            <a:extLst xmlns:a="http://schemas.openxmlformats.org/drawingml/2006/main">
              <a:ext uri="{FF2B5EF4-FFF2-40B4-BE49-F238E27FC236}">
                <a16:creationId xmlns:a16="http://schemas.microsoft.com/office/drawing/2014/main" id="{F96759AE-5E92-4FC1-9CF0-64279E157C8B}"/>
              </a:ext>
            </a:extLst>
          </p:cNvPr>
          <p:cNvSpPr>
            <a:spLocks xmlns:a="http://schemas.openxmlformats.org/drawingml/2006/main" noGrp="1"/>
          </p:cNvSpPr>
          <p:nvPr/>
        </p:nvSpPr>
        <p:spPr>
          <a:xfrm xmlns:a="http://schemas.openxmlformats.org/drawingml/2006/main">
            <a:off x="952500" y="4010025"/>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CSV / JSON</a:t>
            </a:r>
          </a:p>
        </p:txBody>
      </p:sp>
      <p:sp>
        <p:nvSpPr>
          <p:cNvPr id="14" name="">
            <a:extLst xmlns:a="http://schemas.openxmlformats.org/drawingml/2006/main">
              <a:ext uri="{FF2B5EF4-FFF2-40B4-BE49-F238E27FC236}">
                <a16:creationId xmlns:a16="http://schemas.microsoft.com/office/drawing/2014/main" id="{70322DBE-6166-40DE-96B9-17F133710EE4}"/>
              </a:ext>
            </a:extLst>
          </p:cNvPr>
          <p:cNvSpPr>
            <a:spLocks xmlns:a="http://schemas.openxmlformats.org/drawingml/2006/main" noGrp="1"/>
          </p:cNvSpPr>
          <p:nvPr/>
        </p:nvSpPr>
        <p:spPr>
          <a:xfrm xmlns:a="http://schemas.openxmlformats.org/drawingml/2006/main">
            <a:off x="723900" y="4581525"/>
            <a:ext cx="314325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CE5E9"/>
            </a:solidFill>
            <a:prstDash val="solid"/>
          </a:ln>
        </p:spPr>
      </p:sp>
      <p:sp>
        <p:nvSpPr>
          <p:cNvPr id="15" name="">
            <a:extLst xmlns:a="http://schemas.openxmlformats.org/drawingml/2006/main">
              <a:ext uri="{FF2B5EF4-FFF2-40B4-BE49-F238E27FC236}">
                <a16:creationId xmlns:a16="http://schemas.microsoft.com/office/drawing/2014/main" id="{4C7293E5-1F0B-4FB6-894C-2CC39D0EC3DB}"/>
              </a:ext>
            </a:extLst>
          </p:cNvPr>
          <p:cNvSpPr>
            <a:spLocks xmlns:a="http://schemas.openxmlformats.org/drawingml/2006/main" noGrp="1"/>
          </p:cNvSpPr>
          <p:nvPr/>
        </p:nvSpPr>
        <p:spPr>
          <a:xfrm xmlns:a="http://schemas.openxmlformats.org/drawingml/2006/main">
            <a:off x="952500" y="4714875"/>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702"/>
          </a:bodyPr>
          <a:lstStyle xmlns:a="http://schemas.openxmlformats.org/drawingml/2006/main">
            <a:defPPr algn="l">
              <a:defRPr sz="1425" b="1">
                <a:solidFill>
                  <a:srgbClr val="102230"/>
                </a:solidFill>
                <a:latin typeface="Arial"/>
                <a:ea typeface="Arial"/>
                <a:cs typeface="Arial"/>
              </a:defRPr>
            </a:defPPr>
          </a:lstStyle>
          <a:p xmlns:a="http://schemas.openxmlformats.org/drawingml/2006/main">
            <a:pPr algn="l">
              <a:buNone/>
              <a:defRPr sz="1425" b="1">
                <a:solidFill>
                  <a:srgbClr val="102230"/>
                </a:solidFill>
                <a:latin typeface="Arial"/>
                <a:ea typeface="Arial"/>
                <a:cs typeface="Arial"/>
              </a:defRPr>
            </a:pPr>
            <a:r>
              <a:rPr sz="1425" b="1">
                <a:solidFill>
                  <a:srgbClr val="102230"/>
                </a:solidFill>
                <a:latin typeface="Arial"/>
                <a:ea typeface="Arial"/>
                <a:cs typeface="Arial"/>
              </a:rPr>
              <a:t>Anlagenstruktur</a:t>
            </a:r>
          </a:p>
        </p:txBody>
      </p:sp>
      <p:sp>
        <p:nvSpPr>
          <p:cNvPr id="16" name="">
            <a:extLst xmlns:a="http://schemas.openxmlformats.org/drawingml/2006/main">
              <a:ext uri="{FF2B5EF4-FFF2-40B4-BE49-F238E27FC236}">
                <a16:creationId xmlns:a16="http://schemas.microsoft.com/office/drawing/2014/main" id="{6DDD5FD9-63DF-4E95-8F13-BE90BC041A0D}"/>
              </a:ext>
            </a:extLst>
          </p:cNvPr>
          <p:cNvSpPr>
            <a:spLocks xmlns:a="http://schemas.openxmlformats.org/drawingml/2006/main" noGrp="1"/>
          </p:cNvSpPr>
          <p:nvPr/>
        </p:nvSpPr>
        <p:spPr>
          <a:xfrm xmlns:a="http://schemas.openxmlformats.org/drawingml/2006/main">
            <a:off x="952500" y="501015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6667"/>
          </a:bodyPr>
          <a:lstStyle xmlns:a="http://schemas.openxmlformats.org/drawingml/2006/main">
            <a:defPPr algn="l">
              <a:defRPr sz="975" b="0">
                <a:solidFill>
                  <a:srgbClr val="536675"/>
                </a:solidFill>
                <a:latin typeface="Arial"/>
                <a:ea typeface="Arial"/>
                <a:cs typeface="Arial"/>
              </a:defRPr>
            </a:defPPr>
          </a:lstStyle>
          <a:p xmlns:a="http://schemas.openxmlformats.org/drawingml/2006/main">
            <a:pPr algn="l">
              <a:buNone/>
              <a:defRPr sz="975" b="0">
                <a:solidFill>
                  <a:srgbClr val="536675"/>
                </a:solidFill>
                <a:latin typeface="Arial"/>
                <a:ea typeface="Arial"/>
                <a:cs typeface="Arial"/>
              </a:defRPr>
            </a:pPr>
            <a:r>
              <a:rPr sz="975" b="0">
                <a:solidFill>
                  <a:srgbClr val="536675"/>
                </a:solidFill>
                <a:latin typeface="Arial"/>
                <a:ea typeface="Arial"/>
                <a:cs typeface="Arial"/>
              </a:rPr>
              <a:t>Graph</a:t>
            </a:r>
          </a:p>
        </p:txBody>
      </p:sp>
      <p:sp>
        <p:nvSpPr>
          <p:cNvPr id="17" name="">
            <a:extLst xmlns:a="http://schemas.openxmlformats.org/drawingml/2006/main">
              <a:ext uri="{FF2B5EF4-FFF2-40B4-BE49-F238E27FC236}">
                <a16:creationId xmlns:a16="http://schemas.microsoft.com/office/drawing/2014/main" id="{5CFE3ACC-FE66-4F00-AC30-CF041AB10FFB}"/>
              </a:ext>
            </a:extLst>
          </p:cNvPr>
          <p:cNvSpPr>
            <a:spLocks xmlns:a="http://schemas.openxmlformats.org/drawingml/2006/main" noGrp="1"/>
          </p:cNvSpPr>
          <p:nvPr/>
        </p:nvSpPr>
        <p:spPr>
          <a:xfrm xmlns:a="http://schemas.openxmlformats.org/drawingml/2006/main">
            <a:off x="4191000" y="3095625"/>
            <a:ext cx="7429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8" name="">
            <a:extLst xmlns:a="http://schemas.openxmlformats.org/drawingml/2006/main">
              <a:ext uri="{FF2B5EF4-FFF2-40B4-BE49-F238E27FC236}">
                <a16:creationId xmlns:a16="http://schemas.microsoft.com/office/drawing/2014/main" id="{B92AD9FB-6805-4E25-8B78-CE5515EE8EFF}"/>
              </a:ext>
            </a:extLst>
          </p:cNvPr>
          <p:cNvSpPr>
            <a:spLocks xmlns:a="http://schemas.openxmlformats.org/drawingml/2006/main" noGrp="1"/>
          </p:cNvSpPr>
          <p:nvPr/>
        </p:nvSpPr>
        <p:spPr>
          <a:xfrm xmlns:a="http://schemas.openxmlformats.org/drawingml/2006/main">
            <a:off x="5219700" y="1771650"/>
            <a:ext cx="5810250" cy="3143250"/>
          </a:xfrm>
          <a:prstGeom xmlns:a="http://schemas.openxmlformats.org/drawingml/2006/main" prst="roundRect">
            <a:avLst>
              <a:gd name="adj" fmla="val 3636"/>
            </a:avLst>
          </a:prstGeom>
          <a:solidFill xmlns:a="http://schemas.openxmlformats.org/drawingml/2006/main">
            <a:srgbClr val="0A1822"/>
          </a:solidFill>
          <a:ln xmlns:a="http://schemas.openxmlformats.org/drawingml/2006/main" w="9525">
            <a:solidFill>
              <a:srgbClr val="0A1822"/>
            </a:solidFill>
            <a:prstDash val="solid"/>
          </a:ln>
        </p:spPr>
      </p:sp>
      <p:sp>
        <p:nvSpPr>
          <p:cNvPr id="19" name="">
            <a:extLst xmlns:a="http://schemas.openxmlformats.org/drawingml/2006/main">
              <a:ext uri="{FF2B5EF4-FFF2-40B4-BE49-F238E27FC236}">
                <a16:creationId xmlns:a16="http://schemas.microsoft.com/office/drawing/2014/main" id="{D8602C70-D0F7-4234-AB1D-4BF8C3715343}"/>
              </a:ext>
            </a:extLst>
          </p:cNvPr>
          <p:cNvSpPr>
            <a:spLocks xmlns:a="http://schemas.openxmlformats.org/drawingml/2006/main" noGrp="1"/>
          </p:cNvSpPr>
          <p:nvPr/>
        </p:nvSpPr>
        <p:spPr>
          <a:xfrm xmlns:a="http://schemas.openxmlformats.org/drawingml/2006/main">
            <a:off x="5600700" y="21526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FFFFF"/>
                </a:solidFill>
                <a:latin typeface="Arial"/>
                <a:ea typeface="Arial"/>
                <a:cs typeface="Arial"/>
              </a:defRPr>
            </a:defPPr>
          </a:lstStyle>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Ohne gemeinsamen Kontext</a:t>
            </a:r>
          </a:p>
        </p:txBody>
      </p:sp>
      <p:sp>
        <p:nvSpPr>
          <p:cNvPr id="20" name="">
            <a:extLst xmlns:a="http://schemas.openxmlformats.org/drawingml/2006/main">
              <a:ext uri="{FF2B5EF4-FFF2-40B4-BE49-F238E27FC236}">
                <a16:creationId xmlns:a16="http://schemas.microsoft.com/office/drawing/2014/main" id="{C6E01E94-85B1-426A-BF40-D3BC37E44D2A}"/>
              </a:ext>
            </a:extLst>
          </p:cNvPr>
          <p:cNvSpPr>
            <a:spLocks xmlns:a="http://schemas.openxmlformats.org/drawingml/2006/main" noGrp="1"/>
          </p:cNvSpPr>
          <p:nvPr/>
        </p:nvSpPr>
        <p:spPr>
          <a:xfrm xmlns:a="http://schemas.openxmlformats.org/drawingml/2006/main">
            <a:off x="5638800" y="2800350"/>
            <a:ext cx="4857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650">
                <a:solidFill>
                  <a:srgbClr val="DCE7EB"/>
                </a:solidFill>
                <a:latin typeface="Arial"/>
                <a:ea typeface="Arial"/>
                <a:cs typeface="Arial"/>
              </a:defRPr>
            </a:defPPr>
          </a:lstStyle>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keine belastbare Wartungspriorität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auffällige Werte ohne Maschinenkontext</a:t>
            </a:r>
          </a:p>
          <a:p xmlns:a="http://schemas.openxmlformats.org/drawingml/2006/main">
            <a:pPr marL="228600" indent="-114300">
              <a:spcAft>
                <a:spcPts val="1000"/>
              </a:spcAft>
              <a:buChar char="•"/>
              <a:defRPr sz="1650">
                <a:solidFill>
                  <a:srgbClr val="DCE7EB"/>
                </a:solidFill>
                <a:latin typeface="Arial"/>
                <a:ea typeface="Arial"/>
                <a:cs typeface="Arial"/>
              </a:defRPr>
            </a:pPr>
            <a:r>
              <a:rPr sz="1650">
                <a:solidFill>
                  <a:srgbClr val="DCE7EB"/>
                </a:solidFill>
                <a:latin typeface="Arial"/>
                <a:ea typeface="Arial"/>
                <a:cs typeface="Arial"/>
              </a:rPr>
              <a:t>technische Abhängigkeiten bleiben unsichtbar</a:t>
            </a:r>
          </a:p>
        </p:txBody>
      </p:sp>
      <p:sp>
        <p:nvSpPr>
          <p:cNvPr id="21" name="">
            <a:extLst xmlns:a="http://schemas.openxmlformats.org/drawingml/2006/main">
              <a:ext uri="{FF2B5EF4-FFF2-40B4-BE49-F238E27FC236}">
                <a16:creationId xmlns:a16="http://schemas.microsoft.com/office/drawing/2014/main" id="{33C9E776-2012-40EE-A32C-7B3EDB2A244A}"/>
              </a:ext>
            </a:extLst>
          </p:cNvPr>
          <p:cNvSpPr>
            <a:spLocks xmlns:a="http://schemas.openxmlformats.org/drawingml/2006/main" noGrp="1"/>
          </p:cNvSpPr>
          <p:nvPr/>
        </p:nvSpPr>
        <p:spPr>
          <a:xfrm xmlns:a="http://schemas.openxmlformats.org/drawingml/2006/main">
            <a:off x="5257800" y="5200650"/>
            <a:ext cx="5715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897"/>
          </a:bodyPr>
          <a:lstStyle xmlns:a="http://schemas.openxmlformats.org/drawingml/2006/main">
            <a:defPPr algn="ctr">
              <a:defRPr sz="1500" b="1">
                <a:solidFill>
                  <a:srgbClr val="0F4C5C"/>
                </a:solidFill>
                <a:latin typeface="Arial"/>
                <a:ea typeface="Arial"/>
                <a:cs typeface="Arial"/>
              </a:defRPr>
            </a:defPPr>
          </a:lstStyle>
          <a:p xmlns:a="http://schemas.openxmlformats.org/drawingml/2006/main">
            <a:pPr algn="ctr">
              <a:buNone/>
              <a:defRPr sz="1500" b="1">
                <a:solidFill>
                  <a:srgbClr val="0F4C5C"/>
                </a:solidFill>
                <a:latin typeface="Arial"/>
                <a:ea typeface="Arial"/>
                <a:cs typeface="Arial"/>
              </a:defRPr>
            </a:pPr>
            <a:r>
              <a:rPr sz="1500" b="1">
                <a:solidFill>
                  <a:srgbClr val="0F4C5C"/>
                </a:solidFill>
                <a:latin typeface="Arial"/>
                <a:ea typeface="Arial"/>
                <a:cs typeface="Arial"/>
              </a:rPr>
              <a:t>Ziel: Signale + Historie + Struktur in einer Entscheidungskette</a:t>
            </a:r>
          </a:p>
        </p:txBody>
      </p:sp>
    </p:spTree>
    <p:extLst>
      <p:ext uri="{BB962C8B-B14F-4D97-AF65-F5344CB8AC3E}">
        <p14:creationId xmlns:p14="http://schemas.microsoft.com/office/powerpoint/2010/main" val="1351314141"/>
      </p:ext>
    </p:extLst>
  </p:cSld>
</p:sld>
</file>

<file path=ppt/slides/slide3.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9B11AF6-9DF9-4B1E-8BC5-5D30E85AECB3}"/>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ZIELE &amp; ANFORDERUNGEN</a:t>
            </a:r>
          </a:p>
        </p:txBody>
      </p:sp>
      <p:sp>
        <p:nvSpPr>
          <p:cNvPr id="2" name="">
            <a:extLst xmlns:a="http://schemas.openxmlformats.org/drawingml/2006/main">
              <a:ext uri="{FF2B5EF4-FFF2-40B4-BE49-F238E27FC236}">
                <a16:creationId xmlns:a16="http://schemas.microsoft.com/office/drawing/2014/main" id="{17BE313D-4474-4901-89F6-1440566D4B8F}"/>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Messbar, reproduzierbar, integrierbar</a:t>
            </a:r>
          </a:p>
        </p:txBody>
      </p:sp>
      <p:sp>
        <p:nvSpPr>
          <p:cNvPr id="3" name="">
            <a:extLst xmlns:a="http://schemas.openxmlformats.org/drawingml/2006/main">
              <a:ext uri="{FF2B5EF4-FFF2-40B4-BE49-F238E27FC236}">
                <a16:creationId xmlns:a16="http://schemas.microsoft.com/office/drawing/2014/main" id="{B710F27A-8BCE-46F5-80A1-800C438A024E}"/>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E3AED35-5B3A-4F6E-94BD-B33D328E0441}"/>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91418BD6-B1F5-4E48-8A6D-D80039E12A19}"/>
              </a:ext>
            </a:extLst>
          </p:cNvPr>
          <p:cNvSpPr>
            <a:spLocks xmlns:a="http://schemas.openxmlformats.org/drawingml/2006/main" noGrp="1"/>
          </p:cNvSpPr>
          <p:nvPr/>
        </p:nvSpPr>
        <p:spPr>
          <a:xfrm xmlns:a="http://schemas.openxmlformats.org/drawingml/2006/main">
            <a:off x="6667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3CD150CD-D4E2-4ABE-966A-03570A3E5669}"/>
              </a:ext>
            </a:extLst>
          </p:cNvPr>
          <p:cNvSpPr>
            <a:spLocks xmlns:a="http://schemas.openxmlformats.org/drawingml/2006/main" noGrp="1"/>
          </p:cNvSpPr>
          <p:nvPr/>
        </p:nvSpPr>
        <p:spPr>
          <a:xfrm xmlns:a="http://schemas.openxmlformats.org/drawingml/2006/main">
            <a:off x="8763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DEC9308B-FAB9-475E-8FD3-31F5AAB23E6F}"/>
              </a:ext>
            </a:extLst>
          </p:cNvPr>
          <p:cNvSpPr>
            <a:spLocks xmlns:a="http://schemas.openxmlformats.org/drawingml/2006/main" noGrp="1"/>
          </p:cNvSpPr>
          <p:nvPr/>
        </p:nvSpPr>
        <p:spPr>
          <a:xfrm xmlns:a="http://schemas.openxmlformats.org/drawingml/2006/main">
            <a:off x="8763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Daten</a:t>
            </a:r>
          </a:p>
        </p:txBody>
      </p:sp>
      <p:sp>
        <p:nvSpPr>
          <p:cNvPr id="8" name="">
            <a:extLst xmlns:a="http://schemas.openxmlformats.org/drawingml/2006/main">
              <a:ext uri="{FF2B5EF4-FFF2-40B4-BE49-F238E27FC236}">
                <a16:creationId xmlns:a16="http://schemas.microsoft.com/office/drawing/2014/main" id="{D3BFDD55-8CBC-466B-9D72-50F060D53917}"/>
              </a:ext>
            </a:extLst>
          </p:cNvPr>
          <p:cNvSpPr>
            <a:spLocks xmlns:a="http://schemas.openxmlformats.org/drawingml/2006/main" noGrp="1"/>
          </p:cNvSpPr>
          <p:nvPr/>
        </p:nvSpPr>
        <p:spPr>
          <a:xfrm xmlns:a="http://schemas.openxmlformats.org/drawingml/2006/main">
            <a:off x="8763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24C614-1283-47D0-923E-8A6CCA7564CF}"/>
              </a:ext>
            </a:extLst>
          </p:cNvPr>
          <p:cNvSpPr>
            <a:spLocks xmlns:a="http://schemas.openxmlformats.org/drawingml/2006/main" noGrp="1"/>
          </p:cNvSpPr>
          <p:nvPr/>
        </p:nvSpPr>
        <p:spPr>
          <a:xfrm xmlns:a="http://schemas.openxmlformats.org/drawingml/2006/main">
            <a:off x="8763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1 Mio. Messungen</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deterministisch erzeugen</a:t>
            </a:r>
          </a:p>
        </p:txBody>
      </p:sp>
      <p:sp>
        <p:nvSpPr>
          <p:cNvPr id="10" name="">
            <a:extLst xmlns:a="http://schemas.openxmlformats.org/drawingml/2006/main">
              <a:ext uri="{FF2B5EF4-FFF2-40B4-BE49-F238E27FC236}">
                <a16:creationId xmlns:a16="http://schemas.microsoft.com/office/drawing/2014/main" id="{0F766918-4DBA-42F3-BC96-0CB81784B68F}"/>
              </a:ext>
            </a:extLst>
          </p:cNvPr>
          <p:cNvSpPr>
            <a:spLocks xmlns:a="http://schemas.openxmlformats.org/drawingml/2006/main" noGrp="1"/>
          </p:cNvSpPr>
          <p:nvPr/>
        </p:nvSpPr>
        <p:spPr>
          <a:xfrm xmlns:a="http://schemas.openxmlformats.org/drawingml/2006/main">
            <a:off x="286702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1" name="">
            <a:extLst xmlns:a="http://schemas.openxmlformats.org/drawingml/2006/main">
              <a:ext uri="{FF2B5EF4-FFF2-40B4-BE49-F238E27FC236}">
                <a16:creationId xmlns:a16="http://schemas.microsoft.com/office/drawing/2014/main" id="{7D2151E5-8F32-429A-834F-CA4CB7D74342}"/>
              </a:ext>
            </a:extLst>
          </p:cNvPr>
          <p:cNvSpPr>
            <a:spLocks xmlns:a="http://schemas.openxmlformats.org/drawingml/2006/main" noGrp="1"/>
          </p:cNvSpPr>
          <p:nvPr/>
        </p:nvSpPr>
        <p:spPr>
          <a:xfrm xmlns:a="http://schemas.openxmlformats.org/drawingml/2006/main">
            <a:off x="307657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02</a:t>
            </a:r>
          </a:p>
        </p:txBody>
      </p:sp>
      <p:sp>
        <p:nvSpPr>
          <p:cNvPr id="12" name="">
            <a:extLst xmlns:a="http://schemas.openxmlformats.org/drawingml/2006/main">
              <a:ext uri="{FF2B5EF4-FFF2-40B4-BE49-F238E27FC236}">
                <a16:creationId xmlns:a16="http://schemas.microsoft.com/office/drawing/2014/main" id="{6BD417DB-6D49-4E18-B8E5-277D3500FFA0}"/>
              </a:ext>
            </a:extLst>
          </p:cNvPr>
          <p:cNvSpPr>
            <a:spLocks xmlns:a="http://schemas.openxmlformats.org/drawingml/2006/main" noGrp="1"/>
          </p:cNvSpPr>
          <p:nvPr/>
        </p:nvSpPr>
        <p:spPr>
          <a:xfrm xmlns:a="http://schemas.openxmlformats.org/drawingml/2006/main">
            <a:off x="307657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Persistenz</a:t>
            </a:r>
          </a:p>
        </p:txBody>
      </p:sp>
      <p:sp>
        <p:nvSpPr>
          <p:cNvPr id="13" name="">
            <a:extLst xmlns:a="http://schemas.openxmlformats.org/drawingml/2006/main">
              <a:ext uri="{FF2B5EF4-FFF2-40B4-BE49-F238E27FC236}">
                <a16:creationId xmlns:a16="http://schemas.microsoft.com/office/drawing/2014/main" id="{B9E454D1-2794-4C02-AE9D-C9959FB5CC3E}"/>
              </a:ext>
            </a:extLst>
          </p:cNvPr>
          <p:cNvSpPr>
            <a:spLocks xmlns:a="http://schemas.openxmlformats.org/drawingml/2006/main" noGrp="1"/>
          </p:cNvSpPr>
          <p:nvPr/>
        </p:nvSpPr>
        <p:spPr>
          <a:xfrm xmlns:a="http://schemas.openxmlformats.org/drawingml/2006/main">
            <a:off x="307657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4EEFC29-4CC1-438D-A3B6-EA280FE7D83E}"/>
              </a:ext>
            </a:extLst>
          </p:cNvPr>
          <p:cNvSpPr>
            <a:spLocks xmlns:a="http://schemas.openxmlformats.org/drawingml/2006/main" noGrp="1"/>
          </p:cNvSpPr>
          <p:nvPr/>
        </p:nvSpPr>
        <p:spPr>
          <a:xfrm xmlns:a="http://schemas.openxmlformats.org/drawingml/2006/main">
            <a:off x="307657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3 Datenbanken</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fachlich einsetzen</a:t>
            </a:r>
          </a:p>
        </p:txBody>
      </p:sp>
      <p:sp>
        <p:nvSpPr>
          <p:cNvPr id="15" name="">
            <a:extLst xmlns:a="http://schemas.openxmlformats.org/drawingml/2006/main">
              <a:ext uri="{FF2B5EF4-FFF2-40B4-BE49-F238E27FC236}">
                <a16:creationId xmlns:a16="http://schemas.microsoft.com/office/drawing/2014/main" id="{DC5BF132-3F97-43C4-BDF9-0882AF373537}"/>
              </a:ext>
            </a:extLst>
          </p:cNvPr>
          <p:cNvSpPr>
            <a:spLocks xmlns:a="http://schemas.openxmlformats.org/drawingml/2006/main" noGrp="1"/>
          </p:cNvSpPr>
          <p:nvPr/>
        </p:nvSpPr>
        <p:spPr>
          <a:xfrm xmlns:a="http://schemas.openxmlformats.org/drawingml/2006/main">
            <a:off x="506730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16" name="">
            <a:extLst xmlns:a="http://schemas.openxmlformats.org/drawingml/2006/main">
              <a:ext uri="{FF2B5EF4-FFF2-40B4-BE49-F238E27FC236}">
                <a16:creationId xmlns:a16="http://schemas.microsoft.com/office/drawing/2014/main" id="{FBD45D95-56B4-41AD-9494-8285EB7F0DA3}"/>
              </a:ext>
            </a:extLst>
          </p:cNvPr>
          <p:cNvSpPr>
            <a:spLocks xmlns:a="http://schemas.openxmlformats.org/drawingml/2006/main" noGrp="1"/>
          </p:cNvSpPr>
          <p:nvPr/>
        </p:nvSpPr>
        <p:spPr>
          <a:xfrm xmlns:a="http://schemas.openxmlformats.org/drawingml/2006/main">
            <a:off x="527685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03</a:t>
            </a:r>
          </a:p>
        </p:txBody>
      </p:sp>
      <p:sp>
        <p:nvSpPr>
          <p:cNvPr id="17" name="">
            <a:extLst xmlns:a="http://schemas.openxmlformats.org/drawingml/2006/main">
              <a:ext uri="{FF2B5EF4-FFF2-40B4-BE49-F238E27FC236}">
                <a16:creationId xmlns:a16="http://schemas.microsoft.com/office/drawing/2014/main" id="{42A6CBC1-911B-4107-8F69-B0E20675EF58}"/>
              </a:ext>
            </a:extLst>
          </p:cNvPr>
          <p:cNvSpPr>
            <a:spLocks xmlns:a="http://schemas.openxmlformats.org/drawingml/2006/main" noGrp="1"/>
          </p:cNvSpPr>
          <p:nvPr/>
        </p:nvSpPr>
        <p:spPr>
          <a:xfrm xmlns:a="http://schemas.openxmlformats.org/drawingml/2006/main">
            <a:off x="527685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Verarbeitung</a:t>
            </a:r>
          </a:p>
        </p:txBody>
      </p:sp>
      <p:sp>
        <p:nvSpPr>
          <p:cNvPr id="18" name="">
            <a:extLst xmlns:a="http://schemas.openxmlformats.org/drawingml/2006/main">
              <a:ext uri="{FF2B5EF4-FFF2-40B4-BE49-F238E27FC236}">
                <a16:creationId xmlns:a16="http://schemas.microsoft.com/office/drawing/2014/main" id="{95C6D773-EAA3-4E39-871D-C8AF66CBDA82}"/>
              </a:ext>
            </a:extLst>
          </p:cNvPr>
          <p:cNvSpPr>
            <a:spLocks xmlns:a="http://schemas.openxmlformats.org/drawingml/2006/main" noGrp="1"/>
          </p:cNvSpPr>
          <p:nvPr/>
        </p:nvSpPr>
        <p:spPr>
          <a:xfrm xmlns:a="http://schemas.openxmlformats.org/drawingml/2006/main">
            <a:off x="527685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6A485D8-37D4-49C2-B8EA-09F9CB21C8A5}"/>
              </a:ext>
            </a:extLst>
          </p:cNvPr>
          <p:cNvSpPr>
            <a:spLocks xmlns:a="http://schemas.openxmlformats.org/drawingml/2006/main" noGrp="1"/>
          </p:cNvSpPr>
          <p:nvPr/>
        </p:nvSpPr>
        <p:spPr>
          <a:xfrm xmlns:a="http://schemas.openxmlformats.org/drawingml/2006/main">
            <a:off x="527685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ETL + Airflow + Spark</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durchgängig ausführen</a:t>
            </a:r>
          </a:p>
        </p:txBody>
      </p:sp>
      <p:sp>
        <p:nvSpPr>
          <p:cNvPr id="20" name="">
            <a:extLst xmlns:a="http://schemas.openxmlformats.org/drawingml/2006/main">
              <a:ext uri="{FF2B5EF4-FFF2-40B4-BE49-F238E27FC236}">
                <a16:creationId xmlns:a16="http://schemas.microsoft.com/office/drawing/2014/main" id="{AD5A3AE8-50D0-497C-B7BB-662FF89B7C16}"/>
              </a:ext>
            </a:extLst>
          </p:cNvPr>
          <p:cNvSpPr>
            <a:spLocks xmlns:a="http://schemas.openxmlformats.org/drawingml/2006/main" noGrp="1"/>
          </p:cNvSpPr>
          <p:nvPr/>
        </p:nvSpPr>
        <p:spPr>
          <a:xfrm xmlns:a="http://schemas.openxmlformats.org/drawingml/2006/main">
            <a:off x="7267575"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1" name="">
            <a:extLst xmlns:a="http://schemas.openxmlformats.org/drawingml/2006/main">
              <a:ext uri="{FF2B5EF4-FFF2-40B4-BE49-F238E27FC236}">
                <a16:creationId xmlns:a16="http://schemas.microsoft.com/office/drawing/2014/main" id="{781F3BA0-3EC8-4605-B9CA-D361F02C5982}"/>
              </a:ext>
            </a:extLst>
          </p:cNvPr>
          <p:cNvSpPr>
            <a:spLocks xmlns:a="http://schemas.openxmlformats.org/drawingml/2006/main" noGrp="1"/>
          </p:cNvSpPr>
          <p:nvPr/>
        </p:nvSpPr>
        <p:spPr>
          <a:xfrm xmlns:a="http://schemas.openxmlformats.org/drawingml/2006/main">
            <a:off x="7477125"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61DF1A3A-1683-4309-9E73-9A252F5B0285}"/>
              </a:ext>
            </a:extLst>
          </p:cNvPr>
          <p:cNvSpPr>
            <a:spLocks xmlns:a="http://schemas.openxmlformats.org/drawingml/2006/main" noGrp="1"/>
          </p:cNvSpPr>
          <p:nvPr/>
        </p:nvSpPr>
        <p:spPr>
          <a:xfrm xmlns:a="http://schemas.openxmlformats.org/drawingml/2006/main">
            <a:off x="7477125"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Intelligenz</a:t>
            </a:r>
          </a:p>
        </p:txBody>
      </p:sp>
      <p:sp>
        <p:nvSpPr>
          <p:cNvPr id="23" name="">
            <a:extLst xmlns:a="http://schemas.openxmlformats.org/drawingml/2006/main">
              <a:ext uri="{FF2B5EF4-FFF2-40B4-BE49-F238E27FC236}">
                <a16:creationId xmlns:a16="http://schemas.microsoft.com/office/drawing/2014/main" id="{CB376497-5CD2-4B30-9E1D-86173B769DBC}"/>
              </a:ext>
            </a:extLst>
          </p:cNvPr>
          <p:cNvSpPr>
            <a:spLocks xmlns:a="http://schemas.openxmlformats.org/drawingml/2006/main" noGrp="1"/>
          </p:cNvSpPr>
          <p:nvPr/>
        </p:nvSpPr>
        <p:spPr>
          <a:xfrm xmlns:a="http://schemas.openxmlformats.org/drawingml/2006/main">
            <a:off x="7477125"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366519D-DFEC-4AAF-8919-D31D5289B7F5}"/>
              </a:ext>
            </a:extLst>
          </p:cNvPr>
          <p:cNvSpPr>
            <a:spLocks xmlns:a="http://schemas.openxmlformats.org/drawingml/2006/main" noGrp="1"/>
          </p:cNvSpPr>
          <p:nvPr/>
        </p:nvSpPr>
        <p:spPr>
          <a:xfrm xmlns:a="http://schemas.openxmlformats.org/drawingml/2006/main">
            <a:off x="7477125"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Klassifikation, Regression</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und Clustering</a:t>
            </a:r>
          </a:p>
        </p:txBody>
      </p:sp>
      <p:sp>
        <p:nvSpPr>
          <p:cNvPr id="25" name="">
            <a:extLst xmlns:a="http://schemas.openxmlformats.org/drawingml/2006/main">
              <a:ext uri="{FF2B5EF4-FFF2-40B4-BE49-F238E27FC236}">
                <a16:creationId xmlns:a16="http://schemas.microsoft.com/office/drawing/2014/main" id="{B8A290CE-B350-415E-A6D7-1E6CAE2552DA}"/>
              </a:ext>
            </a:extLst>
          </p:cNvPr>
          <p:cNvSpPr>
            <a:spLocks xmlns:a="http://schemas.openxmlformats.org/drawingml/2006/main" noGrp="1"/>
          </p:cNvSpPr>
          <p:nvPr/>
        </p:nvSpPr>
        <p:spPr>
          <a:xfrm xmlns:a="http://schemas.openxmlformats.org/drawingml/2006/main">
            <a:off x="9467850" y="1657350"/>
            <a:ext cx="1952625" cy="3143250"/>
          </a:xfrm>
          <a:prstGeom xmlns:a="http://schemas.openxmlformats.org/drawingml/2006/main" prst="roundRect">
            <a:avLst>
              <a:gd name="adj" fmla="val 585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58F9BB47-128D-4339-9F2D-BB5CDD06626C}"/>
              </a:ext>
            </a:extLst>
          </p:cNvPr>
          <p:cNvSpPr>
            <a:spLocks xmlns:a="http://schemas.openxmlformats.org/drawingml/2006/main" noGrp="1"/>
          </p:cNvSpPr>
          <p:nvPr/>
        </p:nvSpPr>
        <p:spPr>
          <a:xfrm xmlns:a="http://schemas.openxmlformats.org/drawingml/2006/main">
            <a:off x="9677400" y="1885950"/>
            <a:ext cx="66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7654"/>
          </a:bodyPr>
          <a:lstStyle xmlns:a="http://schemas.openxmlformats.org/drawingml/2006/main">
            <a:defPPr algn="l">
              <a:defRPr sz="2025" b="1">
                <a:solidFill>
                  <a:srgbClr val="F4A261"/>
                </a:solidFill>
                <a:latin typeface="Arial"/>
                <a:ea typeface="Arial"/>
                <a:cs typeface="Arial"/>
              </a:defRPr>
            </a:defPPr>
          </a:lstStyle>
          <a:p xmlns:a="http://schemas.openxmlformats.org/drawingml/2006/main">
            <a:pPr algn="l">
              <a:buNone/>
              <a:defRPr sz="2025" b="1">
                <a:solidFill>
                  <a:srgbClr val="F4A261"/>
                </a:solidFill>
                <a:latin typeface="Arial"/>
                <a:ea typeface="Arial"/>
                <a:cs typeface="Arial"/>
              </a:defRPr>
            </a:pPr>
            <a:r>
              <a:rPr sz="2025" b="1">
                <a:solidFill>
                  <a:srgbClr val="F4A261"/>
                </a:solidFill>
                <a:latin typeface="Arial"/>
                <a:ea typeface="Arial"/>
                <a:cs typeface="Arial"/>
              </a:rPr>
              <a:t>05</a:t>
            </a:r>
          </a:p>
        </p:txBody>
      </p:sp>
      <p:sp>
        <p:nvSpPr>
          <p:cNvPr id="27" name="">
            <a:extLst xmlns:a="http://schemas.openxmlformats.org/drawingml/2006/main">
              <a:ext uri="{FF2B5EF4-FFF2-40B4-BE49-F238E27FC236}">
                <a16:creationId xmlns:a16="http://schemas.microsoft.com/office/drawing/2014/main" id="{FE69E4FA-F043-4A33-A209-ED4271D5B5EA}"/>
              </a:ext>
            </a:extLst>
          </p:cNvPr>
          <p:cNvSpPr>
            <a:spLocks xmlns:a="http://schemas.openxmlformats.org/drawingml/2006/main" noGrp="1"/>
          </p:cNvSpPr>
          <p:nvPr/>
        </p:nvSpPr>
        <p:spPr>
          <a:xfrm xmlns:a="http://schemas.openxmlformats.org/drawingml/2006/main">
            <a:off x="9677400" y="2400300"/>
            <a:ext cx="1571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8889"/>
          </a:bodyPr>
          <a:lstStyle xmlns:a="http://schemas.openxmlformats.org/drawingml/2006/main">
            <a:defPPr algn="l">
              <a:defRPr sz="1575" b="1">
                <a:solidFill>
                  <a:srgbClr val="102230"/>
                </a:solidFill>
                <a:latin typeface="Arial"/>
                <a:ea typeface="Arial"/>
                <a:cs typeface="Arial"/>
              </a:defRPr>
            </a:defPPr>
          </a:lstStyle>
          <a:p xmlns:a="http://schemas.openxmlformats.org/drawingml/2006/main">
            <a:pPr algn="l">
              <a:buNone/>
              <a:defRPr sz="1575" b="1">
                <a:solidFill>
                  <a:srgbClr val="102230"/>
                </a:solidFill>
                <a:latin typeface="Arial"/>
                <a:ea typeface="Arial"/>
                <a:cs typeface="Arial"/>
              </a:defRPr>
            </a:pPr>
            <a:r>
              <a:rPr sz="1575" b="1">
                <a:solidFill>
                  <a:srgbClr val="102230"/>
                </a:solidFill>
                <a:latin typeface="Arial"/>
                <a:ea typeface="Arial"/>
                <a:cs typeface="Arial"/>
              </a:rPr>
              <a:t>Qualität</a:t>
            </a:r>
          </a:p>
        </p:txBody>
      </p:sp>
      <p:sp>
        <p:nvSpPr>
          <p:cNvPr id="28" name="">
            <a:extLst xmlns:a="http://schemas.openxmlformats.org/drawingml/2006/main">
              <a:ext uri="{FF2B5EF4-FFF2-40B4-BE49-F238E27FC236}">
                <a16:creationId xmlns:a16="http://schemas.microsoft.com/office/drawing/2014/main" id="{567C3C87-3688-4653-8E56-EC56E4923A22}"/>
              </a:ext>
            </a:extLst>
          </p:cNvPr>
          <p:cNvSpPr>
            <a:spLocks xmlns:a="http://schemas.openxmlformats.org/drawingml/2006/main" noGrp="1"/>
          </p:cNvSpPr>
          <p:nvPr/>
        </p:nvSpPr>
        <p:spPr>
          <a:xfrm xmlns:a="http://schemas.openxmlformats.org/drawingml/2006/main">
            <a:off x="9677400" y="2876550"/>
            <a:ext cx="514350" cy="38100"/>
          </a:xfrm>
          <a:prstGeom xmlns:a="http://schemas.openxmlformats.org/drawingml/2006/main" prst="rect">
            <a:avLst/>
          </a:prstGeom>
          <a:solidFill xmlns:a="http://schemas.openxmlformats.org/drawingml/2006/main">
            <a:srgbClr val="1B7F8C"/>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2BADD028-B126-455F-9332-1D79D769AE42}"/>
              </a:ext>
            </a:extLst>
          </p:cNvPr>
          <p:cNvSpPr>
            <a:spLocks xmlns:a="http://schemas.openxmlformats.org/drawingml/2006/main" noGrp="1"/>
          </p:cNvSpPr>
          <p:nvPr/>
        </p:nvSpPr>
        <p:spPr>
          <a:xfrm xmlns:a="http://schemas.openxmlformats.org/drawingml/2006/main">
            <a:off x="9677400" y="3181350"/>
            <a:ext cx="1571625"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350" b="0">
                <a:solidFill>
                  <a:srgbClr val="536675"/>
                </a:solidFill>
                <a:latin typeface="Arial"/>
                <a:ea typeface="Arial"/>
                <a:cs typeface="Arial"/>
              </a:defRPr>
            </a:defPPr>
          </a:lstStyle>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Quarantäne, Tests</a:t>
            </a:r>
          </a:p>
          <a:p xmlns:a="http://schemas.openxmlformats.org/drawingml/2006/main">
            <a:pPr algn="l">
              <a:buNone/>
              <a:defRPr sz="1350" b="0">
                <a:solidFill>
                  <a:srgbClr val="536675"/>
                </a:solidFill>
                <a:latin typeface="Arial"/>
                <a:ea typeface="Arial"/>
                <a:cs typeface="Arial"/>
              </a:defRPr>
            </a:pPr>
            <a:r>
              <a:rPr sz="1350" b="0">
                <a:solidFill>
                  <a:srgbClr val="536675"/>
                </a:solidFill>
                <a:latin typeface="Arial"/>
                <a:ea typeface="Arial"/>
                <a:cs typeface="Arial"/>
              </a:rPr>
              <a:t>und ehrliche Grenzen</a:t>
            </a:r>
          </a:p>
        </p:txBody>
      </p:sp>
      <p:sp>
        <p:nvSpPr>
          <p:cNvPr id="30" name="">
            <a:extLst xmlns:a="http://schemas.openxmlformats.org/drawingml/2006/main">
              <a:ext uri="{FF2B5EF4-FFF2-40B4-BE49-F238E27FC236}">
                <a16:creationId xmlns:a16="http://schemas.microsoft.com/office/drawing/2014/main" id="{EC8CEB7B-5505-4C80-A1C0-ADACBBD497C9}"/>
              </a:ext>
            </a:extLst>
          </p:cNvPr>
          <p:cNvSpPr>
            <a:spLocks xmlns:a="http://schemas.openxmlformats.org/drawingml/2006/main" noGrp="1"/>
          </p:cNvSpPr>
          <p:nvPr/>
        </p:nvSpPr>
        <p:spPr>
          <a:xfrm xmlns:a="http://schemas.openxmlformats.org/drawingml/2006/main">
            <a:off x="666750" y="5143500"/>
            <a:ext cx="10753725" cy="704850"/>
          </a:xfrm>
          <a:prstGeom xmlns:a="http://schemas.openxmlformats.org/drawingml/2006/main" prst="roundRect">
            <a:avLst>
              <a:gd name="adj" fmla="val 16216"/>
            </a:avLst>
          </a:prstGeom>
          <a:solidFill xmlns:a="http://schemas.openxmlformats.org/drawingml/2006/main">
            <a:srgbClr val="0F4C5C"/>
          </a:solidFill>
          <a:ln xmlns:a="http://schemas.openxmlformats.org/drawingml/2006/main" w="9525">
            <a:solidFill>
              <a:srgbClr val="0F4C5C"/>
            </a:solidFill>
            <a:prstDash val="solid"/>
          </a:ln>
        </p:spPr>
      </p:sp>
      <p:sp>
        <p:nvSpPr>
          <p:cNvPr id="31" name="">
            <a:extLst xmlns:a="http://schemas.openxmlformats.org/drawingml/2006/main">
              <a:ext uri="{FF2B5EF4-FFF2-40B4-BE49-F238E27FC236}">
                <a16:creationId xmlns:a16="http://schemas.microsoft.com/office/drawing/2014/main" id="{FEE83A8C-4DEF-47DA-BD3D-2D422DD3424E}"/>
              </a:ext>
            </a:extLst>
          </p:cNvPr>
          <p:cNvSpPr>
            <a:spLocks xmlns:a="http://schemas.openxmlformats.org/drawingml/2006/main" noGrp="1"/>
          </p:cNvSpPr>
          <p:nvPr/>
        </p:nvSpPr>
        <p:spPr>
          <a:xfrm xmlns:a="http://schemas.openxmlformats.org/drawingml/2006/main">
            <a:off x="952500" y="5343525"/>
            <a:ext cx="1019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825"/>
          </a:bodyPr>
          <a:lstStyle xmlns:a="http://schemas.openxmlformats.org/drawingml/2006/main">
            <a:defPPr algn="ctr">
              <a:defRPr sz="1575" b="1">
                <a:solidFill>
                  <a:srgbClr val="FFFFFF"/>
                </a:solidFill>
                <a:latin typeface="Arial"/>
                <a:ea typeface="Arial"/>
                <a:cs typeface="Arial"/>
              </a:defRPr>
            </a:defPPr>
          </a:lstStyle>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Definition of Done: Der komplette Full-DAG muss seine Resultate selbst persistieren.</a:t>
            </a:r>
          </a:p>
        </p:txBody>
      </p:sp>
    </p:spTree>
    <p:extLst>
      <p:ext uri="{BB962C8B-B14F-4D97-AF65-F5344CB8AC3E}">
        <p14:creationId xmlns:p14="http://schemas.microsoft.com/office/powerpoint/2010/main" val="1334644544"/>
      </p:ext>
    </p:extLst>
  </p:cSld>
</p:sld>
</file>

<file path=ppt/slides/slide4.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0A023546-EE52-4C27-8107-B5381723A02A}"/>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buNone/>
              <a:defRPr sz="900" b="1">
                <a:solidFill>
                  <a:srgbClr val="F4A261"/>
                </a:solidFill>
                <a:latin typeface="Arial"/>
                <a:ea typeface="Arial"/>
                <a:cs typeface="Arial"/>
              </a:defRPr>
            </a:pPr>
            <a:r>
              <a:rPr sz="900" b="1">
                <a:solidFill>
                  <a:srgbClr val="F4A261"/>
                </a:solidFill>
                <a:latin typeface="Arial"/>
                <a:ea typeface="Arial"/>
                <a:cs typeface="Arial"/>
              </a:rPr>
              <a:t>SYSTEMARCHITEKTUR</a:t>
            </a:r>
          </a:p>
        </p:txBody>
      </p:sp>
      <p:sp>
        <p:nvSpPr>
          <p:cNvPr id="2" name="">
            <a:extLst xmlns:a="http://schemas.openxmlformats.org/drawingml/2006/main">
              <a:ext uri="{FF2B5EF4-FFF2-40B4-BE49-F238E27FC236}">
                <a16:creationId xmlns:a16="http://schemas.microsoft.com/office/drawing/2014/main" id="{134F1698-AD9B-4AD7-A335-31D4339DAF78}"/>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buNone/>
              <a:defRPr sz="2550" b="1">
                <a:solidFill>
                  <a:srgbClr val="FFFFFF"/>
                </a:solidFill>
                <a:latin typeface="Arial"/>
                <a:ea typeface="Arial"/>
                <a:cs typeface="Arial"/>
              </a:defRPr>
            </a:pPr>
            <a:r>
              <a:rPr sz="2550" b="1">
                <a:solidFill>
                  <a:srgbClr val="FFFFFF"/>
                </a:solidFill>
                <a:latin typeface="Arial"/>
                <a:ea typeface="Arial"/>
                <a:cs typeface="Arial"/>
              </a:rPr>
              <a:t>Ein Datenfluss mit getrennten Speicher- und Rechenpfaden</a:t>
            </a:r>
          </a:p>
        </p:txBody>
      </p:sp>
      <p:sp>
        <p:nvSpPr>
          <p:cNvPr id="3" name="">
            <a:extLst xmlns:a="http://schemas.openxmlformats.org/drawingml/2006/main">
              <a:ext uri="{FF2B5EF4-FFF2-40B4-BE49-F238E27FC236}">
                <a16:creationId xmlns:a16="http://schemas.microsoft.com/office/drawing/2014/main" id="{03DFC8F3-C078-4A4A-A5B5-50AF4B67D84C}"/>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896C47-63C9-4646-9A5A-218E9BD9F4E1}"/>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AC7F9A28-C49A-41B4-8A4B-8959C3319D4D}"/>
              </a:ext>
            </a:extLst>
          </p:cNvPr>
          <p:cNvSpPr>
            <a:spLocks xmlns:a="http://schemas.openxmlformats.org/drawingml/2006/main" noGrp="1"/>
          </p:cNvSpPr>
          <p:nvPr/>
        </p:nvSpPr>
        <p:spPr>
          <a:xfrm xmlns:a="http://schemas.openxmlformats.org/drawingml/2006/main">
            <a:off x="5524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4780A080-AA57-40A9-B848-D240062145D7}"/>
              </a:ext>
            </a:extLst>
          </p:cNvPr>
          <p:cNvSpPr>
            <a:spLocks xmlns:a="http://schemas.openxmlformats.org/drawingml/2006/main" noGrp="1"/>
          </p:cNvSpPr>
          <p:nvPr/>
        </p:nvSpPr>
        <p:spPr>
          <a:xfrm xmlns:a="http://schemas.openxmlformats.org/drawingml/2006/main">
            <a:off x="7239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Quellen</a:t>
            </a:r>
          </a:p>
        </p:txBody>
      </p:sp>
      <p:sp>
        <p:nvSpPr>
          <p:cNvPr id="7" name="">
            <a:extLst xmlns:a="http://schemas.openxmlformats.org/drawingml/2006/main">
              <a:ext uri="{FF2B5EF4-FFF2-40B4-BE49-F238E27FC236}">
                <a16:creationId xmlns:a16="http://schemas.microsoft.com/office/drawing/2014/main" id="{3A3E93D5-C979-48CD-96A8-EAB36206646C}"/>
              </a:ext>
            </a:extLst>
          </p:cNvPr>
          <p:cNvSpPr>
            <a:spLocks xmlns:a="http://schemas.openxmlformats.org/drawingml/2006/main" noGrp="1"/>
          </p:cNvSpPr>
          <p:nvPr/>
        </p:nvSpPr>
        <p:spPr>
          <a:xfrm xmlns:a="http://schemas.openxmlformats.org/drawingml/2006/main">
            <a:off x="6858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2903"/>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CSV · JSON · JSONL</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quellorientiertes Staging</a:t>
            </a:r>
          </a:p>
        </p:txBody>
      </p:sp>
      <p:sp>
        <p:nvSpPr>
          <p:cNvPr id="8" name="">
            <a:extLst xmlns:a="http://schemas.openxmlformats.org/drawingml/2006/main">
              <a:ext uri="{FF2B5EF4-FFF2-40B4-BE49-F238E27FC236}">
                <a16:creationId xmlns:a16="http://schemas.microsoft.com/office/drawing/2014/main" id="{0686A0E6-94FC-4F5D-A5D2-77885B60C417}"/>
              </a:ext>
            </a:extLst>
          </p:cNvPr>
          <p:cNvSpPr>
            <a:spLocks xmlns:a="http://schemas.openxmlformats.org/drawingml/2006/main" noGrp="1"/>
          </p:cNvSpPr>
          <p:nvPr/>
        </p:nvSpPr>
        <p:spPr>
          <a:xfrm xmlns:a="http://schemas.openxmlformats.org/drawingml/2006/main">
            <a:off x="24384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AE47BB67-47A5-4C4C-A984-D83B0769486D}"/>
              </a:ext>
            </a:extLst>
          </p:cNvPr>
          <p:cNvSpPr>
            <a:spLocks xmlns:a="http://schemas.openxmlformats.org/drawingml/2006/main" noGrp="1"/>
          </p:cNvSpPr>
          <p:nvPr/>
        </p:nvSpPr>
        <p:spPr>
          <a:xfrm xmlns:a="http://schemas.openxmlformats.org/drawingml/2006/main">
            <a:off x="28765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C5458470-0819-42AD-8B43-F0409725C8D1}"/>
              </a:ext>
            </a:extLst>
          </p:cNvPr>
          <p:cNvSpPr>
            <a:spLocks xmlns:a="http://schemas.openxmlformats.org/drawingml/2006/main" noGrp="1"/>
          </p:cNvSpPr>
          <p:nvPr/>
        </p:nvSpPr>
        <p:spPr>
          <a:xfrm xmlns:a="http://schemas.openxmlformats.org/drawingml/2006/main">
            <a:off x="30480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Qualität</a:t>
            </a:r>
          </a:p>
        </p:txBody>
      </p:sp>
      <p:sp>
        <p:nvSpPr>
          <p:cNvPr id="11" name="">
            <a:extLst xmlns:a="http://schemas.openxmlformats.org/drawingml/2006/main">
              <a:ext uri="{FF2B5EF4-FFF2-40B4-BE49-F238E27FC236}">
                <a16:creationId xmlns:a16="http://schemas.microsoft.com/office/drawing/2014/main" id="{18326590-A032-483F-8386-5F52AFF11C7E}"/>
              </a:ext>
            </a:extLst>
          </p:cNvPr>
          <p:cNvSpPr>
            <a:spLocks xmlns:a="http://schemas.openxmlformats.org/drawingml/2006/main" noGrp="1"/>
          </p:cNvSpPr>
          <p:nvPr/>
        </p:nvSpPr>
        <p:spPr>
          <a:xfrm xmlns:a="http://schemas.openxmlformats.org/drawingml/2006/main">
            <a:off x="30099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64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Schema · Range · ID</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Quarantäne</a:t>
            </a:r>
          </a:p>
        </p:txBody>
      </p:sp>
      <p:sp>
        <p:nvSpPr>
          <p:cNvPr id="12" name="">
            <a:extLst xmlns:a="http://schemas.openxmlformats.org/drawingml/2006/main">
              <a:ext uri="{FF2B5EF4-FFF2-40B4-BE49-F238E27FC236}">
                <a16:creationId xmlns:a16="http://schemas.microsoft.com/office/drawing/2014/main" id="{9F6C540F-F12A-433E-91A3-1D0EBF0DD528}"/>
              </a:ext>
            </a:extLst>
          </p:cNvPr>
          <p:cNvSpPr>
            <a:spLocks xmlns:a="http://schemas.openxmlformats.org/drawingml/2006/main" noGrp="1"/>
          </p:cNvSpPr>
          <p:nvPr/>
        </p:nvSpPr>
        <p:spPr>
          <a:xfrm xmlns:a="http://schemas.openxmlformats.org/drawingml/2006/main">
            <a:off x="47625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E3E8ADC3-22A2-4393-B401-7838F87847FF}"/>
              </a:ext>
            </a:extLst>
          </p:cNvPr>
          <p:cNvSpPr>
            <a:spLocks xmlns:a="http://schemas.openxmlformats.org/drawingml/2006/main" noGrp="1"/>
          </p:cNvSpPr>
          <p:nvPr/>
        </p:nvSpPr>
        <p:spPr>
          <a:xfrm xmlns:a="http://schemas.openxmlformats.org/drawingml/2006/main">
            <a:off x="5200650" y="2247900"/>
            <a:ext cx="1828800" cy="1809750"/>
          </a:xfrm>
          <a:prstGeom xmlns:a="http://schemas.openxmlformats.org/drawingml/2006/main" prst="roundRect">
            <a:avLst>
              <a:gd name="adj" fmla="val 6316"/>
            </a:avLst>
          </a:prstGeom>
          <a:solidFill xmlns:a="http://schemas.openxmlformats.org/drawingml/2006/main">
            <a:srgbClr val="19485A"/>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7C215115-AFAC-4DF2-8490-097F49D7D4B6}"/>
              </a:ext>
            </a:extLst>
          </p:cNvPr>
          <p:cNvSpPr>
            <a:spLocks xmlns:a="http://schemas.openxmlformats.org/drawingml/2006/main" noGrp="1"/>
          </p:cNvSpPr>
          <p:nvPr/>
        </p:nvSpPr>
        <p:spPr>
          <a:xfrm xmlns:a="http://schemas.openxmlformats.org/drawingml/2006/main">
            <a:off x="53721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4A261"/>
                </a:solidFill>
                <a:latin typeface="Arial"/>
                <a:ea typeface="Arial"/>
                <a:cs typeface="Arial"/>
              </a:defRPr>
            </a:defPPr>
          </a:lstStyle>
          <a:p xmlns:a="http://schemas.openxmlformats.org/drawingml/2006/main">
            <a:pPr algn="ctr">
              <a:buNone/>
              <a:defRPr sz="1650" b="1">
                <a:solidFill>
                  <a:srgbClr val="F4A261"/>
                </a:solidFill>
                <a:latin typeface="Arial"/>
                <a:ea typeface="Arial"/>
                <a:cs typeface="Arial"/>
              </a:defRPr>
            </a:pPr>
            <a:r>
              <a:rPr sz="1650" b="1">
                <a:solidFill>
                  <a:srgbClr val="F4A261"/>
                </a:solidFill>
                <a:latin typeface="Arial"/>
                <a:ea typeface="Arial"/>
                <a:cs typeface="Arial"/>
              </a:rPr>
              <a:t>Spark</a:t>
            </a:r>
          </a:p>
        </p:txBody>
      </p:sp>
      <p:sp>
        <p:nvSpPr>
          <p:cNvPr id="15" name="">
            <a:extLst xmlns:a="http://schemas.openxmlformats.org/drawingml/2006/main">
              <a:ext uri="{FF2B5EF4-FFF2-40B4-BE49-F238E27FC236}">
                <a16:creationId xmlns:a16="http://schemas.microsoft.com/office/drawing/2014/main" id="{8B5691C9-ED05-4E97-AAC4-6CBA30478213}"/>
              </a:ext>
            </a:extLst>
          </p:cNvPr>
          <p:cNvSpPr>
            <a:spLocks xmlns:a="http://schemas.openxmlformats.org/drawingml/2006/main" noGrp="1"/>
          </p:cNvSpPr>
          <p:nvPr/>
        </p:nvSpPr>
        <p:spPr>
          <a:xfrm xmlns:a="http://schemas.openxmlformats.org/drawingml/2006/main">
            <a:off x="53340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44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SQL · Joins · Window</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Parquet Features</a:t>
            </a:r>
          </a:p>
        </p:txBody>
      </p:sp>
      <p:sp>
        <p:nvSpPr>
          <p:cNvPr id="16" name="">
            <a:extLst xmlns:a="http://schemas.openxmlformats.org/drawingml/2006/main">
              <a:ext uri="{FF2B5EF4-FFF2-40B4-BE49-F238E27FC236}">
                <a16:creationId xmlns:a16="http://schemas.microsoft.com/office/drawing/2014/main" id="{E6941558-355A-49C8-B24F-FE6E523C138A}"/>
              </a:ext>
            </a:extLst>
          </p:cNvPr>
          <p:cNvSpPr>
            <a:spLocks xmlns:a="http://schemas.openxmlformats.org/drawingml/2006/main" noGrp="1"/>
          </p:cNvSpPr>
          <p:nvPr/>
        </p:nvSpPr>
        <p:spPr>
          <a:xfrm xmlns:a="http://schemas.openxmlformats.org/drawingml/2006/main">
            <a:off x="70866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48882B08-46E0-4435-A113-C212E47C0D9C}"/>
              </a:ext>
            </a:extLst>
          </p:cNvPr>
          <p:cNvSpPr>
            <a:spLocks xmlns:a="http://schemas.openxmlformats.org/drawingml/2006/main" noGrp="1"/>
          </p:cNvSpPr>
          <p:nvPr/>
        </p:nvSpPr>
        <p:spPr>
          <a:xfrm xmlns:a="http://schemas.openxmlformats.org/drawingml/2006/main">
            <a:off x="75247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DCD06445-38AB-4772-B0EF-CD29DB34F8EA}"/>
              </a:ext>
            </a:extLst>
          </p:cNvPr>
          <p:cNvSpPr>
            <a:spLocks xmlns:a="http://schemas.openxmlformats.org/drawingml/2006/main" noGrp="1"/>
          </p:cNvSpPr>
          <p:nvPr/>
        </p:nvSpPr>
        <p:spPr>
          <a:xfrm xmlns:a="http://schemas.openxmlformats.org/drawingml/2006/main">
            <a:off x="76962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MLlib</a:t>
            </a:r>
          </a:p>
        </p:txBody>
      </p:sp>
      <p:sp>
        <p:nvSpPr>
          <p:cNvPr id="19" name="">
            <a:extLst xmlns:a="http://schemas.openxmlformats.org/drawingml/2006/main">
              <a:ext uri="{FF2B5EF4-FFF2-40B4-BE49-F238E27FC236}">
                <a16:creationId xmlns:a16="http://schemas.microsoft.com/office/drawing/2014/main" id="{DCB70EF1-C1F5-4031-B956-0D5ED2FFD36C}"/>
              </a:ext>
            </a:extLst>
          </p:cNvPr>
          <p:cNvSpPr>
            <a:spLocks xmlns:a="http://schemas.openxmlformats.org/drawingml/2006/main" noGrp="1"/>
          </p:cNvSpPr>
          <p:nvPr/>
        </p:nvSpPr>
        <p:spPr>
          <a:xfrm xmlns:a="http://schemas.openxmlformats.org/drawingml/2006/main">
            <a:off x="76581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4534"/>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Klassifikation</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Regression · KMeans</a:t>
            </a:r>
          </a:p>
        </p:txBody>
      </p:sp>
      <p:sp>
        <p:nvSpPr>
          <p:cNvPr id="20" name="">
            <a:extLst xmlns:a="http://schemas.openxmlformats.org/drawingml/2006/main">
              <a:ext uri="{FF2B5EF4-FFF2-40B4-BE49-F238E27FC236}">
                <a16:creationId xmlns:a16="http://schemas.microsoft.com/office/drawing/2014/main" id="{C8EFF2DD-A1E6-44AB-97D7-CFBC5FCE361D}"/>
              </a:ext>
            </a:extLst>
          </p:cNvPr>
          <p:cNvSpPr>
            <a:spLocks xmlns:a="http://schemas.openxmlformats.org/drawingml/2006/main" noGrp="1"/>
          </p:cNvSpPr>
          <p:nvPr/>
        </p:nvSpPr>
        <p:spPr>
          <a:xfrm xmlns:a="http://schemas.openxmlformats.org/drawingml/2006/main">
            <a:off x="9410700" y="3038475"/>
            <a:ext cx="4000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D8590361-C5EC-40CD-BD1C-6980027A904E}"/>
              </a:ext>
            </a:extLst>
          </p:cNvPr>
          <p:cNvSpPr>
            <a:spLocks xmlns:a="http://schemas.openxmlformats.org/drawingml/2006/main" noGrp="1"/>
          </p:cNvSpPr>
          <p:nvPr/>
        </p:nvSpPr>
        <p:spPr>
          <a:xfrm xmlns:a="http://schemas.openxmlformats.org/drawingml/2006/main">
            <a:off x="9848850" y="2247900"/>
            <a:ext cx="1828800" cy="1809750"/>
          </a:xfrm>
          <a:prstGeom xmlns:a="http://schemas.openxmlformats.org/drawingml/2006/main" prst="roundRect">
            <a:avLst>
              <a:gd name="adj" fmla="val 6316"/>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14C2F769-B23B-4758-866F-0191B12793D7}"/>
              </a:ext>
            </a:extLst>
          </p:cNvPr>
          <p:cNvSpPr>
            <a:spLocks xmlns:a="http://schemas.openxmlformats.org/drawingml/2006/main" noGrp="1"/>
          </p:cNvSpPr>
          <p:nvPr/>
        </p:nvSpPr>
        <p:spPr>
          <a:xfrm xmlns:a="http://schemas.openxmlformats.org/drawingml/2006/main">
            <a:off x="10020300" y="2533650"/>
            <a:ext cx="1485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273"/>
          </a:bodyPr>
          <a:lstStyle xmlns:a="http://schemas.openxmlformats.org/drawingml/2006/main">
            <a:defPPr algn="ctr">
              <a:defRPr sz="1650" b="1">
                <a:solidFill>
                  <a:srgbClr val="FFFFFF"/>
                </a:solidFill>
                <a:latin typeface="Arial"/>
                <a:ea typeface="Arial"/>
                <a:cs typeface="Arial"/>
              </a:defRPr>
            </a:defPPr>
          </a:lstStyle>
          <a:p xmlns:a="http://schemas.openxmlformats.org/drawingml/2006/main">
            <a:pPr algn="ctr">
              <a:buNone/>
              <a:defRPr sz="1650" b="1">
                <a:solidFill>
                  <a:srgbClr val="FFFFFF"/>
                </a:solidFill>
                <a:latin typeface="Arial"/>
                <a:ea typeface="Arial"/>
                <a:cs typeface="Arial"/>
              </a:defRPr>
            </a:pPr>
            <a:r>
              <a:rPr sz="1650" b="1">
                <a:solidFill>
                  <a:srgbClr val="FFFFFF"/>
                </a:solidFill>
                <a:latin typeface="Arial"/>
                <a:ea typeface="Arial"/>
                <a:cs typeface="Arial"/>
              </a:rPr>
              <a:t>Serving</a:t>
            </a:r>
          </a:p>
        </p:txBody>
      </p:sp>
      <p:sp>
        <p:nvSpPr>
          <p:cNvPr id="23" name="">
            <a:extLst xmlns:a="http://schemas.openxmlformats.org/drawingml/2006/main">
              <a:ext uri="{FF2B5EF4-FFF2-40B4-BE49-F238E27FC236}">
                <a16:creationId xmlns:a16="http://schemas.microsoft.com/office/drawing/2014/main" id="{19150570-36C7-4119-8F8A-058F3BF15C4A}"/>
              </a:ext>
            </a:extLst>
          </p:cNvPr>
          <p:cNvSpPr>
            <a:spLocks xmlns:a="http://schemas.openxmlformats.org/drawingml/2006/main" noGrp="1"/>
          </p:cNvSpPr>
          <p:nvPr/>
        </p:nvSpPr>
        <p:spPr>
          <a:xfrm xmlns:a="http://schemas.openxmlformats.org/drawingml/2006/main">
            <a:off x="9982200" y="3048000"/>
            <a:ext cx="1562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200" b="0">
                <a:solidFill>
                  <a:srgbClr val="B8C8D0"/>
                </a:solidFill>
                <a:latin typeface="Arial"/>
                <a:ea typeface="Arial"/>
                <a:cs typeface="Arial"/>
              </a:defRPr>
            </a:defPPr>
          </a:lstStyle>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PostgreSQL · Neo4j</a:t>
            </a:r>
          </a:p>
          <a:p xmlns:a="http://schemas.openxmlformats.org/drawingml/2006/main">
            <a:pPr algn="ctr">
              <a:buNone/>
              <a:defRPr sz="1200" b="0">
                <a:solidFill>
                  <a:srgbClr val="B8C8D0"/>
                </a:solidFill>
                <a:latin typeface="Arial"/>
                <a:ea typeface="Arial"/>
                <a:cs typeface="Arial"/>
              </a:defRPr>
            </a:pPr>
            <a:r>
              <a:rPr sz="1200" b="0">
                <a:solidFill>
                  <a:srgbClr val="B8C8D0"/>
                </a:solidFill>
                <a:latin typeface="Arial"/>
                <a:ea typeface="Arial"/>
                <a:cs typeface="Arial"/>
              </a:rPr>
              <a:t>FastAPI</a:t>
            </a:r>
          </a:p>
        </p:txBody>
      </p:sp>
      <p:sp>
        <p:nvSpPr>
          <p:cNvPr id="24" name="">
            <a:extLst xmlns:a="http://schemas.openxmlformats.org/drawingml/2006/main">
              <a:ext uri="{FF2B5EF4-FFF2-40B4-BE49-F238E27FC236}">
                <a16:creationId xmlns:a16="http://schemas.microsoft.com/office/drawing/2014/main" id="{AC3794D9-1FA7-4832-9C2D-D169AF41140E}"/>
              </a:ext>
            </a:extLst>
          </p:cNvPr>
          <p:cNvSpPr>
            <a:spLocks xmlns:a="http://schemas.openxmlformats.org/drawingml/2006/main" noGrp="1"/>
          </p:cNvSpPr>
          <p:nvPr/>
        </p:nvSpPr>
        <p:spPr>
          <a:xfrm xmlns:a="http://schemas.openxmlformats.org/drawingml/2006/main">
            <a:off x="2838450" y="4610100"/>
            <a:ext cx="6515100" cy="704850"/>
          </a:xfrm>
          <a:prstGeom xmlns:a="http://schemas.openxmlformats.org/drawingml/2006/main" prst="roundRect">
            <a:avLst>
              <a:gd name="adj" fmla="val 16216"/>
            </a:avLst>
          </a:prstGeom>
          <a:solidFill xmlns:a="http://schemas.openxmlformats.org/drawingml/2006/main">
            <a:srgbClr val="0E3544"/>
          </a:solidFill>
          <a:ln xmlns:a="http://schemas.openxmlformats.org/drawingml/2006/main" w="9525">
            <a:solidFill>
              <a:srgbClr val="31505D"/>
            </a:solidFill>
            <a:prstDash val="solid"/>
          </a:ln>
        </p:spPr>
      </p:sp>
      <p:sp>
        <p:nvSpPr>
          <p:cNvPr id="25" name="">
            <a:extLst xmlns:a="http://schemas.openxmlformats.org/drawingml/2006/main">
              <a:ext uri="{FF2B5EF4-FFF2-40B4-BE49-F238E27FC236}">
                <a16:creationId xmlns:a16="http://schemas.microsoft.com/office/drawing/2014/main" id="{C96E9ABC-9DDA-4080-B728-0E5B8EAEA137}"/>
              </a:ext>
            </a:extLst>
          </p:cNvPr>
          <p:cNvSpPr>
            <a:spLocks xmlns:a="http://schemas.openxmlformats.org/drawingml/2006/main" noGrp="1"/>
          </p:cNvSpPr>
          <p:nvPr/>
        </p:nvSpPr>
        <p:spPr>
          <a:xfrm xmlns:a="http://schemas.openxmlformats.org/drawingml/2006/main">
            <a:off x="3143250" y="4810125"/>
            <a:ext cx="590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5819"/>
          </a:bodyPr>
          <a:lstStyle xmlns:a="http://schemas.openxmlformats.org/drawingml/2006/main">
            <a:defPPr algn="ctr">
              <a:defRPr sz="1350" b="1">
                <a:solidFill>
                  <a:srgbClr val="FFFFFF"/>
                </a:solidFill>
                <a:latin typeface="Arial"/>
                <a:ea typeface="Arial"/>
                <a:cs typeface="Arial"/>
              </a:defRPr>
            </a:defPPr>
          </a:lstStyle>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Airflow orchestriert 13 Tasks · Quality Gates schützen ML und Persistenz</a:t>
            </a:r>
          </a:p>
        </p:txBody>
      </p:sp>
    </p:spTree>
    <p:extLst>
      <p:ext uri="{BB962C8B-B14F-4D97-AF65-F5344CB8AC3E}">
        <p14:creationId xmlns:p14="http://schemas.microsoft.com/office/powerpoint/2010/main" val="1982881233"/>
      </p:ext>
    </p:extLst>
  </p:cSld>
</p:sld>
</file>

<file path=ppt/slides/slide5.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C461EF8-41B9-4A7B-8522-155DA1A37B6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DATENHALTUNG</a:t>
            </a:r>
          </a:p>
        </p:txBody>
      </p:sp>
      <p:sp>
        <p:nvSpPr>
          <p:cNvPr id="2" name="">
            <a:extLst xmlns:a="http://schemas.openxmlformats.org/drawingml/2006/main">
              <a:ext uri="{FF2B5EF4-FFF2-40B4-BE49-F238E27FC236}">
                <a16:creationId xmlns:a16="http://schemas.microsoft.com/office/drawing/2014/main" id="{39CB741E-DE0F-44BC-BB49-197890E9A2D5}"/>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Polyglot Persistence mit klarer Aufgabenverteilung</a:t>
            </a:r>
          </a:p>
        </p:txBody>
      </p:sp>
      <p:sp>
        <p:nvSpPr>
          <p:cNvPr id="3" name="">
            <a:extLst xmlns:a="http://schemas.openxmlformats.org/drawingml/2006/main">
              <a:ext uri="{FF2B5EF4-FFF2-40B4-BE49-F238E27FC236}">
                <a16:creationId xmlns:a16="http://schemas.microsoft.com/office/drawing/2014/main" id="{AA8A46E1-6071-4784-9C9F-7F717815460A}"/>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B6009C-1D64-4C49-B942-620D5A94DD1D}"/>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91489F7-2B83-47AD-8AD0-83AA1B64896B}"/>
              </a:ext>
            </a:extLst>
          </p:cNvPr>
          <p:cNvSpPr>
            <a:spLocks xmlns:a="http://schemas.openxmlformats.org/drawingml/2006/main" noGrp="1"/>
          </p:cNvSpPr>
          <p:nvPr/>
        </p:nvSpPr>
        <p:spPr>
          <a:xfrm xmlns:a="http://schemas.openxmlformats.org/drawingml/2006/main">
            <a:off x="70485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1CCE4032-78ED-4CE2-9413-9253380A2D1F}"/>
              </a:ext>
            </a:extLst>
          </p:cNvPr>
          <p:cNvSpPr>
            <a:spLocks xmlns:a="http://schemas.openxmlformats.org/drawingml/2006/main" noGrp="1"/>
          </p:cNvSpPr>
          <p:nvPr/>
        </p:nvSpPr>
        <p:spPr>
          <a:xfrm xmlns:a="http://schemas.openxmlformats.org/drawingml/2006/main">
            <a:off x="704850" y="1619250"/>
            <a:ext cx="3333750" cy="1333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E8E0C0-AF8B-46D3-AB0E-741BB87F47E3}"/>
              </a:ext>
            </a:extLst>
          </p:cNvPr>
          <p:cNvSpPr>
            <a:spLocks xmlns:a="http://schemas.openxmlformats.org/drawingml/2006/main" noGrp="1"/>
          </p:cNvSpPr>
          <p:nvPr/>
        </p:nvSpPr>
        <p:spPr>
          <a:xfrm xmlns:a="http://schemas.openxmlformats.org/drawingml/2006/main">
            <a:off x="97155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buNone/>
              <a:defRPr sz="2100" b="1">
                <a:solidFill>
                  <a:srgbClr val="102230"/>
                </a:solidFill>
                <a:latin typeface="Arial"/>
                <a:ea typeface="Arial"/>
                <a:cs typeface="Arial"/>
              </a:defRPr>
            </a:pPr>
            <a:r>
              <a:rPr sz="2100" b="1">
                <a:solidFill>
                  <a:srgbClr val="102230"/>
                </a:solidFill>
                <a:latin typeface="Arial"/>
                <a:ea typeface="Arial"/>
                <a:cs typeface="Arial"/>
              </a:rPr>
              <a:t>PostgreSQL</a:t>
            </a:r>
          </a:p>
        </p:txBody>
      </p:sp>
      <p:sp>
        <p:nvSpPr>
          <p:cNvPr id="8" name="">
            <a:extLst xmlns:a="http://schemas.openxmlformats.org/drawingml/2006/main">
              <a:ext uri="{FF2B5EF4-FFF2-40B4-BE49-F238E27FC236}">
                <a16:creationId xmlns:a16="http://schemas.microsoft.com/office/drawing/2014/main" id="{D626444F-39F3-47B1-81E2-936E3D03E450}"/>
              </a:ext>
            </a:extLst>
          </p:cNvPr>
          <p:cNvSpPr>
            <a:spLocks xmlns:a="http://schemas.openxmlformats.org/drawingml/2006/main" noGrp="1"/>
          </p:cNvSpPr>
          <p:nvPr/>
        </p:nvSpPr>
        <p:spPr>
          <a:xfrm xmlns:a="http://schemas.openxmlformats.org/drawingml/2006/main">
            <a:off x="97155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buNone/>
              <a:defRPr sz="1275" b="0">
                <a:solidFill>
                  <a:srgbClr val="536675"/>
                </a:solidFill>
                <a:latin typeface="Arial"/>
                <a:ea typeface="Arial"/>
                <a:cs typeface="Arial"/>
              </a:defRPr>
            </a:pPr>
            <a:r>
              <a:rPr sz="1275" b="0">
                <a:solidFill>
                  <a:srgbClr val="536675"/>
                </a:solidFill>
                <a:latin typeface="Arial"/>
                <a:ea typeface="Arial"/>
                <a:cs typeface="Arial"/>
              </a:rPr>
              <a:t>Struktur &amp; Ergebnisse</a:t>
            </a:r>
          </a:p>
        </p:txBody>
      </p:sp>
      <p:sp>
        <p:nvSpPr>
          <p:cNvPr id="9" name="">
            <a:extLst xmlns:a="http://schemas.openxmlformats.org/drawingml/2006/main">
              <a:ext uri="{FF2B5EF4-FFF2-40B4-BE49-F238E27FC236}">
                <a16:creationId xmlns:a16="http://schemas.microsoft.com/office/drawing/2014/main" id="{21EEB1DE-851A-4E3D-9C83-275227501E0C}"/>
              </a:ext>
            </a:extLst>
          </p:cNvPr>
          <p:cNvSpPr>
            <a:spLocks xmlns:a="http://schemas.openxmlformats.org/drawingml/2006/main" noGrp="1"/>
          </p:cNvSpPr>
          <p:nvPr/>
        </p:nvSpPr>
        <p:spPr>
          <a:xfrm xmlns:a="http://schemas.openxmlformats.org/drawingml/2006/main">
            <a:off x="102870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0F4C5C"/>
                </a:solidFill>
                <a:latin typeface="Arial"/>
                <a:ea typeface="Arial"/>
                <a:cs typeface="Arial"/>
              </a:defRPr>
            </a:defPPr>
          </a:lstStyle>
          <a:p xmlns:a="http://schemas.openxmlformats.org/drawingml/2006/main">
            <a:pPr algn="ctr">
              <a:buNone/>
              <a:defRPr sz="2025" b="1">
                <a:solidFill>
                  <a:srgbClr val="0F4C5C"/>
                </a:solidFill>
                <a:latin typeface="Arial"/>
                <a:ea typeface="Arial"/>
                <a:cs typeface="Arial"/>
              </a:defRPr>
            </a:pPr>
            <a:r>
              <a:rPr sz="2025" b="1">
                <a:solidFill>
                  <a:srgbClr val="0F4C5C"/>
                </a:solidFill>
                <a:latin typeface="Arial"/>
                <a:ea typeface="Arial"/>
                <a:cs typeface="Arial"/>
              </a:rPr>
              <a:t>50 Maschinen</a:t>
            </a:r>
          </a:p>
          <a:p xmlns:a="http://schemas.openxmlformats.org/drawingml/2006/main">
            <a:pPr algn="ctr">
              <a:buNone/>
              <a:defRPr sz="2025" b="1">
                <a:solidFill>
                  <a:srgbClr val="0F4C5C"/>
                </a:solidFill>
                <a:latin typeface="Arial"/>
                <a:ea typeface="Arial"/>
                <a:cs typeface="Arial"/>
              </a:defRPr>
            </a:pPr>
            <a:r>
              <a:rPr sz="2025" b="1">
                <a:solidFill>
                  <a:srgbClr val="0F4C5C"/>
                </a:solidFill>
                <a:latin typeface="Arial"/>
                <a:ea typeface="Arial"/>
                <a:cs typeface="Arial"/>
              </a:rPr>
              <a:t>600 Aufträge</a:t>
            </a:r>
          </a:p>
          <a:p xmlns:a="http://schemas.openxmlformats.org/drawingml/2006/main">
            <a:pPr algn="ctr">
              <a:buNone/>
              <a:defRPr sz="2025" b="1">
                <a:solidFill>
                  <a:srgbClr val="0F4C5C"/>
                </a:solidFill>
                <a:latin typeface="Arial"/>
                <a:ea typeface="Arial"/>
                <a:cs typeface="Arial"/>
              </a:defRPr>
            </a:pPr>
            <a:r>
              <a:rPr sz="2025" b="1">
                <a:solidFill>
                  <a:srgbClr val="0F4C5C"/>
                </a:solidFill>
                <a:latin typeface="Arial"/>
                <a:ea typeface="Arial"/>
                <a:cs typeface="Arial"/>
              </a:rPr>
              <a:t>1.950 Prognosen</a:t>
            </a:r>
          </a:p>
        </p:txBody>
      </p:sp>
      <p:sp>
        <p:nvSpPr>
          <p:cNvPr id="10" name="">
            <a:extLst xmlns:a="http://schemas.openxmlformats.org/drawingml/2006/main">
              <a:ext uri="{FF2B5EF4-FFF2-40B4-BE49-F238E27FC236}">
                <a16:creationId xmlns:a16="http://schemas.microsoft.com/office/drawing/2014/main" id="{5CA15641-E984-42DA-AFCB-FE9AE2F50376}"/>
              </a:ext>
            </a:extLst>
          </p:cNvPr>
          <p:cNvSpPr>
            <a:spLocks xmlns:a="http://schemas.openxmlformats.org/drawingml/2006/main" noGrp="1"/>
          </p:cNvSpPr>
          <p:nvPr/>
        </p:nvSpPr>
        <p:spPr>
          <a:xfrm xmlns:a="http://schemas.openxmlformats.org/drawingml/2006/main">
            <a:off x="91440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buNone/>
              <a:defRPr sz="1050" b="0">
                <a:solidFill>
                  <a:srgbClr val="536675"/>
                </a:solidFill>
                <a:latin typeface="Arial"/>
                <a:ea typeface="Arial"/>
                <a:cs typeface="Arial"/>
              </a:defRPr>
            </a:pPr>
            <a:r>
              <a:rPr sz="1050" b="0">
                <a:solidFill>
                  <a:srgbClr val="536675"/>
                </a:solidFill>
                <a:latin typeface="Arial"/>
                <a:ea typeface="Arial"/>
                <a:cs typeface="Arial"/>
              </a:rPr>
              <a:t>ACID · SQL · Upsert</a:t>
            </a:r>
          </a:p>
        </p:txBody>
      </p:sp>
      <p:sp>
        <p:nvSpPr>
          <p:cNvPr id="11" name="">
            <a:extLst xmlns:a="http://schemas.openxmlformats.org/drawingml/2006/main">
              <a:ext uri="{FF2B5EF4-FFF2-40B4-BE49-F238E27FC236}">
                <a16:creationId xmlns:a16="http://schemas.microsoft.com/office/drawing/2014/main" id="{3E082680-5BC6-4623-9DD0-8C8CE6C1CE75}"/>
              </a:ext>
            </a:extLst>
          </p:cNvPr>
          <p:cNvSpPr>
            <a:spLocks xmlns:a="http://schemas.openxmlformats.org/drawingml/2006/main" noGrp="1"/>
          </p:cNvSpPr>
          <p:nvPr/>
        </p:nvSpPr>
        <p:spPr>
          <a:xfrm xmlns:a="http://schemas.openxmlformats.org/drawingml/2006/main">
            <a:off x="4371975"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2" name="">
            <a:extLst xmlns:a="http://schemas.openxmlformats.org/drawingml/2006/main">
              <a:ext uri="{FF2B5EF4-FFF2-40B4-BE49-F238E27FC236}">
                <a16:creationId xmlns:a16="http://schemas.microsoft.com/office/drawing/2014/main" id="{01D4EC8F-CDB5-46EF-9159-234DEB302839}"/>
              </a:ext>
            </a:extLst>
          </p:cNvPr>
          <p:cNvSpPr>
            <a:spLocks xmlns:a="http://schemas.openxmlformats.org/drawingml/2006/main" noGrp="1"/>
          </p:cNvSpPr>
          <p:nvPr/>
        </p:nvSpPr>
        <p:spPr>
          <a:xfrm xmlns:a="http://schemas.openxmlformats.org/drawingml/2006/main">
            <a:off x="4371975" y="1619250"/>
            <a:ext cx="3333750" cy="1333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289E570-04E6-4D4B-9A81-8DB0F0F95786}"/>
              </a:ext>
            </a:extLst>
          </p:cNvPr>
          <p:cNvSpPr>
            <a:spLocks xmlns:a="http://schemas.openxmlformats.org/drawingml/2006/main" noGrp="1"/>
          </p:cNvSpPr>
          <p:nvPr/>
        </p:nvSpPr>
        <p:spPr>
          <a:xfrm xmlns:a="http://schemas.openxmlformats.org/drawingml/2006/main">
            <a:off x="4638675"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buNone/>
              <a:defRPr sz="2100" b="1">
                <a:solidFill>
                  <a:srgbClr val="102230"/>
                </a:solidFill>
                <a:latin typeface="Arial"/>
                <a:ea typeface="Arial"/>
                <a:cs typeface="Arial"/>
              </a:defRPr>
            </a:pPr>
            <a:r>
              <a:rPr sz="2100" b="1">
                <a:solidFill>
                  <a:srgbClr val="102230"/>
                </a:solidFill>
                <a:latin typeface="Arial"/>
                <a:ea typeface="Arial"/>
                <a:cs typeface="Arial"/>
              </a:rPr>
              <a:t>MongoDB</a:t>
            </a:r>
          </a:p>
        </p:txBody>
      </p:sp>
      <p:sp>
        <p:nvSpPr>
          <p:cNvPr id="14" name="">
            <a:extLst xmlns:a="http://schemas.openxmlformats.org/drawingml/2006/main">
              <a:ext uri="{FF2B5EF4-FFF2-40B4-BE49-F238E27FC236}">
                <a16:creationId xmlns:a16="http://schemas.microsoft.com/office/drawing/2014/main" id="{F2189B7A-C7FF-4073-9A87-E00023D89128}"/>
              </a:ext>
            </a:extLst>
          </p:cNvPr>
          <p:cNvSpPr>
            <a:spLocks xmlns:a="http://schemas.openxmlformats.org/drawingml/2006/main" noGrp="1"/>
          </p:cNvSpPr>
          <p:nvPr/>
        </p:nvSpPr>
        <p:spPr>
          <a:xfrm xmlns:a="http://schemas.openxmlformats.org/drawingml/2006/main">
            <a:off x="4638675"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buNone/>
              <a:defRPr sz="1275" b="0">
                <a:solidFill>
                  <a:srgbClr val="536675"/>
                </a:solidFill>
                <a:latin typeface="Arial"/>
                <a:ea typeface="Arial"/>
                <a:cs typeface="Arial"/>
              </a:defRPr>
            </a:pPr>
            <a:r>
              <a:rPr sz="1275" b="0">
                <a:solidFill>
                  <a:srgbClr val="536675"/>
                </a:solidFill>
                <a:latin typeface="Arial"/>
                <a:ea typeface="Arial"/>
                <a:cs typeface="Arial"/>
              </a:rPr>
              <a:t>Sensorzeitreihen</a:t>
            </a:r>
          </a:p>
        </p:txBody>
      </p:sp>
      <p:sp>
        <p:nvSpPr>
          <p:cNvPr id="15" name="">
            <a:extLst xmlns:a="http://schemas.openxmlformats.org/drawingml/2006/main">
              <a:ext uri="{FF2B5EF4-FFF2-40B4-BE49-F238E27FC236}">
                <a16:creationId xmlns:a16="http://schemas.microsoft.com/office/drawing/2014/main" id="{574D1C66-85D7-4AF9-A631-5949F48AFDE5}"/>
              </a:ext>
            </a:extLst>
          </p:cNvPr>
          <p:cNvSpPr>
            <a:spLocks xmlns:a="http://schemas.openxmlformats.org/drawingml/2006/main" noGrp="1"/>
          </p:cNvSpPr>
          <p:nvPr/>
        </p:nvSpPr>
        <p:spPr>
          <a:xfrm xmlns:a="http://schemas.openxmlformats.org/drawingml/2006/main">
            <a:off x="4695825"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2A9D6F"/>
                </a:solidFill>
                <a:latin typeface="Arial"/>
                <a:ea typeface="Arial"/>
                <a:cs typeface="Arial"/>
              </a:defRPr>
            </a:defPPr>
          </a:lstStyle>
          <a:p xmlns:a="http://schemas.openxmlformats.org/drawingml/2006/main">
            <a:pPr algn="ctr">
              <a:buNone/>
              <a:defRPr sz="2025" b="1">
                <a:solidFill>
                  <a:srgbClr val="2A9D6F"/>
                </a:solidFill>
                <a:latin typeface="Arial"/>
                <a:ea typeface="Arial"/>
                <a:cs typeface="Arial"/>
              </a:defRPr>
            </a:pPr>
            <a:r>
              <a:rPr sz="2025" b="1">
                <a:solidFill>
                  <a:srgbClr val="2A9D6F"/>
                </a:solidFill>
                <a:latin typeface="Arial"/>
                <a:ea typeface="Arial"/>
                <a:cs typeface="Arial"/>
              </a:rPr>
              <a:t>1.000.000</a:t>
            </a:r>
          </a:p>
          <a:p xmlns:a="http://schemas.openxmlformats.org/drawingml/2006/main">
            <a:pPr algn="ctr">
              <a:buNone/>
              <a:defRPr sz="2025" b="1">
                <a:solidFill>
                  <a:srgbClr val="2A9D6F"/>
                </a:solidFill>
                <a:latin typeface="Arial"/>
                <a:ea typeface="Arial"/>
                <a:cs typeface="Arial"/>
              </a:defRPr>
            </a:pPr>
            <a:r>
              <a:rPr sz="2025" b="1">
                <a:solidFill>
                  <a:srgbClr val="2A9D6F"/>
                </a:solidFill>
                <a:latin typeface="Arial"/>
                <a:ea typeface="Arial"/>
                <a:cs typeface="Arial"/>
              </a:rPr>
              <a:t>verschachtelte</a:t>
            </a:r>
          </a:p>
          <a:p xmlns:a="http://schemas.openxmlformats.org/drawingml/2006/main">
            <a:pPr algn="ctr">
              <a:buNone/>
              <a:defRPr sz="2025" b="1">
                <a:solidFill>
                  <a:srgbClr val="2A9D6F"/>
                </a:solidFill>
                <a:latin typeface="Arial"/>
                <a:ea typeface="Arial"/>
                <a:cs typeface="Arial"/>
              </a:defRPr>
            </a:pPr>
            <a:r>
              <a:rPr sz="2025" b="1">
                <a:solidFill>
                  <a:srgbClr val="2A9D6F"/>
                </a:solidFill>
                <a:latin typeface="Arial"/>
                <a:ea typeface="Arial"/>
                <a:cs typeface="Arial"/>
              </a:rPr>
              <a:t>Dokumente</a:t>
            </a:r>
          </a:p>
        </p:txBody>
      </p:sp>
      <p:sp>
        <p:nvSpPr>
          <p:cNvPr id="16" name="">
            <a:extLst xmlns:a="http://schemas.openxmlformats.org/drawingml/2006/main">
              <a:ext uri="{FF2B5EF4-FFF2-40B4-BE49-F238E27FC236}">
                <a16:creationId xmlns:a16="http://schemas.microsoft.com/office/drawing/2014/main" id="{1207F920-149C-4888-B0FF-9AD843F13B9C}"/>
              </a:ext>
            </a:extLst>
          </p:cNvPr>
          <p:cNvSpPr>
            <a:spLocks xmlns:a="http://schemas.openxmlformats.org/drawingml/2006/main" noGrp="1"/>
          </p:cNvSpPr>
          <p:nvPr/>
        </p:nvSpPr>
        <p:spPr>
          <a:xfrm xmlns:a="http://schemas.openxmlformats.org/drawingml/2006/main">
            <a:off x="4581525"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buNone/>
              <a:defRPr sz="1050" b="0">
                <a:solidFill>
                  <a:srgbClr val="536675"/>
                </a:solidFill>
                <a:latin typeface="Arial"/>
                <a:ea typeface="Arial"/>
                <a:cs typeface="Arial"/>
              </a:defRPr>
            </a:pPr>
            <a:r>
              <a:rPr sz="1050" b="0">
                <a:solidFill>
                  <a:srgbClr val="536675"/>
                </a:solidFill>
                <a:latin typeface="Arial"/>
                <a:ea typeface="Arial"/>
                <a:cs typeface="Arial"/>
              </a:rPr>
              <a:t>Index · Batch-Load · Snapshot</a:t>
            </a:r>
          </a:p>
        </p:txBody>
      </p:sp>
      <p:sp>
        <p:nvSpPr>
          <p:cNvPr id="17" name="">
            <a:extLst xmlns:a="http://schemas.openxmlformats.org/drawingml/2006/main">
              <a:ext uri="{FF2B5EF4-FFF2-40B4-BE49-F238E27FC236}">
                <a16:creationId xmlns:a16="http://schemas.microsoft.com/office/drawing/2014/main" id="{DD5F73BB-261E-4D2C-A39F-BB33CE34CA58}"/>
              </a:ext>
            </a:extLst>
          </p:cNvPr>
          <p:cNvSpPr>
            <a:spLocks xmlns:a="http://schemas.openxmlformats.org/drawingml/2006/main" noGrp="1"/>
          </p:cNvSpPr>
          <p:nvPr/>
        </p:nvSpPr>
        <p:spPr>
          <a:xfrm xmlns:a="http://schemas.openxmlformats.org/drawingml/2006/main">
            <a:off x="8039100" y="1619250"/>
            <a:ext cx="3333750" cy="3667125"/>
          </a:xfrm>
          <a:prstGeom xmlns:a="http://schemas.openxmlformats.org/drawingml/2006/main" prst="roundRect">
            <a:avLst>
              <a:gd name="adj" fmla="val 3429"/>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92A4EC21-BF84-4D6C-94D9-75B82A2CED80}"/>
              </a:ext>
            </a:extLst>
          </p:cNvPr>
          <p:cNvSpPr>
            <a:spLocks xmlns:a="http://schemas.openxmlformats.org/drawingml/2006/main" noGrp="1"/>
          </p:cNvSpPr>
          <p:nvPr/>
        </p:nvSpPr>
        <p:spPr>
          <a:xfrm xmlns:a="http://schemas.openxmlformats.org/drawingml/2006/main">
            <a:off x="8039100" y="1619250"/>
            <a:ext cx="3333750" cy="1333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6BB16DC-32E4-4093-8403-6CB66AF4954C}"/>
              </a:ext>
            </a:extLst>
          </p:cNvPr>
          <p:cNvSpPr>
            <a:spLocks xmlns:a="http://schemas.openxmlformats.org/drawingml/2006/main" noGrp="1"/>
          </p:cNvSpPr>
          <p:nvPr/>
        </p:nvSpPr>
        <p:spPr>
          <a:xfrm xmlns:a="http://schemas.openxmlformats.org/drawingml/2006/main">
            <a:off x="8305800" y="2076450"/>
            <a:ext cx="2800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476"/>
          </a:bodyPr>
          <a:lstStyle xmlns:a="http://schemas.openxmlformats.org/drawingml/2006/main">
            <a:defPPr algn="ctr">
              <a:defRPr sz="2100" b="1">
                <a:solidFill>
                  <a:srgbClr val="102230"/>
                </a:solidFill>
                <a:latin typeface="Arial"/>
                <a:ea typeface="Arial"/>
                <a:cs typeface="Arial"/>
              </a:defRPr>
            </a:defPPr>
          </a:lstStyle>
          <a:p xmlns:a="http://schemas.openxmlformats.org/drawingml/2006/main">
            <a:pPr algn="ctr">
              <a:buNone/>
              <a:defRPr sz="2100" b="1">
                <a:solidFill>
                  <a:srgbClr val="102230"/>
                </a:solidFill>
                <a:latin typeface="Arial"/>
                <a:ea typeface="Arial"/>
                <a:cs typeface="Arial"/>
              </a:defRPr>
            </a:pPr>
            <a:r>
              <a:rPr sz="2100" b="1">
                <a:solidFill>
                  <a:srgbClr val="102230"/>
                </a:solidFill>
                <a:latin typeface="Arial"/>
                <a:ea typeface="Arial"/>
                <a:cs typeface="Arial"/>
              </a:rPr>
              <a:t>Neo4j</a:t>
            </a:r>
          </a:p>
        </p:txBody>
      </p:sp>
      <p:sp>
        <p:nvSpPr>
          <p:cNvPr id="20" name="">
            <a:extLst xmlns:a="http://schemas.openxmlformats.org/drawingml/2006/main">
              <a:ext uri="{FF2B5EF4-FFF2-40B4-BE49-F238E27FC236}">
                <a16:creationId xmlns:a16="http://schemas.microsoft.com/office/drawing/2014/main" id="{555BA535-A1C7-4ED0-874C-CB03EF5CC34B}"/>
              </a:ext>
            </a:extLst>
          </p:cNvPr>
          <p:cNvSpPr>
            <a:spLocks xmlns:a="http://schemas.openxmlformats.org/drawingml/2006/main" noGrp="1"/>
          </p:cNvSpPr>
          <p:nvPr/>
        </p:nvSpPr>
        <p:spPr>
          <a:xfrm xmlns:a="http://schemas.openxmlformats.org/drawingml/2006/main">
            <a:off x="8305800" y="2533650"/>
            <a:ext cx="28003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392"/>
          </a:bodyPr>
          <a:lstStyle xmlns:a="http://schemas.openxmlformats.org/drawingml/2006/main">
            <a:defPPr algn="ctr">
              <a:defRPr sz="1275" b="0">
                <a:solidFill>
                  <a:srgbClr val="536675"/>
                </a:solidFill>
                <a:latin typeface="Arial"/>
                <a:ea typeface="Arial"/>
                <a:cs typeface="Arial"/>
              </a:defRPr>
            </a:defPPr>
          </a:lstStyle>
          <a:p xmlns:a="http://schemas.openxmlformats.org/drawingml/2006/main">
            <a:pPr algn="ctr">
              <a:buNone/>
              <a:defRPr sz="1275" b="0">
                <a:solidFill>
                  <a:srgbClr val="536675"/>
                </a:solidFill>
                <a:latin typeface="Arial"/>
                <a:ea typeface="Arial"/>
                <a:cs typeface="Arial"/>
              </a:defRPr>
            </a:pPr>
            <a:r>
              <a:rPr sz="1275" b="0">
                <a:solidFill>
                  <a:srgbClr val="536675"/>
                </a:solidFill>
                <a:latin typeface="Arial"/>
                <a:ea typeface="Arial"/>
                <a:cs typeface="Arial"/>
              </a:rPr>
              <a:t>Technischer Kontext</a:t>
            </a:r>
          </a:p>
        </p:txBody>
      </p:sp>
      <p:sp>
        <p:nvSpPr>
          <p:cNvPr id="21" name="">
            <a:extLst xmlns:a="http://schemas.openxmlformats.org/drawingml/2006/main">
              <a:ext uri="{FF2B5EF4-FFF2-40B4-BE49-F238E27FC236}">
                <a16:creationId xmlns:a16="http://schemas.microsoft.com/office/drawing/2014/main" id="{95DE5E21-618B-467D-87A4-D412DCA5265E}"/>
              </a:ext>
            </a:extLst>
          </p:cNvPr>
          <p:cNvSpPr>
            <a:spLocks xmlns:a="http://schemas.openxmlformats.org/drawingml/2006/main" noGrp="1"/>
          </p:cNvSpPr>
          <p:nvPr/>
        </p:nvSpPr>
        <p:spPr>
          <a:xfrm xmlns:a="http://schemas.openxmlformats.org/drawingml/2006/main">
            <a:off x="8362950" y="3181350"/>
            <a:ext cx="26860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2025" b="1">
                <a:solidFill>
                  <a:srgbClr val="F4A261"/>
                </a:solidFill>
                <a:latin typeface="Arial"/>
                <a:ea typeface="Arial"/>
                <a:cs typeface="Arial"/>
              </a:defRPr>
            </a:defPPr>
          </a:lstStyle>
          <a:p xmlns:a="http://schemas.openxmlformats.org/drawingml/2006/main">
            <a:pPr algn="ctr">
              <a:buNone/>
              <a:defRPr sz="2025" b="1">
                <a:solidFill>
                  <a:srgbClr val="F4A261"/>
                </a:solidFill>
                <a:latin typeface="Arial"/>
                <a:ea typeface="Arial"/>
                <a:cs typeface="Arial"/>
              </a:defRPr>
            </a:pPr>
            <a:r>
              <a:rPr sz="2025" b="1">
                <a:solidFill>
                  <a:srgbClr val="F4A261"/>
                </a:solidFill>
                <a:latin typeface="Arial"/>
                <a:ea typeface="Arial"/>
                <a:cs typeface="Arial"/>
              </a:rPr>
              <a:t>50 Maschinen</a:t>
            </a:r>
          </a:p>
          <a:p xmlns:a="http://schemas.openxmlformats.org/drawingml/2006/main">
            <a:pPr algn="ctr">
              <a:buNone/>
              <a:defRPr sz="2025" b="1">
                <a:solidFill>
                  <a:srgbClr val="F4A261"/>
                </a:solidFill>
                <a:latin typeface="Arial"/>
                <a:ea typeface="Arial"/>
                <a:cs typeface="Arial"/>
              </a:defRPr>
            </a:pPr>
            <a:r>
              <a:rPr sz="2025" b="1">
                <a:solidFill>
                  <a:srgbClr val="F4A261"/>
                </a:solidFill>
                <a:latin typeface="Arial"/>
                <a:ea typeface="Arial"/>
                <a:cs typeface="Arial"/>
              </a:rPr>
              <a:t>220 Komponenten</a:t>
            </a:r>
          </a:p>
          <a:p xmlns:a="http://schemas.openxmlformats.org/drawingml/2006/main">
            <a:pPr algn="ctr">
              <a:buNone/>
              <a:defRPr sz="2025" b="1">
                <a:solidFill>
                  <a:srgbClr val="F4A261"/>
                </a:solidFill>
                <a:latin typeface="Arial"/>
                <a:ea typeface="Arial"/>
                <a:cs typeface="Arial"/>
              </a:defRPr>
            </a:pPr>
            <a:r>
              <a:rPr sz="2025" b="1">
                <a:solidFill>
                  <a:srgbClr val="F4A261"/>
                </a:solidFill>
                <a:latin typeface="Arial"/>
                <a:ea typeface="Arial"/>
                <a:cs typeface="Arial"/>
              </a:rPr>
              <a:t>400 Beziehungen</a:t>
            </a:r>
          </a:p>
        </p:txBody>
      </p:sp>
      <p:sp>
        <p:nvSpPr>
          <p:cNvPr id="22" name="">
            <a:extLst xmlns:a="http://schemas.openxmlformats.org/drawingml/2006/main">
              <a:ext uri="{FF2B5EF4-FFF2-40B4-BE49-F238E27FC236}">
                <a16:creationId xmlns:a16="http://schemas.microsoft.com/office/drawing/2014/main" id="{4B4EB43F-0095-4854-AB24-62B82D9F146D}"/>
              </a:ext>
            </a:extLst>
          </p:cNvPr>
          <p:cNvSpPr>
            <a:spLocks xmlns:a="http://schemas.openxmlformats.org/drawingml/2006/main" noGrp="1"/>
          </p:cNvSpPr>
          <p:nvPr/>
        </p:nvSpPr>
        <p:spPr>
          <a:xfrm xmlns:a="http://schemas.openxmlformats.org/drawingml/2006/main">
            <a:off x="8248650" y="4667250"/>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536675"/>
                </a:solidFill>
                <a:latin typeface="Arial"/>
                <a:ea typeface="Arial"/>
                <a:cs typeface="Arial"/>
              </a:defRPr>
            </a:defPPr>
          </a:lstStyle>
          <a:p xmlns:a="http://schemas.openxmlformats.org/drawingml/2006/main">
            <a:pPr algn="ctr">
              <a:buNone/>
              <a:defRPr sz="1050" b="0">
                <a:solidFill>
                  <a:srgbClr val="536675"/>
                </a:solidFill>
                <a:latin typeface="Arial"/>
                <a:ea typeface="Arial"/>
                <a:cs typeface="Arial"/>
              </a:defRPr>
            </a:pPr>
            <a:r>
              <a:rPr sz="1050" b="0">
                <a:solidFill>
                  <a:srgbClr val="536675"/>
                </a:solidFill>
                <a:latin typeface="Arial"/>
                <a:ea typeface="Arial"/>
                <a:cs typeface="Arial"/>
              </a:rPr>
              <a:t>Cypher · Constraints · MERGE</a:t>
            </a:r>
          </a:p>
        </p:txBody>
      </p:sp>
    </p:spTree>
    <p:extLst>
      <p:ext uri="{BB962C8B-B14F-4D97-AF65-F5344CB8AC3E}">
        <p14:creationId xmlns:p14="http://schemas.microsoft.com/office/powerpoint/2010/main" val="47803510"/>
      </p:ext>
    </p:extLst>
  </p:cSld>
</p:sld>
</file>

<file path=ppt/slides/slide6.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63" name="">
            <a:extLst xmlns:a="http://schemas.openxmlformats.org/drawingml/2006/main">
              <a:ext uri="{FF2B5EF4-FFF2-40B4-BE49-F238E27FC236}">
                <a16:creationId xmlns:a16="http://schemas.microsoft.com/office/drawing/2014/main" id="{1CA877CA-BD8C-4A30-9A70-4543F61A6CB9}"/>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AIRFLOW &amp; ETL</a:t>
            </a:r>
          </a:p>
        </p:txBody>
      </p:sp>
      <p:sp>
        <p:nvSpPr>
          <p:cNvPr id="2" name="">
            <a:extLst xmlns:a="http://schemas.openxmlformats.org/drawingml/2006/main">
              <a:ext uri="{FF2B5EF4-FFF2-40B4-BE49-F238E27FC236}">
                <a16:creationId xmlns:a16="http://schemas.microsoft.com/office/drawing/2014/main" id="{DBF1D7C7-79DB-4CEA-A89A-65F769E4A7DE}"/>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13 Tasks, zwei Gates vor ML und Persistenz</a:t>
            </a:r>
          </a:p>
        </p:txBody>
      </p:sp>
      <p:sp>
        <p:nvSpPr>
          <p:cNvPr id="3" name="">
            <a:extLst xmlns:a="http://schemas.openxmlformats.org/drawingml/2006/main">
              <a:ext uri="{FF2B5EF4-FFF2-40B4-BE49-F238E27FC236}">
                <a16:creationId xmlns:a16="http://schemas.microsoft.com/office/drawing/2014/main" id="{42D577BB-9798-47F1-A48F-112CA60344ED}"/>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FF7E60-FDBA-4238-8A28-DF31E2D113D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006CDCC-8574-403F-B32B-A4A322C57F2F}"/>
              </a:ext>
            </a:extLst>
          </p:cNvPr>
          <p:cNvSpPr>
            <a:spLocks xmlns:a="http://schemas.openxmlformats.org/drawingml/2006/main" noGrp="1"/>
          </p:cNvSpPr>
          <p:nvPr/>
        </p:nvSpPr>
        <p:spPr>
          <a:xfrm xmlns:a="http://schemas.openxmlformats.org/drawingml/2006/main">
            <a:off x="5524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6DEDAEFB-B02D-41DF-B8F3-A19760DD0FA4}"/>
              </a:ext>
            </a:extLst>
          </p:cNvPr>
          <p:cNvSpPr>
            <a:spLocks xmlns:a="http://schemas.openxmlformats.org/drawingml/2006/main" noGrp="1"/>
          </p:cNvSpPr>
          <p:nvPr/>
        </p:nvSpPr>
        <p:spPr>
          <a:xfrm xmlns:a="http://schemas.openxmlformats.org/drawingml/2006/main">
            <a:off x="6381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BE159292-640F-4F68-B2C4-25323AF062BF}"/>
              </a:ext>
            </a:extLst>
          </p:cNvPr>
          <p:cNvSpPr>
            <a:spLocks xmlns:a="http://schemas.openxmlformats.org/drawingml/2006/main" noGrp="1"/>
          </p:cNvSpPr>
          <p:nvPr/>
        </p:nvSpPr>
        <p:spPr>
          <a:xfrm xmlns:a="http://schemas.openxmlformats.org/drawingml/2006/main">
            <a:off x="6286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Quellen</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prüfen</a:t>
            </a:r>
          </a:p>
        </p:txBody>
      </p:sp>
      <p:sp>
        <p:nvSpPr>
          <p:cNvPr id="8" name="">
            <a:extLst xmlns:a="http://schemas.openxmlformats.org/drawingml/2006/main">
              <a:ext uri="{FF2B5EF4-FFF2-40B4-BE49-F238E27FC236}">
                <a16:creationId xmlns:a16="http://schemas.microsoft.com/office/drawing/2014/main" id="{E3DBFF7B-1A5E-4207-AF3B-99DC6D7666BA}"/>
              </a:ext>
            </a:extLst>
          </p:cNvPr>
          <p:cNvSpPr>
            <a:spLocks xmlns:a="http://schemas.openxmlformats.org/drawingml/2006/main" noGrp="1"/>
          </p:cNvSpPr>
          <p:nvPr/>
        </p:nvSpPr>
        <p:spPr>
          <a:xfrm xmlns:a="http://schemas.openxmlformats.org/drawingml/2006/main">
            <a:off x="14859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3464BA7C-DA2B-4D7E-891C-BB64C303E4B8}"/>
              </a:ext>
            </a:extLst>
          </p:cNvPr>
          <p:cNvSpPr>
            <a:spLocks xmlns:a="http://schemas.openxmlformats.org/drawingml/2006/main" noGrp="1"/>
          </p:cNvSpPr>
          <p:nvPr/>
        </p:nvSpPr>
        <p:spPr>
          <a:xfrm xmlns:a="http://schemas.openxmlformats.org/drawingml/2006/main">
            <a:off x="16573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D4AC3A41-A29E-4DDE-BAA6-8B9AAAB0A0CB}"/>
              </a:ext>
            </a:extLst>
          </p:cNvPr>
          <p:cNvSpPr>
            <a:spLocks xmlns:a="http://schemas.openxmlformats.org/drawingml/2006/main" noGrp="1"/>
          </p:cNvSpPr>
          <p:nvPr/>
        </p:nvSpPr>
        <p:spPr>
          <a:xfrm xmlns:a="http://schemas.openxmlformats.org/drawingml/2006/main">
            <a:off x="17430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23E67C84-451B-4B23-BD7F-6148E16314EC}"/>
              </a:ext>
            </a:extLst>
          </p:cNvPr>
          <p:cNvSpPr>
            <a:spLocks xmlns:a="http://schemas.openxmlformats.org/drawingml/2006/main" noGrp="1"/>
          </p:cNvSpPr>
          <p:nvPr/>
        </p:nvSpPr>
        <p:spPr>
          <a:xfrm xmlns:a="http://schemas.openxmlformats.org/drawingml/2006/main">
            <a:off x="17335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Mongo</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laden</a:t>
            </a:r>
          </a:p>
        </p:txBody>
      </p:sp>
      <p:sp>
        <p:nvSpPr>
          <p:cNvPr id="12" name="">
            <a:extLst xmlns:a="http://schemas.openxmlformats.org/drawingml/2006/main">
              <a:ext uri="{FF2B5EF4-FFF2-40B4-BE49-F238E27FC236}">
                <a16:creationId xmlns:a16="http://schemas.microsoft.com/office/drawing/2014/main" id="{2666DEC8-F832-4E8B-8A43-EFAADD7A9DF6}"/>
              </a:ext>
            </a:extLst>
          </p:cNvPr>
          <p:cNvSpPr>
            <a:spLocks xmlns:a="http://schemas.openxmlformats.org/drawingml/2006/main" noGrp="1"/>
          </p:cNvSpPr>
          <p:nvPr/>
        </p:nvSpPr>
        <p:spPr>
          <a:xfrm xmlns:a="http://schemas.openxmlformats.org/drawingml/2006/main">
            <a:off x="25908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AFAE1899-B8AC-4E69-8A26-6580D3075AE6}"/>
              </a:ext>
            </a:extLst>
          </p:cNvPr>
          <p:cNvSpPr>
            <a:spLocks xmlns:a="http://schemas.openxmlformats.org/drawingml/2006/main" noGrp="1"/>
          </p:cNvSpPr>
          <p:nvPr/>
        </p:nvSpPr>
        <p:spPr>
          <a:xfrm xmlns:a="http://schemas.openxmlformats.org/drawingml/2006/main">
            <a:off x="27622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90D6790B-15FF-4E72-9222-BE4D01D890BC}"/>
              </a:ext>
            </a:extLst>
          </p:cNvPr>
          <p:cNvSpPr>
            <a:spLocks xmlns:a="http://schemas.openxmlformats.org/drawingml/2006/main" noGrp="1"/>
          </p:cNvSpPr>
          <p:nvPr/>
        </p:nvSpPr>
        <p:spPr>
          <a:xfrm xmlns:a="http://schemas.openxmlformats.org/drawingml/2006/main">
            <a:off x="28479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67AA948B-73BE-435F-850A-BB67A26EEBE6}"/>
              </a:ext>
            </a:extLst>
          </p:cNvPr>
          <p:cNvSpPr>
            <a:spLocks xmlns:a="http://schemas.openxmlformats.org/drawingml/2006/main" noGrp="1"/>
          </p:cNvSpPr>
          <p:nvPr/>
        </p:nvSpPr>
        <p:spPr>
          <a:xfrm xmlns:a="http://schemas.openxmlformats.org/drawingml/2006/main">
            <a:off x="28384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Snapshot</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exportieren</a:t>
            </a:r>
          </a:p>
        </p:txBody>
      </p:sp>
      <p:sp>
        <p:nvSpPr>
          <p:cNvPr id="16" name="">
            <a:extLst xmlns:a="http://schemas.openxmlformats.org/drawingml/2006/main">
              <a:ext uri="{FF2B5EF4-FFF2-40B4-BE49-F238E27FC236}">
                <a16:creationId xmlns:a16="http://schemas.microsoft.com/office/drawing/2014/main" id="{9EC442E1-ADCD-430D-84F5-A9F858BA617B}"/>
              </a:ext>
            </a:extLst>
          </p:cNvPr>
          <p:cNvSpPr>
            <a:spLocks xmlns:a="http://schemas.openxmlformats.org/drawingml/2006/main" noGrp="1"/>
          </p:cNvSpPr>
          <p:nvPr/>
        </p:nvSpPr>
        <p:spPr>
          <a:xfrm xmlns:a="http://schemas.openxmlformats.org/drawingml/2006/main">
            <a:off x="36957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D63446DA-5EA4-480F-BCE2-D9C7831E4AB1}"/>
              </a:ext>
            </a:extLst>
          </p:cNvPr>
          <p:cNvSpPr>
            <a:spLocks xmlns:a="http://schemas.openxmlformats.org/drawingml/2006/main" noGrp="1"/>
          </p:cNvSpPr>
          <p:nvPr/>
        </p:nvSpPr>
        <p:spPr>
          <a:xfrm xmlns:a="http://schemas.openxmlformats.org/drawingml/2006/main">
            <a:off x="38671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6E64D226-EE3C-4EB8-9B76-109CA52CE840}"/>
              </a:ext>
            </a:extLst>
          </p:cNvPr>
          <p:cNvSpPr>
            <a:spLocks xmlns:a="http://schemas.openxmlformats.org/drawingml/2006/main" noGrp="1"/>
          </p:cNvSpPr>
          <p:nvPr/>
        </p:nvSpPr>
        <p:spPr>
          <a:xfrm xmlns:a="http://schemas.openxmlformats.org/drawingml/2006/main">
            <a:off x="39528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D656F601-9906-404D-B985-9D05A5D731A7}"/>
              </a:ext>
            </a:extLst>
          </p:cNvPr>
          <p:cNvSpPr>
            <a:spLocks xmlns:a="http://schemas.openxmlformats.org/drawingml/2006/main" noGrp="1"/>
          </p:cNvSpPr>
          <p:nvPr/>
        </p:nvSpPr>
        <p:spPr>
          <a:xfrm xmlns:a="http://schemas.openxmlformats.org/drawingml/2006/main">
            <a:off x="39433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Source</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Gate</a:t>
            </a:r>
          </a:p>
        </p:txBody>
      </p:sp>
      <p:sp>
        <p:nvSpPr>
          <p:cNvPr id="20" name="">
            <a:extLst xmlns:a="http://schemas.openxmlformats.org/drawingml/2006/main">
              <a:ext uri="{FF2B5EF4-FFF2-40B4-BE49-F238E27FC236}">
                <a16:creationId xmlns:a16="http://schemas.microsoft.com/office/drawing/2014/main" id="{0299E7D0-F883-48A4-A3A7-695924ED2AE6}"/>
              </a:ext>
            </a:extLst>
          </p:cNvPr>
          <p:cNvSpPr>
            <a:spLocks xmlns:a="http://schemas.openxmlformats.org/drawingml/2006/main" noGrp="1"/>
          </p:cNvSpPr>
          <p:nvPr/>
        </p:nvSpPr>
        <p:spPr>
          <a:xfrm xmlns:a="http://schemas.openxmlformats.org/drawingml/2006/main">
            <a:off x="48006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374DC06E-85C4-467E-A382-3FBB89FAE5E0}"/>
              </a:ext>
            </a:extLst>
          </p:cNvPr>
          <p:cNvSpPr>
            <a:spLocks xmlns:a="http://schemas.openxmlformats.org/drawingml/2006/main" noGrp="1"/>
          </p:cNvSpPr>
          <p:nvPr/>
        </p:nvSpPr>
        <p:spPr>
          <a:xfrm xmlns:a="http://schemas.openxmlformats.org/drawingml/2006/main">
            <a:off x="49720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7FD4E0E0-135F-4A4D-A7F8-6B8E2B02A849}"/>
              </a:ext>
            </a:extLst>
          </p:cNvPr>
          <p:cNvSpPr>
            <a:spLocks xmlns:a="http://schemas.openxmlformats.org/drawingml/2006/main" noGrp="1"/>
          </p:cNvSpPr>
          <p:nvPr/>
        </p:nvSpPr>
        <p:spPr>
          <a:xfrm xmlns:a="http://schemas.openxmlformats.org/drawingml/2006/main">
            <a:off x="50577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99A5E505-7054-4C8F-A4DB-E3F97290893B}"/>
              </a:ext>
            </a:extLst>
          </p:cNvPr>
          <p:cNvSpPr>
            <a:spLocks xmlns:a="http://schemas.openxmlformats.org/drawingml/2006/main" noGrp="1"/>
          </p:cNvSpPr>
          <p:nvPr/>
        </p:nvSpPr>
        <p:spPr>
          <a:xfrm xmlns:a="http://schemas.openxmlformats.org/drawingml/2006/main">
            <a:off x="50482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Spark</a:t>
            </a:r>
          </a:p>
        </p:txBody>
      </p:sp>
      <p:sp>
        <p:nvSpPr>
          <p:cNvPr id="24" name="">
            <a:extLst xmlns:a="http://schemas.openxmlformats.org/drawingml/2006/main">
              <a:ext uri="{FF2B5EF4-FFF2-40B4-BE49-F238E27FC236}">
                <a16:creationId xmlns:a16="http://schemas.microsoft.com/office/drawing/2014/main" id="{F2DF6EB2-B897-4BF0-8A68-A33D75721391}"/>
              </a:ext>
            </a:extLst>
          </p:cNvPr>
          <p:cNvSpPr>
            <a:spLocks xmlns:a="http://schemas.openxmlformats.org/drawingml/2006/main" noGrp="1"/>
          </p:cNvSpPr>
          <p:nvPr/>
        </p:nvSpPr>
        <p:spPr>
          <a:xfrm xmlns:a="http://schemas.openxmlformats.org/drawingml/2006/main">
            <a:off x="59055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32522C30-994F-40F0-AE24-75344E086386}"/>
              </a:ext>
            </a:extLst>
          </p:cNvPr>
          <p:cNvSpPr>
            <a:spLocks xmlns:a="http://schemas.openxmlformats.org/drawingml/2006/main" noGrp="1"/>
          </p:cNvSpPr>
          <p:nvPr/>
        </p:nvSpPr>
        <p:spPr>
          <a:xfrm xmlns:a="http://schemas.openxmlformats.org/drawingml/2006/main">
            <a:off x="60769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26" name="">
            <a:extLst xmlns:a="http://schemas.openxmlformats.org/drawingml/2006/main">
              <a:ext uri="{FF2B5EF4-FFF2-40B4-BE49-F238E27FC236}">
                <a16:creationId xmlns:a16="http://schemas.microsoft.com/office/drawing/2014/main" id="{386DCD03-4839-4223-B10B-42C7658644BE}"/>
              </a:ext>
            </a:extLst>
          </p:cNvPr>
          <p:cNvSpPr>
            <a:spLocks xmlns:a="http://schemas.openxmlformats.org/drawingml/2006/main" noGrp="1"/>
          </p:cNvSpPr>
          <p:nvPr/>
        </p:nvSpPr>
        <p:spPr>
          <a:xfrm xmlns:a="http://schemas.openxmlformats.org/drawingml/2006/main">
            <a:off x="61626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E6056760-7676-4379-B468-61B5C1B8074D}"/>
              </a:ext>
            </a:extLst>
          </p:cNvPr>
          <p:cNvSpPr>
            <a:spLocks xmlns:a="http://schemas.openxmlformats.org/drawingml/2006/main" noGrp="1"/>
          </p:cNvSpPr>
          <p:nvPr/>
        </p:nvSpPr>
        <p:spPr>
          <a:xfrm xmlns:a="http://schemas.openxmlformats.org/drawingml/2006/main">
            <a:off x="61531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Feature</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Gate</a:t>
            </a:r>
          </a:p>
        </p:txBody>
      </p:sp>
      <p:sp>
        <p:nvSpPr>
          <p:cNvPr id="28" name="">
            <a:extLst xmlns:a="http://schemas.openxmlformats.org/drawingml/2006/main">
              <a:ext uri="{FF2B5EF4-FFF2-40B4-BE49-F238E27FC236}">
                <a16:creationId xmlns:a16="http://schemas.microsoft.com/office/drawing/2014/main" id="{BB4485B1-3F17-45AE-87A8-31B8D447005C}"/>
              </a:ext>
            </a:extLst>
          </p:cNvPr>
          <p:cNvSpPr>
            <a:spLocks xmlns:a="http://schemas.openxmlformats.org/drawingml/2006/main" noGrp="1"/>
          </p:cNvSpPr>
          <p:nvPr/>
        </p:nvSpPr>
        <p:spPr>
          <a:xfrm xmlns:a="http://schemas.openxmlformats.org/drawingml/2006/main">
            <a:off x="70104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9" name="">
            <a:extLst xmlns:a="http://schemas.openxmlformats.org/drawingml/2006/main">
              <a:ext uri="{FF2B5EF4-FFF2-40B4-BE49-F238E27FC236}">
                <a16:creationId xmlns:a16="http://schemas.microsoft.com/office/drawing/2014/main" id="{F54A3565-9420-4470-B47C-62310DAB587E}"/>
              </a:ext>
            </a:extLst>
          </p:cNvPr>
          <p:cNvSpPr>
            <a:spLocks xmlns:a="http://schemas.openxmlformats.org/drawingml/2006/main" noGrp="1"/>
          </p:cNvSpPr>
          <p:nvPr/>
        </p:nvSpPr>
        <p:spPr>
          <a:xfrm xmlns:a="http://schemas.openxmlformats.org/drawingml/2006/main">
            <a:off x="71818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0" name="">
            <a:extLst xmlns:a="http://schemas.openxmlformats.org/drawingml/2006/main">
              <a:ext uri="{FF2B5EF4-FFF2-40B4-BE49-F238E27FC236}">
                <a16:creationId xmlns:a16="http://schemas.microsoft.com/office/drawing/2014/main" id="{50BB46D2-D37B-4C21-B8F1-C4A5D5635291}"/>
              </a:ext>
            </a:extLst>
          </p:cNvPr>
          <p:cNvSpPr>
            <a:spLocks xmlns:a="http://schemas.openxmlformats.org/drawingml/2006/main" noGrp="1"/>
          </p:cNvSpPr>
          <p:nvPr/>
        </p:nvSpPr>
        <p:spPr>
          <a:xfrm xmlns:a="http://schemas.openxmlformats.org/drawingml/2006/main">
            <a:off x="72675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07</a:t>
            </a:r>
          </a:p>
        </p:txBody>
      </p:sp>
      <p:sp>
        <p:nvSpPr>
          <p:cNvPr id="31" name="">
            <a:extLst xmlns:a="http://schemas.openxmlformats.org/drawingml/2006/main">
              <a:ext uri="{FF2B5EF4-FFF2-40B4-BE49-F238E27FC236}">
                <a16:creationId xmlns:a16="http://schemas.microsoft.com/office/drawing/2014/main" id="{64E98BFB-7030-4F15-8249-82A1E413DDB6}"/>
              </a:ext>
            </a:extLst>
          </p:cNvPr>
          <p:cNvSpPr>
            <a:spLocks xmlns:a="http://schemas.openxmlformats.org/drawingml/2006/main" noGrp="1"/>
          </p:cNvSpPr>
          <p:nvPr/>
        </p:nvSpPr>
        <p:spPr>
          <a:xfrm xmlns:a="http://schemas.openxmlformats.org/drawingml/2006/main">
            <a:off x="72580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Metrik</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 ML</a:t>
            </a:r>
          </a:p>
        </p:txBody>
      </p:sp>
      <p:sp>
        <p:nvSpPr>
          <p:cNvPr id="32" name="">
            <a:extLst xmlns:a="http://schemas.openxmlformats.org/drawingml/2006/main">
              <a:ext uri="{FF2B5EF4-FFF2-40B4-BE49-F238E27FC236}">
                <a16:creationId xmlns:a16="http://schemas.microsoft.com/office/drawing/2014/main" id="{AFCCD5EF-CB1F-4E4F-B12D-A99525094E96}"/>
              </a:ext>
            </a:extLst>
          </p:cNvPr>
          <p:cNvSpPr>
            <a:spLocks xmlns:a="http://schemas.openxmlformats.org/drawingml/2006/main" noGrp="1"/>
          </p:cNvSpPr>
          <p:nvPr/>
        </p:nvSpPr>
        <p:spPr>
          <a:xfrm xmlns:a="http://schemas.openxmlformats.org/drawingml/2006/main">
            <a:off x="81153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3" name="">
            <a:extLst xmlns:a="http://schemas.openxmlformats.org/drawingml/2006/main">
              <a:ext uri="{FF2B5EF4-FFF2-40B4-BE49-F238E27FC236}">
                <a16:creationId xmlns:a16="http://schemas.microsoft.com/office/drawing/2014/main" id="{6E63419A-6ABB-46BF-BE76-1C65E08657B8}"/>
              </a:ext>
            </a:extLst>
          </p:cNvPr>
          <p:cNvSpPr>
            <a:spLocks xmlns:a="http://schemas.openxmlformats.org/drawingml/2006/main" noGrp="1"/>
          </p:cNvSpPr>
          <p:nvPr/>
        </p:nvSpPr>
        <p:spPr>
          <a:xfrm xmlns:a="http://schemas.openxmlformats.org/drawingml/2006/main">
            <a:off x="82867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34" name="">
            <a:extLst xmlns:a="http://schemas.openxmlformats.org/drawingml/2006/main">
              <a:ext uri="{FF2B5EF4-FFF2-40B4-BE49-F238E27FC236}">
                <a16:creationId xmlns:a16="http://schemas.microsoft.com/office/drawing/2014/main" id="{E0557662-6FD6-4CBE-ADD4-6F5C8E18418A}"/>
              </a:ext>
            </a:extLst>
          </p:cNvPr>
          <p:cNvSpPr>
            <a:spLocks xmlns:a="http://schemas.openxmlformats.org/drawingml/2006/main" noGrp="1"/>
          </p:cNvSpPr>
          <p:nvPr/>
        </p:nvSpPr>
        <p:spPr>
          <a:xfrm xmlns:a="http://schemas.openxmlformats.org/drawingml/2006/main">
            <a:off x="83724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08</a:t>
            </a:r>
          </a:p>
        </p:txBody>
      </p:sp>
      <p:sp>
        <p:nvSpPr>
          <p:cNvPr id="35" name="">
            <a:extLst xmlns:a="http://schemas.openxmlformats.org/drawingml/2006/main">
              <a:ext uri="{FF2B5EF4-FFF2-40B4-BE49-F238E27FC236}">
                <a16:creationId xmlns:a16="http://schemas.microsoft.com/office/drawing/2014/main" id="{85D03030-6A60-463B-9093-3D6EFE375352}"/>
              </a:ext>
            </a:extLst>
          </p:cNvPr>
          <p:cNvSpPr>
            <a:spLocks xmlns:a="http://schemas.openxmlformats.org/drawingml/2006/main" noGrp="1"/>
          </p:cNvSpPr>
          <p:nvPr/>
        </p:nvSpPr>
        <p:spPr>
          <a:xfrm xmlns:a="http://schemas.openxmlformats.org/drawingml/2006/main">
            <a:off x="83629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Postgres</a:t>
            </a:r>
          </a:p>
        </p:txBody>
      </p:sp>
      <p:sp>
        <p:nvSpPr>
          <p:cNvPr id="36" name="">
            <a:extLst xmlns:a="http://schemas.openxmlformats.org/drawingml/2006/main">
              <a:ext uri="{FF2B5EF4-FFF2-40B4-BE49-F238E27FC236}">
                <a16:creationId xmlns:a16="http://schemas.microsoft.com/office/drawing/2014/main" id="{D405B4C7-CBAE-4ED5-9814-9074C5231C4F}"/>
              </a:ext>
            </a:extLst>
          </p:cNvPr>
          <p:cNvSpPr>
            <a:spLocks xmlns:a="http://schemas.openxmlformats.org/drawingml/2006/main" noGrp="1"/>
          </p:cNvSpPr>
          <p:nvPr/>
        </p:nvSpPr>
        <p:spPr>
          <a:xfrm xmlns:a="http://schemas.openxmlformats.org/drawingml/2006/main">
            <a:off x="92202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7" name="">
            <a:extLst xmlns:a="http://schemas.openxmlformats.org/drawingml/2006/main">
              <a:ext uri="{FF2B5EF4-FFF2-40B4-BE49-F238E27FC236}">
                <a16:creationId xmlns:a16="http://schemas.microsoft.com/office/drawing/2014/main" id="{BF4945E9-29B6-4983-99DC-5E23DA9AA4C7}"/>
              </a:ext>
            </a:extLst>
          </p:cNvPr>
          <p:cNvSpPr>
            <a:spLocks xmlns:a="http://schemas.openxmlformats.org/drawingml/2006/main" noGrp="1"/>
          </p:cNvSpPr>
          <p:nvPr/>
        </p:nvSpPr>
        <p:spPr>
          <a:xfrm xmlns:a="http://schemas.openxmlformats.org/drawingml/2006/main">
            <a:off x="9391650" y="1714500"/>
            <a:ext cx="933450" cy="781050"/>
          </a:xfrm>
          <a:prstGeom xmlns:a="http://schemas.openxmlformats.org/drawingml/2006/main" prst="roundRect">
            <a:avLst>
              <a:gd name="adj" fmla="val 14634"/>
            </a:avLst>
          </a:prstGeom>
          <a:solidFill xmlns:a="http://schemas.openxmlformats.org/drawingml/2006/main">
            <a:srgbClr val="FFF2E7"/>
          </a:solidFill>
          <a:ln xmlns:a="http://schemas.openxmlformats.org/drawingml/2006/main" w="9525">
            <a:solidFill>
              <a:srgbClr val="F4A261"/>
            </a:solidFill>
            <a:prstDash val="solid"/>
          </a:ln>
        </p:spPr>
      </p:sp>
      <p:sp>
        <p:nvSpPr>
          <p:cNvPr id="38" name="">
            <a:extLst xmlns:a="http://schemas.openxmlformats.org/drawingml/2006/main">
              <a:ext uri="{FF2B5EF4-FFF2-40B4-BE49-F238E27FC236}">
                <a16:creationId xmlns:a16="http://schemas.microsoft.com/office/drawing/2014/main" id="{6E3CC9F1-6800-405D-B055-8D50E4B3A662}"/>
              </a:ext>
            </a:extLst>
          </p:cNvPr>
          <p:cNvSpPr>
            <a:spLocks xmlns:a="http://schemas.openxmlformats.org/drawingml/2006/main" noGrp="1"/>
          </p:cNvSpPr>
          <p:nvPr/>
        </p:nvSpPr>
        <p:spPr>
          <a:xfrm xmlns:a="http://schemas.openxmlformats.org/drawingml/2006/main">
            <a:off x="94773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C8553D"/>
                </a:solidFill>
                <a:latin typeface="Arial"/>
                <a:ea typeface="Arial"/>
                <a:cs typeface="Arial"/>
              </a:defRPr>
            </a:defPPr>
          </a:lstStyle>
          <a:p xmlns:a="http://schemas.openxmlformats.org/drawingml/2006/main">
            <a:pPr algn="l">
              <a:buNone/>
              <a:defRPr sz="750" b="1">
                <a:solidFill>
                  <a:srgbClr val="C8553D"/>
                </a:solidFill>
                <a:latin typeface="Arial"/>
                <a:ea typeface="Arial"/>
                <a:cs typeface="Arial"/>
              </a:defRPr>
            </a:pPr>
            <a:r>
              <a:rPr sz="750" b="1">
                <a:solidFill>
                  <a:srgbClr val="C8553D"/>
                </a:solidFill>
                <a:latin typeface="Arial"/>
                <a:ea typeface="Arial"/>
                <a:cs typeface="Arial"/>
              </a:rPr>
              <a:t>09</a:t>
            </a:r>
          </a:p>
        </p:txBody>
      </p:sp>
      <p:sp>
        <p:nvSpPr>
          <p:cNvPr id="39" name="">
            <a:extLst xmlns:a="http://schemas.openxmlformats.org/drawingml/2006/main">
              <a:ext uri="{FF2B5EF4-FFF2-40B4-BE49-F238E27FC236}">
                <a16:creationId xmlns:a16="http://schemas.microsoft.com/office/drawing/2014/main" id="{F7DB12A3-914F-4347-B250-1BCFC214D79D}"/>
              </a:ext>
            </a:extLst>
          </p:cNvPr>
          <p:cNvSpPr>
            <a:spLocks xmlns:a="http://schemas.openxmlformats.org/drawingml/2006/main" noGrp="1"/>
          </p:cNvSpPr>
          <p:nvPr/>
        </p:nvSpPr>
        <p:spPr>
          <a:xfrm xmlns:a="http://schemas.openxmlformats.org/drawingml/2006/main">
            <a:off x="94678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Neo4j</a:t>
            </a:r>
          </a:p>
        </p:txBody>
      </p:sp>
      <p:sp>
        <p:nvSpPr>
          <p:cNvPr id="40" name="">
            <a:extLst xmlns:a="http://schemas.openxmlformats.org/drawingml/2006/main">
              <a:ext uri="{FF2B5EF4-FFF2-40B4-BE49-F238E27FC236}">
                <a16:creationId xmlns:a16="http://schemas.microsoft.com/office/drawing/2014/main" id="{662BA553-A1BB-41A4-AC92-FC402A38AF9B}"/>
              </a:ext>
            </a:extLst>
          </p:cNvPr>
          <p:cNvSpPr>
            <a:spLocks xmlns:a="http://schemas.openxmlformats.org/drawingml/2006/main" noGrp="1"/>
          </p:cNvSpPr>
          <p:nvPr/>
        </p:nvSpPr>
        <p:spPr>
          <a:xfrm xmlns:a="http://schemas.openxmlformats.org/drawingml/2006/main">
            <a:off x="10325100" y="2000250"/>
            <a:ext cx="1714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41" name="">
            <a:extLst xmlns:a="http://schemas.openxmlformats.org/drawingml/2006/main">
              <a:ext uri="{FF2B5EF4-FFF2-40B4-BE49-F238E27FC236}">
                <a16:creationId xmlns:a16="http://schemas.microsoft.com/office/drawing/2014/main" id="{630ED3CC-FBB5-42B9-A789-FCDAA910F5C7}"/>
              </a:ext>
            </a:extLst>
          </p:cNvPr>
          <p:cNvSpPr>
            <a:spLocks xmlns:a="http://schemas.openxmlformats.org/drawingml/2006/main" noGrp="1"/>
          </p:cNvSpPr>
          <p:nvPr/>
        </p:nvSpPr>
        <p:spPr>
          <a:xfrm xmlns:a="http://schemas.openxmlformats.org/drawingml/2006/main">
            <a:off x="10496550" y="1714500"/>
            <a:ext cx="93345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DCE5E9"/>
            </a:solidFill>
            <a:prstDash val="solid"/>
          </a:ln>
        </p:spPr>
      </p:sp>
      <p:sp>
        <p:nvSpPr>
          <p:cNvPr id="42" name="">
            <a:extLst xmlns:a="http://schemas.openxmlformats.org/drawingml/2006/main">
              <a:ext uri="{FF2B5EF4-FFF2-40B4-BE49-F238E27FC236}">
                <a16:creationId xmlns:a16="http://schemas.microsoft.com/office/drawing/2014/main" id="{E30448A7-610F-4116-85B8-8FDA060C948F}"/>
              </a:ext>
            </a:extLst>
          </p:cNvPr>
          <p:cNvSpPr>
            <a:spLocks xmlns:a="http://schemas.openxmlformats.org/drawingml/2006/main" noGrp="1"/>
          </p:cNvSpPr>
          <p:nvPr/>
        </p:nvSpPr>
        <p:spPr>
          <a:xfrm xmlns:a="http://schemas.openxmlformats.org/drawingml/2006/main">
            <a:off x="10582275" y="1828800"/>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667"/>
          </a:bodyPr>
          <a:lstStyle xmlns:a="http://schemas.openxmlformats.org/drawingml/2006/main">
            <a:defPPr algn="l">
              <a:defRPr sz="750" b="1">
                <a:solidFill>
                  <a:srgbClr val="1B7F8C"/>
                </a:solidFill>
                <a:latin typeface="Arial"/>
                <a:ea typeface="Arial"/>
                <a:cs typeface="Arial"/>
              </a:defRPr>
            </a:defPPr>
          </a:lstStyle>
          <a:p xmlns:a="http://schemas.openxmlformats.org/drawingml/2006/main">
            <a:pPr algn="l">
              <a:buNone/>
              <a:defRPr sz="750" b="1">
                <a:solidFill>
                  <a:srgbClr val="1B7F8C"/>
                </a:solidFill>
                <a:latin typeface="Arial"/>
                <a:ea typeface="Arial"/>
                <a:cs typeface="Arial"/>
              </a:defRPr>
            </a:pPr>
            <a:r>
              <a:rPr sz="750" b="1">
                <a:solidFill>
                  <a:srgbClr val="1B7F8C"/>
                </a:solidFill>
                <a:latin typeface="Arial"/>
                <a:ea typeface="Arial"/>
                <a:cs typeface="Arial"/>
              </a:rPr>
              <a:t>10</a:t>
            </a:r>
          </a:p>
        </p:txBody>
      </p:sp>
      <p:sp>
        <p:nvSpPr>
          <p:cNvPr id="43" name="">
            <a:extLst xmlns:a="http://schemas.openxmlformats.org/drawingml/2006/main">
              <a:ext uri="{FF2B5EF4-FFF2-40B4-BE49-F238E27FC236}">
                <a16:creationId xmlns:a16="http://schemas.microsoft.com/office/drawing/2014/main" id="{4E0FE3A1-8145-4C9F-BFFD-94CE6C028D18}"/>
              </a:ext>
            </a:extLst>
          </p:cNvPr>
          <p:cNvSpPr>
            <a:spLocks xmlns:a="http://schemas.openxmlformats.org/drawingml/2006/main" noGrp="1"/>
          </p:cNvSpPr>
          <p:nvPr/>
        </p:nvSpPr>
        <p:spPr>
          <a:xfrm xmlns:a="http://schemas.openxmlformats.org/drawingml/2006/main">
            <a:off x="10572750" y="2057400"/>
            <a:ext cx="781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615"/>
          </a:bodyPr>
          <a:lstStyle xmlns:a="http://schemas.openxmlformats.org/drawingml/2006/main">
            <a:defPPr algn="ctr">
              <a:defRPr sz="975" b="1">
                <a:solidFill>
                  <a:srgbClr val="102230"/>
                </a:solidFill>
                <a:latin typeface="Arial"/>
                <a:ea typeface="Arial"/>
                <a:cs typeface="Arial"/>
              </a:defRPr>
            </a:defPPr>
          </a:lstStyle>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Final Check</a:t>
            </a:r>
          </a:p>
          <a:p xmlns:a="http://schemas.openxmlformats.org/drawingml/2006/main">
            <a:pPr algn="ctr">
              <a:buNone/>
              <a:defRPr sz="975" b="1">
                <a:solidFill>
                  <a:srgbClr val="102230"/>
                </a:solidFill>
                <a:latin typeface="Arial"/>
                <a:ea typeface="Arial"/>
                <a:cs typeface="Arial"/>
              </a:defRPr>
            </a:pPr>
            <a:r>
              <a:rPr sz="975" b="1">
                <a:solidFill>
                  <a:srgbClr val="102230"/>
                </a:solidFill>
                <a:latin typeface="Arial"/>
                <a:ea typeface="Arial"/>
                <a:cs typeface="Arial"/>
              </a:rPr>
              <a:t>+ Summary</a:t>
            </a:r>
          </a:p>
        </p:txBody>
      </p:sp>
      <p:sp>
        <p:nvSpPr>
          <p:cNvPr id="44" name="">
            <a:extLst xmlns:a="http://schemas.openxmlformats.org/drawingml/2006/main">
              <a:ext uri="{FF2B5EF4-FFF2-40B4-BE49-F238E27FC236}">
                <a16:creationId xmlns:a16="http://schemas.microsoft.com/office/drawing/2014/main" id="{EC6A36CB-7415-48B1-BB7C-AEED33D433D2}"/>
              </a:ext>
            </a:extLst>
          </p:cNvPr>
          <p:cNvSpPr>
            <a:spLocks xmlns:a="http://schemas.openxmlformats.org/drawingml/2006/main" noGrp="1"/>
          </p:cNvSpPr>
          <p:nvPr/>
        </p:nvSpPr>
        <p:spPr>
          <a:xfrm xmlns:a="http://schemas.openxmlformats.org/drawingml/2006/main">
            <a:off x="6858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5" name="">
            <a:extLst xmlns:a="http://schemas.openxmlformats.org/drawingml/2006/main">
              <a:ext uri="{FF2B5EF4-FFF2-40B4-BE49-F238E27FC236}">
                <a16:creationId xmlns:a16="http://schemas.microsoft.com/office/drawing/2014/main" id="{84690334-1C0F-4319-B699-863661E729C4}"/>
              </a:ext>
            </a:extLst>
          </p:cNvPr>
          <p:cNvSpPr>
            <a:spLocks xmlns:a="http://schemas.openxmlformats.org/drawingml/2006/main" noGrp="1"/>
          </p:cNvSpPr>
          <p:nvPr/>
        </p:nvSpPr>
        <p:spPr>
          <a:xfrm xmlns:a="http://schemas.openxmlformats.org/drawingml/2006/main">
            <a:off x="685800" y="30670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F678FBCF-E714-404D-B35D-03A7BB2FD0C7}"/>
              </a:ext>
            </a:extLst>
          </p:cNvPr>
          <p:cNvSpPr>
            <a:spLocks xmlns:a="http://schemas.openxmlformats.org/drawingml/2006/main" noGrp="1"/>
          </p:cNvSpPr>
          <p:nvPr/>
        </p:nvSpPr>
        <p:spPr>
          <a:xfrm xmlns:a="http://schemas.openxmlformats.org/drawingml/2006/main">
            <a:off x="9334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994.905</a:t>
            </a:r>
          </a:p>
        </p:txBody>
      </p:sp>
      <p:sp>
        <p:nvSpPr>
          <p:cNvPr id="47" name="">
            <a:extLst xmlns:a="http://schemas.openxmlformats.org/drawingml/2006/main">
              <a:ext uri="{FF2B5EF4-FFF2-40B4-BE49-F238E27FC236}">
                <a16:creationId xmlns:a16="http://schemas.microsoft.com/office/drawing/2014/main" id="{7BDB98EB-4437-4D2F-B8D8-2F29EDC1663D}"/>
              </a:ext>
            </a:extLst>
          </p:cNvPr>
          <p:cNvSpPr>
            <a:spLocks xmlns:a="http://schemas.openxmlformats.org/drawingml/2006/main" noGrp="1"/>
          </p:cNvSpPr>
          <p:nvPr/>
        </p:nvSpPr>
        <p:spPr>
          <a:xfrm xmlns:a="http://schemas.openxmlformats.org/drawingml/2006/main">
            <a:off x="9334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valide Messungen</a:t>
            </a:r>
          </a:p>
        </p:txBody>
      </p:sp>
      <p:sp>
        <p:nvSpPr>
          <p:cNvPr id="48" name="">
            <a:extLst xmlns:a="http://schemas.openxmlformats.org/drawingml/2006/main">
              <a:ext uri="{FF2B5EF4-FFF2-40B4-BE49-F238E27FC236}">
                <a16:creationId xmlns:a16="http://schemas.microsoft.com/office/drawing/2014/main" id="{668D393D-7282-408F-AFBC-83F59CEE9927}"/>
              </a:ext>
            </a:extLst>
          </p:cNvPr>
          <p:cNvSpPr>
            <a:spLocks xmlns:a="http://schemas.openxmlformats.org/drawingml/2006/main" noGrp="1"/>
          </p:cNvSpPr>
          <p:nvPr/>
        </p:nvSpPr>
        <p:spPr>
          <a:xfrm xmlns:a="http://schemas.openxmlformats.org/drawingml/2006/main">
            <a:off x="33337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49" name="">
            <a:extLst xmlns:a="http://schemas.openxmlformats.org/drawingml/2006/main">
              <a:ext uri="{FF2B5EF4-FFF2-40B4-BE49-F238E27FC236}">
                <a16:creationId xmlns:a16="http://schemas.microsoft.com/office/drawing/2014/main" id="{6B79278E-20FB-4D05-8710-9A4840E6751B}"/>
              </a:ext>
            </a:extLst>
          </p:cNvPr>
          <p:cNvSpPr>
            <a:spLocks xmlns:a="http://schemas.openxmlformats.org/drawingml/2006/main" noGrp="1"/>
          </p:cNvSpPr>
          <p:nvPr/>
        </p:nvSpPr>
        <p:spPr>
          <a:xfrm xmlns:a="http://schemas.openxmlformats.org/drawingml/2006/main">
            <a:off x="3333750" y="3067050"/>
            <a:ext cx="66675" cy="1200150"/>
          </a:xfrm>
          <a:prstGeom xmlns:a="http://schemas.openxmlformats.org/drawingml/2006/main" prst="roundRect">
            <a:avLst>
              <a:gd name="adj" fmla="val 50000"/>
            </a:avLst>
          </a:prstGeom>
          <a:solidFill xmlns:a="http://schemas.openxmlformats.org/drawingml/2006/main">
            <a:srgbClr val="C8553D"/>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948498FD-661C-4A00-9D63-6C7B8D17BE97}"/>
              </a:ext>
            </a:extLst>
          </p:cNvPr>
          <p:cNvSpPr>
            <a:spLocks xmlns:a="http://schemas.openxmlformats.org/drawingml/2006/main" noGrp="1"/>
          </p:cNvSpPr>
          <p:nvPr/>
        </p:nvSpPr>
        <p:spPr>
          <a:xfrm xmlns:a="http://schemas.openxmlformats.org/drawingml/2006/main">
            <a:off x="35814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5.095</a:t>
            </a:r>
          </a:p>
        </p:txBody>
      </p:sp>
      <p:sp>
        <p:nvSpPr>
          <p:cNvPr id="51" name="">
            <a:extLst xmlns:a="http://schemas.openxmlformats.org/drawingml/2006/main">
              <a:ext uri="{FF2B5EF4-FFF2-40B4-BE49-F238E27FC236}">
                <a16:creationId xmlns:a16="http://schemas.microsoft.com/office/drawing/2014/main" id="{401749EA-E569-4E9D-AED4-A477CFD5C84D}"/>
              </a:ext>
            </a:extLst>
          </p:cNvPr>
          <p:cNvSpPr>
            <a:spLocks xmlns:a="http://schemas.openxmlformats.org/drawingml/2006/main" noGrp="1"/>
          </p:cNvSpPr>
          <p:nvPr/>
        </p:nvSpPr>
        <p:spPr>
          <a:xfrm xmlns:a="http://schemas.openxmlformats.org/drawingml/2006/main">
            <a:off x="35814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Quarantänefälle</a:t>
            </a:r>
          </a:p>
        </p:txBody>
      </p:sp>
      <p:sp>
        <p:nvSpPr>
          <p:cNvPr id="52" name="">
            <a:extLst xmlns:a="http://schemas.openxmlformats.org/drawingml/2006/main">
              <a:ext uri="{FF2B5EF4-FFF2-40B4-BE49-F238E27FC236}">
                <a16:creationId xmlns:a16="http://schemas.microsoft.com/office/drawing/2014/main" id="{09554C76-75F5-42AC-9090-C82549AC3365}"/>
              </a:ext>
            </a:extLst>
          </p:cNvPr>
          <p:cNvSpPr>
            <a:spLocks xmlns:a="http://schemas.openxmlformats.org/drawingml/2006/main" noGrp="1"/>
          </p:cNvSpPr>
          <p:nvPr/>
        </p:nvSpPr>
        <p:spPr>
          <a:xfrm xmlns:a="http://schemas.openxmlformats.org/drawingml/2006/main">
            <a:off x="598170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3" name="">
            <a:extLst xmlns:a="http://schemas.openxmlformats.org/drawingml/2006/main">
              <a:ext uri="{FF2B5EF4-FFF2-40B4-BE49-F238E27FC236}">
                <a16:creationId xmlns:a16="http://schemas.microsoft.com/office/drawing/2014/main" id="{166395DE-9CCF-4759-B7F4-8969EC625112}"/>
              </a:ext>
            </a:extLst>
          </p:cNvPr>
          <p:cNvSpPr>
            <a:spLocks xmlns:a="http://schemas.openxmlformats.org/drawingml/2006/main" noGrp="1"/>
          </p:cNvSpPr>
          <p:nvPr/>
        </p:nvSpPr>
        <p:spPr>
          <a:xfrm xmlns:a="http://schemas.openxmlformats.org/drawingml/2006/main">
            <a:off x="5981700" y="30670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458EAFD-E358-44C6-8928-5F70BCCDCDBF}"/>
              </a:ext>
            </a:extLst>
          </p:cNvPr>
          <p:cNvSpPr>
            <a:spLocks xmlns:a="http://schemas.openxmlformats.org/drawingml/2006/main" noGrp="1"/>
          </p:cNvSpPr>
          <p:nvPr/>
        </p:nvSpPr>
        <p:spPr>
          <a:xfrm xmlns:a="http://schemas.openxmlformats.org/drawingml/2006/main">
            <a:off x="622935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0,51 %</a:t>
            </a:r>
          </a:p>
        </p:txBody>
      </p:sp>
      <p:sp>
        <p:nvSpPr>
          <p:cNvPr id="55" name="">
            <a:extLst xmlns:a="http://schemas.openxmlformats.org/drawingml/2006/main">
              <a:ext uri="{FF2B5EF4-FFF2-40B4-BE49-F238E27FC236}">
                <a16:creationId xmlns:a16="http://schemas.microsoft.com/office/drawing/2014/main" id="{67F577E6-E2F3-4DD3-88F2-5C217643087A}"/>
              </a:ext>
            </a:extLst>
          </p:cNvPr>
          <p:cNvSpPr>
            <a:spLocks xmlns:a="http://schemas.openxmlformats.org/drawingml/2006/main" noGrp="1"/>
          </p:cNvSpPr>
          <p:nvPr/>
        </p:nvSpPr>
        <p:spPr>
          <a:xfrm xmlns:a="http://schemas.openxmlformats.org/drawingml/2006/main">
            <a:off x="622935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Ausschuss &lt; 2 % Gate</a:t>
            </a:r>
          </a:p>
        </p:txBody>
      </p:sp>
      <p:sp>
        <p:nvSpPr>
          <p:cNvPr id="56" name="">
            <a:extLst xmlns:a="http://schemas.openxmlformats.org/drawingml/2006/main">
              <a:ext uri="{FF2B5EF4-FFF2-40B4-BE49-F238E27FC236}">
                <a16:creationId xmlns:a16="http://schemas.microsoft.com/office/drawing/2014/main" id="{065906AF-E722-48D2-92E2-FD5239E37645}"/>
              </a:ext>
            </a:extLst>
          </p:cNvPr>
          <p:cNvSpPr>
            <a:spLocks xmlns:a="http://schemas.openxmlformats.org/drawingml/2006/main" noGrp="1"/>
          </p:cNvSpPr>
          <p:nvPr/>
        </p:nvSpPr>
        <p:spPr>
          <a:xfrm xmlns:a="http://schemas.openxmlformats.org/drawingml/2006/main">
            <a:off x="8629650" y="3067050"/>
            <a:ext cx="23812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57" name="">
            <a:extLst xmlns:a="http://schemas.openxmlformats.org/drawingml/2006/main">
              <a:ext uri="{FF2B5EF4-FFF2-40B4-BE49-F238E27FC236}">
                <a16:creationId xmlns:a16="http://schemas.microsoft.com/office/drawing/2014/main" id="{7AB1B9AF-183D-434E-B97C-250413A0FF79}"/>
              </a:ext>
            </a:extLst>
          </p:cNvPr>
          <p:cNvSpPr>
            <a:spLocks xmlns:a="http://schemas.openxmlformats.org/drawingml/2006/main" noGrp="1"/>
          </p:cNvSpPr>
          <p:nvPr/>
        </p:nvSpPr>
        <p:spPr>
          <a:xfrm xmlns:a="http://schemas.openxmlformats.org/drawingml/2006/main">
            <a:off x="8629650" y="30670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0E5E920A-BAB3-4FEA-9F7E-2B4DC81720BD}"/>
              </a:ext>
            </a:extLst>
          </p:cNvPr>
          <p:cNvSpPr>
            <a:spLocks xmlns:a="http://schemas.openxmlformats.org/drawingml/2006/main" noGrp="1"/>
          </p:cNvSpPr>
          <p:nvPr/>
        </p:nvSpPr>
        <p:spPr>
          <a:xfrm xmlns:a="http://schemas.openxmlformats.org/drawingml/2006/main">
            <a:off x="8877300" y="327660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SUCCESS</a:t>
            </a:r>
          </a:p>
        </p:txBody>
      </p:sp>
      <p:sp>
        <p:nvSpPr>
          <p:cNvPr id="59" name="">
            <a:extLst xmlns:a="http://schemas.openxmlformats.org/drawingml/2006/main">
              <a:ext uri="{FF2B5EF4-FFF2-40B4-BE49-F238E27FC236}">
                <a16:creationId xmlns:a16="http://schemas.microsoft.com/office/drawing/2014/main" id="{418A49FC-D33C-4626-8A82-0482183972E8}"/>
              </a:ext>
            </a:extLst>
          </p:cNvPr>
          <p:cNvSpPr>
            <a:spLocks xmlns:a="http://schemas.openxmlformats.org/drawingml/2006/main" noGrp="1"/>
          </p:cNvSpPr>
          <p:nvPr/>
        </p:nvSpPr>
        <p:spPr>
          <a:xfrm xmlns:a="http://schemas.openxmlformats.org/drawingml/2006/main">
            <a:off x="8877300" y="37909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Full-DAG · 19.10.2026</a:t>
            </a:r>
          </a:p>
        </p:txBody>
      </p:sp>
      <p:sp>
        <p:nvSpPr>
          <p:cNvPr id="60" name="">
            <a:extLst xmlns:a="http://schemas.openxmlformats.org/drawingml/2006/main">
              <a:ext uri="{FF2B5EF4-FFF2-40B4-BE49-F238E27FC236}">
                <a16:creationId xmlns:a16="http://schemas.microsoft.com/office/drawing/2014/main" id="{E432A296-6AD4-4D7F-87B0-A9112751C012}"/>
              </a:ext>
            </a:extLst>
          </p:cNvPr>
          <p:cNvSpPr>
            <a:spLocks xmlns:a="http://schemas.openxmlformats.org/drawingml/2006/main" noGrp="1"/>
          </p:cNvSpPr>
          <p:nvPr/>
        </p:nvSpPr>
        <p:spPr>
          <a:xfrm xmlns:a="http://schemas.openxmlformats.org/drawingml/2006/main">
            <a:off x="685800" y="4705350"/>
            <a:ext cx="10325100" cy="876300"/>
          </a:xfrm>
          <a:prstGeom xmlns:a="http://schemas.openxmlformats.org/drawingml/2006/main" prst="roundRect">
            <a:avLst>
              <a:gd name="adj" fmla="val 13043"/>
            </a:avLst>
          </a:prstGeom>
          <a:solidFill xmlns:a="http://schemas.openxmlformats.org/drawingml/2006/main">
            <a:srgbClr val="0A1822"/>
          </a:solidFill>
          <a:ln xmlns:a="http://schemas.openxmlformats.org/drawingml/2006/main" w="9525">
            <a:solidFill>
              <a:srgbClr val="0A1822"/>
            </a:solidFill>
            <a:prstDash val="solid"/>
          </a:ln>
        </p:spPr>
      </p:sp>
      <p:sp>
        <p:nvSpPr>
          <p:cNvPr id="61" name="">
            <a:extLst xmlns:a="http://schemas.openxmlformats.org/drawingml/2006/main">
              <a:ext uri="{FF2B5EF4-FFF2-40B4-BE49-F238E27FC236}">
                <a16:creationId xmlns:a16="http://schemas.microsoft.com/office/drawing/2014/main" id="{C7C5AEAC-9AC9-4E33-A84E-B162174410BD}"/>
              </a:ext>
            </a:extLst>
          </p:cNvPr>
          <p:cNvSpPr>
            <a:spLocks xmlns:a="http://schemas.openxmlformats.org/drawingml/2006/main" noGrp="1"/>
          </p:cNvSpPr>
          <p:nvPr/>
        </p:nvSpPr>
        <p:spPr>
          <a:xfrm xmlns:a="http://schemas.openxmlformats.org/drawingml/2006/main">
            <a:off x="933450" y="4914900"/>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F4A261"/>
                </a:solidFill>
                <a:latin typeface="Arial"/>
                <a:ea typeface="Arial"/>
                <a:cs typeface="Arial"/>
              </a:defRPr>
            </a:defPPr>
          </a:lstStyle>
          <a:p xmlns:a="http://schemas.openxmlformats.org/drawingml/2006/main">
            <a:pPr algn="l">
              <a:buNone/>
              <a:defRPr sz="1200" b="1">
                <a:solidFill>
                  <a:srgbClr val="F4A261"/>
                </a:solidFill>
                <a:latin typeface="Arial"/>
                <a:ea typeface="Arial"/>
                <a:cs typeface="Arial"/>
              </a:defRPr>
            </a:pPr>
            <a:r>
              <a:rPr sz="1200" b="1">
                <a:solidFill>
                  <a:srgbClr val="F4A261"/>
                </a:solidFill>
                <a:latin typeface="Arial"/>
                <a:ea typeface="Arial"/>
                <a:cs typeface="Arial"/>
              </a:rPr>
              <a:t>Robustheit</a:t>
            </a:r>
          </a:p>
        </p:txBody>
      </p:sp>
      <p:sp>
        <p:nvSpPr>
          <p:cNvPr id="62" name="">
            <a:extLst xmlns:a="http://schemas.openxmlformats.org/drawingml/2006/main">
              <a:ext uri="{FF2B5EF4-FFF2-40B4-BE49-F238E27FC236}">
                <a16:creationId xmlns:a16="http://schemas.microsoft.com/office/drawing/2014/main" id="{2C1E2DA2-D868-4256-9600-5523FD6C7817}"/>
              </a:ext>
            </a:extLst>
          </p:cNvPr>
          <p:cNvSpPr>
            <a:spLocks xmlns:a="http://schemas.openxmlformats.org/drawingml/2006/main" noGrp="1"/>
          </p:cNvSpPr>
          <p:nvPr/>
        </p:nvSpPr>
        <p:spPr>
          <a:xfrm xmlns:a="http://schemas.openxmlformats.org/drawingml/2006/main">
            <a:off x="2381250" y="4905375"/>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8246"/>
          </a:bodyPr>
          <a:lstStyle xmlns:a="http://schemas.openxmlformats.org/drawingml/2006/main">
            <a:defPPr algn="l">
              <a:defRPr sz="1425" b="1">
                <a:solidFill>
                  <a:srgbClr val="FFFFFF"/>
                </a:solidFill>
                <a:latin typeface="Arial"/>
                <a:ea typeface="Arial"/>
                <a:cs typeface="Arial"/>
              </a:defRPr>
            </a:defPPr>
          </a:lstStyle>
          <a:p xmlns:a="http://schemas.openxmlformats.org/drawingml/2006/main">
            <a:pPr algn="l">
              <a:buNone/>
              <a:defRPr sz="1425" b="1">
                <a:solidFill>
                  <a:srgbClr val="FFFFFF"/>
                </a:solidFill>
                <a:latin typeface="Arial"/>
                <a:ea typeface="Arial"/>
                <a:cs typeface="Arial"/>
              </a:defRPr>
            </a:pPr>
            <a:r>
              <a:rPr sz="1425" b="1">
                <a:solidFill>
                  <a:srgbClr val="FFFFFF"/>
                </a:solidFill>
                <a:latin typeface="Arial"/>
                <a:ea typeface="Arial"/>
                <a:cs typeface="Arial"/>
              </a:rPr>
              <a:t>Retries · Timeouts · maximal 1 aktiver Lauf · zwei Quality Gates · idempotente Loads</a:t>
            </a:r>
          </a:p>
        </p:txBody>
      </p:sp>
    </p:spTree>
    <p:extLst>
      <p:ext uri="{BB962C8B-B14F-4D97-AF65-F5344CB8AC3E}">
        <p14:creationId xmlns:p14="http://schemas.microsoft.com/office/powerpoint/2010/main" val="881526656"/>
      </p:ext>
    </p:extLst>
  </p:cSld>
</p:sld>
</file>

<file path=ppt/slides/slide7.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10004DA-971A-4BD5-B2C6-82094E8EC76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buNone/>
              <a:defRPr sz="900" b="1">
                <a:solidFill>
                  <a:srgbClr val="F4A261"/>
                </a:solidFill>
                <a:latin typeface="Arial"/>
                <a:ea typeface="Arial"/>
                <a:cs typeface="Arial"/>
              </a:defRPr>
            </a:pPr>
            <a:r>
              <a:rPr sz="900" b="1">
                <a:solidFill>
                  <a:srgbClr val="F4A261"/>
                </a:solidFill>
                <a:latin typeface="Arial"/>
                <a:ea typeface="Arial"/>
                <a:cs typeface="Arial"/>
              </a:rPr>
              <a:t>APACHE SPARK</a:t>
            </a:r>
          </a:p>
        </p:txBody>
      </p:sp>
      <p:sp>
        <p:nvSpPr>
          <p:cNvPr id="2" name="">
            <a:extLst xmlns:a="http://schemas.openxmlformats.org/drawingml/2006/main">
              <a:ext uri="{FF2B5EF4-FFF2-40B4-BE49-F238E27FC236}">
                <a16:creationId xmlns:a16="http://schemas.microsoft.com/office/drawing/2014/main" id="{3D1F6E1B-E383-4EEE-838F-E9D2BF828CFA}"/>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buNone/>
              <a:defRPr sz="2550" b="1">
                <a:solidFill>
                  <a:srgbClr val="FFFFFF"/>
                </a:solidFill>
                <a:latin typeface="Arial"/>
                <a:ea typeface="Arial"/>
                <a:cs typeface="Arial"/>
              </a:defRPr>
            </a:pPr>
            <a:r>
              <a:rPr sz="2550" b="1">
                <a:solidFill>
                  <a:srgbClr val="FFFFFF"/>
                </a:solidFill>
                <a:latin typeface="Arial"/>
                <a:ea typeface="Arial"/>
                <a:cs typeface="Arial"/>
              </a:rPr>
              <a:t>Vom Rohsignal zum leakage-armen Tagesfeature</a:t>
            </a:r>
          </a:p>
        </p:txBody>
      </p:sp>
      <p:sp>
        <p:nvSpPr>
          <p:cNvPr id="3" name="">
            <a:extLst xmlns:a="http://schemas.openxmlformats.org/drawingml/2006/main">
              <a:ext uri="{FF2B5EF4-FFF2-40B4-BE49-F238E27FC236}">
                <a16:creationId xmlns:a16="http://schemas.microsoft.com/office/drawing/2014/main" id="{D864A826-18A4-46C0-A8BF-B5A6D1C7DF71}"/>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431541A-4AFA-4670-A4B2-3758D8D0E58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62378CB1-9856-47F8-B16A-202CFCA5C137}"/>
              </a:ext>
            </a:extLst>
          </p:cNvPr>
          <p:cNvSpPr>
            <a:spLocks xmlns:a="http://schemas.openxmlformats.org/drawingml/2006/main" noGrp="1"/>
          </p:cNvSpPr>
          <p:nvPr/>
        </p:nvSpPr>
        <p:spPr>
          <a:xfrm xmlns:a="http://schemas.openxmlformats.org/drawingml/2006/main">
            <a:off x="5905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239F29D6-F267-4C64-BA82-F81E36579695}"/>
              </a:ext>
            </a:extLst>
          </p:cNvPr>
          <p:cNvSpPr>
            <a:spLocks xmlns:a="http://schemas.openxmlformats.org/drawingml/2006/main" noGrp="1"/>
          </p:cNvSpPr>
          <p:nvPr/>
        </p:nvSpPr>
        <p:spPr>
          <a:xfrm xmlns:a="http://schemas.openxmlformats.org/drawingml/2006/main">
            <a:off x="7048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1,0 Mio.</a:t>
            </a:r>
          </a:p>
        </p:txBody>
      </p:sp>
      <p:sp>
        <p:nvSpPr>
          <p:cNvPr id="7" name="">
            <a:extLst xmlns:a="http://schemas.openxmlformats.org/drawingml/2006/main">
              <a:ext uri="{FF2B5EF4-FFF2-40B4-BE49-F238E27FC236}">
                <a16:creationId xmlns:a16="http://schemas.microsoft.com/office/drawing/2014/main" id="{6409DB47-E0E9-437E-B58D-11CEA1B88DBE}"/>
              </a:ext>
            </a:extLst>
          </p:cNvPr>
          <p:cNvSpPr>
            <a:spLocks xmlns:a="http://schemas.openxmlformats.org/drawingml/2006/main" noGrp="1"/>
          </p:cNvSpPr>
          <p:nvPr/>
        </p:nvSpPr>
        <p:spPr>
          <a:xfrm xmlns:a="http://schemas.openxmlformats.org/drawingml/2006/main">
            <a:off x="7048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Mongo-Snapshot</a:t>
            </a:r>
          </a:p>
        </p:txBody>
      </p:sp>
      <p:sp>
        <p:nvSpPr>
          <p:cNvPr id="8" name="">
            <a:extLst xmlns:a="http://schemas.openxmlformats.org/drawingml/2006/main">
              <a:ext uri="{FF2B5EF4-FFF2-40B4-BE49-F238E27FC236}">
                <a16:creationId xmlns:a16="http://schemas.microsoft.com/office/drawing/2014/main" id="{7C47D19C-1534-474E-97B6-40C65F5A9894}"/>
              </a:ext>
            </a:extLst>
          </p:cNvPr>
          <p:cNvSpPr>
            <a:spLocks xmlns:a="http://schemas.openxmlformats.org/drawingml/2006/main" noGrp="1"/>
          </p:cNvSpPr>
          <p:nvPr/>
        </p:nvSpPr>
        <p:spPr>
          <a:xfrm xmlns:a="http://schemas.openxmlformats.org/drawingml/2006/main">
            <a:off x="21907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9" name="">
            <a:extLst xmlns:a="http://schemas.openxmlformats.org/drawingml/2006/main">
              <a:ext uri="{FF2B5EF4-FFF2-40B4-BE49-F238E27FC236}">
                <a16:creationId xmlns:a16="http://schemas.microsoft.com/office/drawing/2014/main" id="{40DA53C8-8D6D-483A-B27B-125A253C50CC}"/>
              </a:ext>
            </a:extLst>
          </p:cNvPr>
          <p:cNvSpPr>
            <a:spLocks xmlns:a="http://schemas.openxmlformats.org/drawingml/2006/main" noGrp="1"/>
          </p:cNvSpPr>
          <p:nvPr/>
        </p:nvSpPr>
        <p:spPr>
          <a:xfrm xmlns:a="http://schemas.openxmlformats.org/drawingml/2006/main">
            <a:off x="248602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0" name="">
            <a:extLst xmlns:a="http://schemas.openxmlformats.org/drawingml/2006/main">
              <a:ext uri="{FF2B5EF4-FFF2-40B4-BE49-F238E27FC236}">
                <a16:creationId xmlns:a16="http://schemas.microsoft.com/office/drawing/2014/main" id="{AF44A727-DA39-4E55-881B-35A8EFCDAFCA}"/>
              </a:ext>
            </a:extLst>
          </p:cNvPr>
          <p:cNvSpPr>
            <a:spLocks xmlns:a="http://schemas.openxmlformats.org/drawingml/2006/main" noGrp="1"/>
          </p:cNvSpPr>
          <p:nvPr/>
        </p:nvSpPr>
        <p:spPr>
          <a:xfrm xmlns:a="http://schemas.openxmlformats.org/drawingml/2006/main">
            <a:off x="26003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994.905</a:t>
            </a:r>
          </a:p>
        </p:txBody>
      </p:sp>
      <p:sp>
        <p:nvSpPr>
          <p:cNvPr id="11" name="">
            <a:extLst xmlns:a="http://schemas.openxmlformats.org/drawingml/2006/main">
              <a:ext uri="{FF2B5EF4-FFF2-40B4-BE49-F238E27FC236}">
                <a16:creationId xmlns:a16="http://schemas.microsoft.com/office/drawing/2014/main" id="{28872364-E4A2-4553-9366-35921BF884D3}"/>
              </a:ext>
            </a:extLst>
          </p:cNvPr>
          <p:cNvSpPr>
            <a:spLocks xmlns:a="http://schemas.openxmlformats.org/drawingml/2006/main" noGrp="1"/>
          </p:cNvSpPr>
          <p:nvPr/>
        </p:nvSpPr>
        <p:spPr>
          <a:xfrm xmlns:a="http://schemas.openxmlformats.org/drawingml/2006/main">
            <a:off x="26003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validieren</a:t>
            </a:r>
          </a:p>
        </p:txBody>
      </p:sp>
      <p:sp>
        <p:nvSpPr>
          <p:cNvPr id="12" name="">
            <a:extLst xmlns:a="http://schemas.openxmlformats.org/drawingml/2006/main">
              <a:ext uri="{FF2B5EF4-FFF2-40B4-BE49-F238E27FC236}">
                <a16:creationId xmlns:a16="http://schemas.microsoft.com/office/drawing/2014/main" id="{5432AEE9-913F-40C5-AE09-843EC025444C}"/>
              </a:ext>
            </a:extLst>
          </p:cNvPr>
          <p:cNvSpPr>
            <a:spLocks xmlns:a="http://schemas.openxmlformats.org/drawingml/2006/main" noGrp="1"/>
          </p:cNvSpPr>
          <p:nvPr/>
        </p:nvSpPr>
        <p:spPr>
          <a:xfrm xmlns:a="http://schemas.openxmlformats.org/drawingml/2006/main">
            <a:off x="408622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3" name="">
            <a:extLst xmlns:a="http://schemas.openxmlformats.org/drawingml/2006/main">
              <a:ext uri="{FF2B5EF4-FFF2-40B4-BE49-F238E27FC236}">
                <a16:creationId xmlns:a16="http://schemas.microsoft.com/office/drawing/2014/main" id="{240F9FAC-EDB8-4BF6-B61D-19B5D3E77558}"/>
              </a:ext>
            </a:extLst>
          </p:cNvPr>
          <p:cNvSpPr>
            <a:spLocks xmlns:a="http://schemas.openxmlformats.org/drawingml/2006/main" noGrp="1"/>
          </p:cNvSpPr>
          <p:nvPr/>
        </p:nvSpPr>
        <p:spPr>
          <a:xfrm xmlns:a="http://schemas.openxmlformats.org/drawingml/2006/main">
            <a:off x="438150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4" name="">
            <a:extLst xmlns:a="http://schemas.openxmlformats.org/drawingml/2006/main">
              <a:ext uri="{FF2B5EF4-FFF2-40B4-BE49-F238E27FC236}">
                <a16:creationId xmlns:a16="http://schemas.microsoft.com/office/drawing/2014/main" id="{77AD92D6-60CD-4B18-9E9A-237106C93F1E}"/>
              </a:ext>
            </a:extLst>
          </p:cNvPr>
          <p:cNvSpPr>
            <a:spLocks xmlns:a="http://schemas.openxmlformats.org/drawingml/2006/main" noGrp="1"/>
          </p:cNvSpPr>
          <p:nvPr/>
        </p:nvSpPr>
        <p:spPr>
          <a:xfrm xmlns:a="http://schemas.openxmlformats.org/drawingml/2006/main">
            <a:off x="449580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DataFrame</a:t>
            </a:r>
          </a:p>
        </p:txBody>
      </p:sp>
      <p:sp>
        <p:nvSpPr>
          <p:cNvPr id="15" name="">
            <a:extLst xmlns:a="http://schemas.openxmlformats.org/drawingml/2006/main">
              <a:ext uri="{FF2B5EF4-FFF2-40B4-BE49-F238E27FC236}">
                <a16:creationId xmlns:a16="http://schemas.microsoft.com/office/drawing/2014/main" id="{83CFE5BC-4216-42E6-B854-1365DA06E46C}"/>
              </a:ext>
            </a:extLst>
          </p:cNvPr>
          <p:cNvSpPr>
            <a:spLocks xmlns:a="http://schemas.openxmlformats.org/drawingml/2006/main" noGrp="1"/>
          </p:cNvSpPr>
          <p:nvPr/>
        </p:nvSpPr>
        <p:spPr>
          <a:xfrm xmlns:a="http://schemas.openxmlformats.org/drawingml/2006/main">
            <a:off x="449580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cast · filter · dedup</a:t>
            </a:r>
          </a:p>
        </p:txBody>
      </p:sp>
      <p:sp>
        <p:nvSpPr>
          <p:cNvPr id="16" name="">
            <a:extLst xmlns:a="http://schemas.openxmlformats.org/drawingml/2006/main">
              <a:ext uri="{FF2B5EF4-FFF2-40B4-BE49-F238E27FC236}">
                <a16:creationId xmlns:a16="http://schemas.microsoft.com/office/drawing/2014/main" id="{5E0AC6BB-E20D-4792-A241-C035D31974FB}"/>
              </a:ext>
            </a:extLst>
          </p:cNvPr>
          <p:cNvSpPr>
            <a:spLocks xmlns:a="http://schemas.openxmlformats.org/drawingml/2006/main" noGrp="1"/>
          </p:cNvSpPr>
          <p:nvPr/>
        </p:nvSpPr>
        <p:spPr>
          <a:xfrm xmlns:a="http://schemas.openxmlformats.org/drawingml/2006/main">
            <a:off x="598170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17" name="">
            <a:extLst xmlns:a="http://schemas.openxmlformats.org/drawingml/2006/main">
              <a:ext uri="{FF2B5EF4-FFF2-40B4-BE49-F238E27FC236}">
                <a16:creationId xmlns:a16="http://schemas.microsoft.com/office/drawing/2014/main" id="{48FB4F60-4F17-4466-80EC-7445A935723C}"/>
              </a:ext>
            </a:extLst>
          </p:cNvPr>
          <p:cNvSpPr>
            <a:spLocks xmlns:a="http://schemas.openxmlformats.org/drawingml/2006/main" noGrp="1"/>
          </p:cNvSpPr>
          <p:nvPr/>
        </p:nvSpPr>
        <p:spPr>
          <a:xfrm xmlns:a="http://schemas.openxmlformats.org/drawingml/2006/main">
            <a:off x="6276975"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18" name="">
            <a:extLst xmlns:a="http://schemas.openxmlformats.org/drawingml/2006/main">
              <a:ext uri="{FF2B5EF4-FFF2-40B4-BE49-F238E27FC236}">
                <a16:creationId xmlns:a16="http://schemas.microsoft.com/office/drawing/2014/main" id="{FF9CF73E-F373-454F-992E-DBAEC1EB3E27}"/>
              </a:ext>
            </a:extLst>
          </p:cNvPr>
          <p:cNvSpPr>
            <a:spLocks xmlns:a="http://schemas.openxmlformats.org/drawingml/2006/main" noGrp="1"/>
          </p:cNvSpPr>
          <p:nvPr/>
        </p:nvSpPr>
        <p:spPr>
          <a:xfrm xmlns:a="http://schemas.openxmlformats.org/drawingml/2006/main">
            <a:off x="639127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567"/>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SQL + Joins</a:t>
            </a:r>
          </a:p>
        </p:txBody>
      </p:sp>
      <p:sp>
        <p:nvSpPr>
          <p:cNvPr id="19" name="">
            <a:extLst xmlns:a="http://schemas.openxmlformats.org/drawingml/2006/main">
              <a:ext uri="{FF2B5EF4-FFF2-40B4-BE49-F238E27FC236}">
                <a16:creationId xmlns:a16="http://schemas.microsoft.com/office/drawing/2014/main" id="{9CB7B9EA-67E6-450E-BAEE-7287CBA48816}"/>
              </a:ext>
            </a:extLst>
          </p:cNvPr>
          <p:cNvSpPr>
            <a:spLocks xmlns:a="http://schemas.openxmlformats.org/drawingml/2006/main" noGrp="1"/>
          </p:cNvSpPr>
          <p:nvPr/>
        </p:nvSpPr>
        <p:spPr>
          <a:xfrm xmlns:a="http://schemas.openxmlformats.org/drawingml/2006/main">
            <a:off x="639127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Kontext verbinden</a:t>
            </a:r>
          </a:p>
        </p:txBody>
      </p:sp>
      <p:sp>
        <p:nvSpPr>
          <p:cNvPr id="20" name="">
            <a:extLst xmlns:a="http://schemas.openxmlformats.org/drawingml/2006/main">
              <a:ext uri="{FF2B5EF4-FFF2-40B4-BE49-F238E27FC236}">
                <a16:creationId xmlns:a16="http://schemas.microsoft.com/office/drawing/2014/main" id="{734B72E1-C107-4632-800E-5B1996B66A72}"/>
              </a:ext>
            </a:extLst>
          </p:cNvPr>
          <p:cNvSpPr>
            <a:spLocks xmlns:a="http://schemas.openxmlformats.org/drawingml/2006/main" noGrp="1"/>
          </p:cNvSpPr>
          <p:nvPr/>
        </p:nvSpPr>
        <p:spPr>
          <a:xfrm xmlns:a="http://schemas.openxmlformats.org/drawingml/2006/main">
            <a:off x="7877175"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1" name="">
            <a:extLst xmlns:a="http://schemas.openxmlformats.org/drawingml/2006/main">
              <a:ext uri="{FF2B5EF4-FFF2-40B4-BE49-F238E27FC236}">
                <a16:creationId xmlns:a16="http://schemas.microsoft.com/office/drawing/2014/main" id="{1DE1B676-2325-4205-8062-ED281ABDD5A5}"/>
              </a:ext>
            </a:extLst>
          </p:cNvPr>
          <p:cNvSpPr>
            <a:spLocks xmlns:a="http://schemas.openxmlformats.org/drawingml/2006/main" noGrp="1"/>
          </p:cNvSpPr>
          <p:nvPr/>
        </p:nvSpPr>
        <p:spPr>
          <a:xfrm xmlns:a="http://schemas.openxmlformats.org/drawingml/2006/main">
            <a:off x="8172450" y="1847850"/>
            <a:ext cx="1562100" cy="1581150"/>
          </a:xfrm>
          <a:prstGeom xmlns:a="http://schemas.openxmlformats.org/drawingml/2006/main" prst="roundRect">
            <a:avLst>
              <a:gd name="adj" fmla="val 7317"/>
            </a:avLst>
          </a:prstGeom>
          <a:solidFill xmlns:a="http://schemas.openxmlformats.org/drawingml/2006/main">
            <a:srgbClr val="132C39"/>
          </a:solidFill>
          <a:ln xmlns:a="http://schemas.openxmlformats.org/drawingml/2006/main" w="9525">
            <a:solidFill>
              <a:srgbClr val="31505D"/>
            </a:solidFill>
            <a:prstDash val="solid"/>
          </a:ln>
        </p:spPr>
      </p:sp>
      <p:sp>
        <p:nvSpPr>
          <p:cNvPr id="22" name="">
            <a:extLst xmlns:a="http://schemas.openxmlformats.org/drawingml/2006/main">
              <a:ext uri="{FF2B5EF4-FFF2-40B4-BE49-F238E27FC236}">
                <a16:creationId xmlns:a16="http://schemas.microsoft.com/office/drawing/2014/main" id="{B9ABBC3A-5BDF-4E59-A053-DEE942D9FC84}"/>
              </a:ext>
            </a:extLst>
          </p:cNvPr>
          <p:cNvSpPr>
            <a:spLocks xmlns:a="http://schemas.openxmlformats.org/drawingml/2006/main" noGrp="1"/>
          </p:cNvSpPr>
          <p:nvPr/>
        </p:nvSpPr>
        <p:spPr>
          <a:xfrm xmlns:a="http://schemas.openxmlformats.org/drawingml/2006/main">
            <a:off x="8286750"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FFFFF"/>
                </a:solidFill>
                <a:latin typeface="Arial"/>
                <a:ea typeface="Arial"/>
                <a:cs typeface="Arial"/>
              </a:defRPr>
            </a:defPPr>
          </a:lstStyle>
          <a:p xmlns:a="http://schemas.openxmlformats.org/drawingml/2006/main">
            <a:pPr algn="ctr">
              <a:buNone/>
              <a:defRPr sz="1725" b="1">
                <a:solidFill>
                  <a:srgbClr val="FFFFFF"/>
                </a:solidFill>
                <a:latin typeface="Arial"/>
                <a:ea typeface="Arial"/>
                <a:cs typeface="Arial"/>
              </a:defRPr>
            </a:pPr>
            <a:r>
              <a:rPr sz="1725" b="1">
                <a:solidFill>
                  <a:srgbClr val="FFFFFF"/>
                </a:solidFill>
                <a:latin typeface="Arial"/>
                <a:ea typeface="Arial"/>
                <a:cs typeface="Arial"/>
              </a:rPr>
              <a:t>Windows</a:t>
            </a:r>
          </a:p>
        </p:txBody>
      </p:sp>
      <p:sp>
        <p:nvSpPr>
          <p:cNvPr id="23" name="">
            <a:extLst xmlns:a="http://schemas.openxmlformats.org/drawingml/2006/main">
              <a:ext uri="{FF2B5EF4-FFF2-40B4-BE49-F238E27FC236}">
                <a16:creationId xmlns:a16="http://schemas.microsoft.com/office/drawing/2014/main" id="{00B867F8-905F-433D-AD84-1B4101B463C0}"/>
              </a:ext>
            </a:extLst>
          </p:cNvPr>
          <p:cNvSpPr>
            <a:spLocks xmlns:a="http://schemas.openxmlformats.org/drawingml/2006/main" noGrp="1"/>
          </p:cNvSpPr>
          <p:nvPr/>
        </p:nvSpPr>
        <p:spPr>
          <a:xfrm xmlns:a="http://schemas.openxmlformats.org/drawingml/2006/main">
            <a:off x="8286750"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lag · rolling · lead</a:t>
            </a:r>
          </a:p>
        </p:txBody>
      </p:sp>
      <p:sp>
        <p:nvSpPr>
          <p:cNvPr id="24" name="">
            <a:extLst xmlns:a="http://schemas.openxmlformats.org/drawingml/2006/main">
              <a:ext uri="{FF2B5EF4-FFF2-40B4-BE49-F238E27FC236}">
                <a16:creationId xmlns:a16="http://schemas.microsoft.com/office/drawing/2014/main" id="{EFA578FE-93FE-46E3-B80F-BFEB120BC5E2}"/>
              </a:ext>
            </a:extLst>
          </p:cNvPr>
          <p:cNvSpPr>
            <a:spLocks xmlns:a="http://schemas.openxmlformats.org/drawingml/2006/main" noGrp="1"/>
          </p:cNvSpPr>
          <p:nvPr/>
        </p:nvSpPr>
        <p:spPr>
          <a:xfrm xmlns:a="http://schemas.openxmlformats.org/drawingml/2006/main">
            <a:off x="9772650" y="2514600"/>
            <a:ext cx="28575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25" name="">
            <a:extLst xmlns:a="http://schemas.openxmlformats.org/drawingml/2006/main">
              <a:ext uri="{FF2B5EF4-FFF2-40B4-BE49-F238E27FC236}">
                <a16:creationId xmlns:a16="http://schemas.microsoft.com/office/drawing/2014/main" id="{B8BF818F-319F-4D1A-80E7-18E9BA0ED9BC}"/>
              </a:ext>
            </a:extLst>
          </p:cNvPr>
          <p:cNvSpPr>
            <a:spLocks xmlns:a="http://schemas.openxmlformats.org/drawingml/2006/main" noGrp="1"/>
          </p:cNvSpPr>
          <p:nvPr/>
        </p:nvSpPr>
        <p:spPr>
          <a:xfrm xmlns:a="http://schemas.openxmlformats.org/drawingml/2006/main">
            <a:off x="10067925" y="1847850"/>
            <a:ext cx="1562100" cy="1581150"/>
          </a:xfrm>
          <a:prstGeom xmlns:a="http://schemas.openxmlformats.org/drawingml/2006/main" prst="roundRect">
            <a:avLst>
              <a:gd name="adj" fmla="val 7317"/>
            </a:avLst>
          </a:prstGeom>
          <a:solidFill xmlns:a="http://schemas.openxmlformats.org/drawingml/2006/main">
            <a:srgbClr val="173C4C"/>
          </a:solidFill>
          <a:ln xmlns:a="http://schemas.openxmlformats.org/drawingml/2006/main" w="9525">
            <a:solidFill>
              <a:srgbClr val="31505D"/>
            </a:solidFill>
            <a:prstDash val="solid"/>
          </a:ln>
        </p:spPr>
      </p:sp>
      <p:sp>
        <p:nvSpPr>
          <p:cNvPr id="26" name="">
            <a:extLst xmlns:a="http://schemas.openxmlformats.org/drawingml/2006/main">
              <a:ext uri="{FF2B5EF4-FFF2-40B4-BE49-F238E27FC236}">
                <a16:creationId xmlns:a16="http://schemas.microsoft.com/office/drawing/2014/main" id="{F858BBA2-F553-492D-8C66-836EAC26E9AC}"/>
              </a:ext>
            </a:extLst>
          </p:cNvPr>
          <p:cNvSpPr>
            <a:spLocks xmlns:a="http://schemas.openxmlformats.org/drawingml/2006/main" noGrp="1"/>
          </p:cNvSpPr>
          <p:nvPr/>
        </p:nvSpPr>
        <p:spPr>
          <a:xfrm xmlns:a="http://schemas.openxmlformats.org/drawingml/2006/main">
            <a:off x="10182225" y="2133600"/>
            <a:ext cx="133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725" b="1">
                <a:solidFill>
                  <a:srgbClr val="F4A261"/>
                </a:solidFill>
                <a:latin typeface="Arial"/>
                <a:ea typeface="Arial"/>
                <a:cs typeface="Arial"/>
              </a:defRPr>
            </a:defPPr>
          </a:lstStyle>
          <a:p xmlns:a="http://schemas.openxmlformats.org/drawingml/2006/main">
            <a:pPr algn="ctr">
              <a:buNone/>
              <a:defRPr sz="1725" b="1">
                <a:solidFill>
                  <a:srgbClr val="F4A261"/>
                </a:solidFill>
                <a:latin typeface="Arial"/>
                <a:ea typeface="Arial"/>
                <a:cs typeface="Arial"/>
              </a:defRPr>
            </a:pPr>
            <a:r>
              <a:rPr sz="1725" b="1">
                <a:solidFill>
                  <a:srgbClr val="F4A261"/>
                </a:solidFill>
                <a:latin typeface="Arial"/>
                <a:ea typeface="Arial"/>
                <a:cs typeface="Arial"/>
              </a:rPr>
              <a:t>4.950</a:t>
            </a:r>
          </a:p>
        </p:txBody>
      </p:sp>
      <p:sp>
        <p:nvSpPr>
          <p:cNvPr id="27" name="">
            <a:extLst xmlns:a="http://schemas.openxmlformats.org/drawingml/2006/main">
              <a:ext uri="{FF2B5EF4-FFF2-40B4-BE49-F238E27FC236}">
                <a16:creationId xmlns:a16="http://schemas.microsoft.com/office/drawing/2014/main" id="{8CE50385-177A-4931-957F-9A8CDC862F44}"/>
              </a:ext>
            </a:extLst>
          </p:cNvPr>
          <p:cNvSpPr>
            <a:spLocks xmlns:a="http://schemas.openxmlformats.org/drawingml/2006/main" noGrp="1"/>
          </p:cNvSpPr>
          <p:nvPr/>
        </p:nvSpPr>
        <p:spPr>
          <a:xfrm xmlns:a="http://schemas.openxmlformats.org/drawingml/2006/main">
            <a:off x="10182225" y="2686050"/>
            <a:ext cx="133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B8C8D0"/>
                </a:solidFill>
                <a:latin typeface="Arial"/>
                <a:ea typeface="Arial"/>
                <a:cs typeface="Arial"/>
              </a:defRPr>
            </a:defPPr>
          </a:lstStyle>
          <a:p xmlns:a="http://schemas.openxmlformats.org/drawingml/2006/main">
            <a:pPr algn="ctr">
              <a:buNone/>
              <a:defRPr sz="1050" b="0">
                <a:solidFill>
                  <a:srgbClr val="B8C8D0"/>
                </a:solidFill>
                <a:latin typeface="Arial"/>
                <a:ea typeface="Arial"/>
                <a:cs typeface="Arial"/>
              </a:defRPr>
            </a:pPr>
            <a:r>
              <a:rPr sz="1050" b="0">
                <a:solidFill>
                  <a:srgbClr val="B8C8D0"/>
                </a:solidFill>
                <a:latin typeface="Arial"/>
                <a:ea typeface="Arial"/>
                <a:cs typeface="Arial"/>
              </a:rPr>
              <a:t>Parquet Features</a:t>
            </a:r>
          </a:p>
        </p:txBody>
      </p:sp>
      <p:sp>
        <p:nvSpPr>
          <p:cNvPr id="28" name="">
            <a:extLst xmlns:a="http://schemas.openxmlformats.org/drawingml/2006/main">
              <a:ext uri="{FF2B5EF4-FFF2-40B4-BE49-F238E27FC236}">
                <a16:creationId xmlns:a16="http://schemas.microsoft.com/office/drawing/2014/main" id="{AF86C48A-B957-4E98-B79C-CBE1867DD4D8}"/>
              </a:ext>
            </a:extLst>
          </p:cNvPr>
          <p:cNvSpPr>
            <a:spLocks xmlns:a="http://schemas.openxmlformats.org/drawingml/2006/main" noGrp="1"/>
          </p:cNvSpPr>
          <p:nvPr/>
        </p:nvSpPr>
        <p:spPr>
          <a:xfrm xmlns:a="http://schemas.openxmlformats.org/drawingml/2006/main">
            <a:off x="990600" y="4000500"/>
            <a:ext cx="10191750" cy="1219200"/>
          </a:xfrm>
          <a:prstGeom xmlns:a="http://schemas.openxmlformats.org/drawingml/2006/main" prst="roundRect">
            <a:avLst>
              <a:gd name="adj" fmla="val 9375"/>
            </a:avLst>
          </a:prstGeom>
          <a:solidFill xmlns:a="http://schemas.openxmlformats.org/drawingml/2006/main">
            <a:srgbClr val="0E3544"/>
          </a:solidFill>
          <a:ln xmlns:a="http://schemas.openxmlformats.org/drawingml/2006/main" w="9525">
            <a:solidFill>
              <a:srgbClr val="31505D"/>
            </a:solidFill>
            <a:prstDash val="solid"/>
          </a:ln>
        </p:spPr>
      </p:sp>
      <p:sp>
        <p:nvSpPr>
          <p:cNvPr id="29" name="">
            <a:extLst xmlns:a="http://schemas.openxmlformats.org/drawingml/2006/main">
              <a:ext uri="{FF2B5EF4-FFF2-40B4-BE49-F238E27FC236}">
                <a16:creationId xmlns:a16="http://schemas.microsoft.com/office/drawing/2014/main" id="{36515E30-0643-46F4-9D5C-DBDC3EB0540D}"/>
              </a:ext>
            </a:extLst>
          </p:cNvPr>
          <p:cNvSpPr>
            <a:spLocks xmlns:a="http://schemas.openxmlformats.org/drawingml/2006/main" noGrp="1"/>
          </p:cNvSpPr>
          <p:nvPr/>
        </p:nvSpPr>
        <p:spPr>
          <a:xfrm xmlns:a="http://schemas.openxmlformats.org/drawingml/2006/main">
            <a:off x="1314450" y="42291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90196"/>
          </a:bodyPr>
          <a:lstStyle xmlns:a="http://schemas.openxmlformats.org/drawingml/2006/main">
            <a:defPPr algn="l">
              <a:defRPr sz="1275" b="1">
                <a:solidFill>
                  <a:srgbClr val="F4A261"/>
                </a:solidFill>
                <a:latin typeface="Arial"/>
                <a:ea typeface="Arial"/>
                <a:cs typeface="Arial"/>
              </a:defRPr>
            </a:defPPr>
          </a:lstStyle>
          <a:p xmlns:a="http://schemas.openxmlformats.org/drawingml/2006/main">
            <a:pPr algn="l">
              <a:buNone/>
              <a:defRPr sz="1275" b="1">
                <a:solidFill>
                  <a:srgbClr val="F4A261"/>
                </a:solidFill>
                <a:latin typeface="Arial"/>
                <a:ea typeface="Arial"/>
                <a:cs typeface="Arial"/>
              </a:defRPr>
            </a:pPr>
            <a:r>
              <a:rPr sz="1275" b="1">
                <a:solidFill>
                  <a:srgbClr val="F4A261"/>
                </a:solidFill>
                <a:latin typeface="Arial"/>
                <a:ea typeface="Arial"/>
                <a:cs typeface="Arial"/>
              </a:rPr>
              <a:t>Zeitreihenregel</a:t>
            </a:r>
          </a:p>
        </p:txBody>
      </p:sp>
      <p:sp>
        <p:nvSpPr>
          <p:cNvPr id="30" name="">
            <a:extLst xmlns:a="http://schemas.openxmlformats.org/drawingml/2006/main">
              <a:ext uri="{FF2B5EF4-FFF2-40B4-BE49-F238E27FC236}">
                <a16:creationId xmlns:a16="http://schemas.microsoft.com/office/drawing/2014/main" id="{12038E1E-EEBC-49B2-9675-646E11BDE32E}"/>
              </a:ext>
            </a:extLst>
          </p:cNvPr>
          <p:cNvSpPr>
            <a:spLocks xmlns:a="http://schemas.openxmlformats.org/drawingml/2006/main" noGrp="1"/>
          </p:cNvSpPr>
          <p:nvPr/>
        </p:nvSpPr>
        <p:spPr>
          <a:xfrm xmlns:a="http://schemas.openxmlformats.org/drawingml/2006/main">
            <a:off x="1314450" y="46291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buNone/>
              <a:defRPr sz="1725" b="1">
                <a:solidFill>
                  <a:srgbClr val="FFFFFF"/>
                </a:solidFill>
                <a:latin typeface="Arial"/>
                <a:ea typeface="Arial"/>
                <a:cs typeface="Arial"/>
              </a:defRPr>
            </a:pPr>
            <a:r>
              <a:rPr sz="1725" b="1">
                <a:solidFill>
                  <a:srgbClr val="FFFFFF"/>
                </a:solidFill>
                <a:latin typeface="Arial"/>
                <a:ea typeface="Arial"/>
                <a:cs typeface="Arial"/>
              </a:rPr>
              <a:t>Features aus Tag t</a:t>
            </a:r>
          </a:p>
        </p:txBody>
      </p:sp>
      <p:sp>
        <p:nvSpPr>
          <p:cNvPr id="31" name="">
            <a:extLst xmlns:a="http://schemas.openxmlformats.org/drawingml/2006/main">
              <a:ext uri="{FF2B5EF4-FFF2-40B4-BE49-F238E27FC236}">
                <a16:creationId xmlns:a16="http://schemas.microsoft.com/office/drawing/2014/main" id="{B0576118-456A-4E06-B180-E196B25A3BE4}"/>
              </a:ext>
            </a:extLst>
          </p:cNvPr>
          <p:cNvSpPr>
            <a:spLocks xmlns:a="http://schemas.openxmlformats.org/drawingml/2006/main" noGrp="1"/>
          </p:cNvSpPr>
          <p:nvPr/>
        </p:nvSpPr>
        <p:spPr>
          <a:xfrm xmlns:a="http://schemas.openxmlformats.org/drawingml/2006/main">
            <a:off x="4076700" y="4667250"/>
            <a:ext cx="800100" cy="209550"/>
          </a:xfrm>
          <a:prstGeom xmlns:a="http://schemas.openxmlformats.org/drawingml/2006/main" prst="rightArrow">
            <a:avLst/>
          </a:prstGeom>
          <a:solidFill xmlns:a="http://schemas.openxmlformats.org/drawingml/2006/main">
            <a:srgbClr val="F4A261"/>
          </a:solidFill>
          <a:ln xmlns:a="http://schemas.openxmlformats.org/drawingml/2006/main" w="0">
            <a:solidFill>
              <a:srgbClr val="F4A261"/>
            </a:solidFill>
            <a:prstDash val="solid"/>
          </a:ln>
        </p:spPr>
      </p:sp>
      <p:sp>
        <p:nvSpPr>
          <p:cNvPr id="32" name="">
            <a:extLst xmlns:a="http://schemas.openxmlformats.org/drawingml/2006/main">
              <a:ext uri="{FF2B5EF4-FFF2-40B4-BE49-F238E27FC236}">
                <a16:creationId xmlns:a16="http://schemas.microsoft.com/office/drawing/2014/main" id="{496A2B6E-93F3-47E5-AC9D-90DEEC6BD94F}"/>
              </a:ext>
            </a:extLst>
          </p:cNvPr>
          <p:cNvSpPr>
            <a:spLocks xmlns:a="http://schemas.openxmlformats.org/drawingml/2006/main" noGrp="1"/>
          </p:cNvSpPr>
          <p:nvPr/>
        </p:nvSpPr>
        <p:spPr>
          <a:xfrm xmlns:a="http://schemas.openxmlformats.org/drawingml/2006/main">
            <a:off x="5162550" y="46291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1159"/>
          </a:bodyPr>
          <a:lstStyle xmlns:a="http://schemas.openxmlformats.org/drawingml/2006/main">
            <a:defPPr algn="l">
              <a:defRPr sz="1725" b="1">
                <a:solidFill>
                  <a:srgbClr val="FFFFFF"/>
                </a:solidFill>
                <a:latin typeface="Arial"/>
                <a:ea typeface="Arial"/>
                <a:cs typeface="Arial"/>
              </a:defRPr>
            </a:defPPr>
          </a:lstStyle>
          <a:p xmlns:a="http://schemas.openxmlformats.org/drawingml/2006/main">
            <a:pPr algn="l">
              <a:buNone/>
              <a:defRPr sz="1725" b="1">
                <a:solidFill>
                  <a:srgbClr val="FFFFFF"/>
                </a:solidFill>
                <a:latin typeface="Arial"/>
                <a:ea typeface="Arial"/>
                <a:cs typeface="Arial"/>
              </a:defRPr>
            </a:pPr>
            <a:r>
              <a:rPr sz="1725" b="1">
                <a:solidFill>
                  <a:srgbClr val="FFFFFF"/>
                </a:solidFill>
                <a:latin typeface="Arial"/>
                <a:ea typeface="Arial"/>
                <a:cs typeface="Arial"/>
              </a:rPr>
              <a:t>Ziel ausschließlich aus Tag t+1</a:t>
            </a:r>
          </a:p>
        </p:txBody>
      </p:sp>
      <p:sp>
        <p:nvSpPr>
          <p:cNvPr id="33" name="">
            <a:extLst xmlns:a="http://schemas.openxmlformats.org/drawingml/2006/main">
              <a:ext uri="{FF2B5EF4-FFF2-40B4-BE49-F238E27FC236}">
                <a16:creationId xmlns:a16="http://schemas.microsoft.com/office/drawing/2014/main" id="{93A103F1-F464-4EE0-B582-3A97AFB12AC0}"/>
              </a:ext>
            </a:extLst>
          </p:cNvPr>
          <p:cNvSpPr>
            <a:spLocks xmlns:a="http://schemas.openxmlformats.org/drawingml/2006/main" noGrp="1"/>
          </p:cNvSpPr>
          <p:nvPr/>
        </p:nvSpPr>
        <p:spPr>
          <a:xfrm xmlns:a="http://schemas.openxmlformats.org/drawingml/2006/main">
            <a:off x="5162550" y="4981575"/>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3809"/>
          </a:bodyPr>
          <a:lstStyle xmlns:a="http://schemas.openxmlformats.org/drawingml/2006/main">
            <a:defPPr algn="l">
              <a:defRPr sz="1050" b="0">
                <a:solidFill>
                  <a:srgbClr val="B8C8D0"/>
                </a:solidFill>
                <a:latin typeface="Arial"/>
                <a:ea typeface="Arial"/>
                <a:cs typeface="Arial"/>
              </a:defRPr>
            </a:defPPr>
          </a:lstStyle>
          <a:p xmlns:a="http://schemas.openxmlformats.org/drawingml/2006/main">
            <a:pPr algn="l">
              <a:buNone/>
              <a:defRPr sz="1050" b="0">
                <a:solidFill>
                  <a:srgbClr val="B8C8D0"/>
                </a:solidFill>
                <a:latin typeface="Arial"/>
                <a:ea typeface="Arial"/>
                <a:cs typeface="Arial"/>
              </a:defRPr>
            </a:pPr>
            <a:r>
              <a:rPr sz="1050" b="0">
                <a:solidFill>
                  <a:srgbClr val="B8C8D0"/>
                </a:solidFill>
                <a:latin typeface="Arial"/>
                <a:ea typeface="Arial"/>
                <a:cs typeface="Arial"/>
              </a:rPr>
              <a:t>Purge-Tage schützen die Grenzen von Training, Validierung und Test</a:t>
            </a:r>
          </a:p>
        </p:txBody>
      </p:sp>
    </p:spTree>
    <p:extLst>
      <p:ext uri="{BB962C8B-B14F-4D97-AF65-F5344CB8AC3E}">
        <p14:creationId xmlns:p14="http://schemas.microsoft.com/office/powerpoint/2010/main" val="1578191567"/>
      </p:ext>
    </p:extLst>
  </p:cSld>
</p:sld>
</file>

<file path=ppt/slides/slide8.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5BCD9BC-429E-4C88-B711-8D11478F3F61}"/>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SPARK MLLIB</a:t>
            </a:r>
          </a:p>
        </p:txBody>
      </p:sp>
      <p:sp>
        <p:nvSpPr>
          <p:cNvPr id="2" name="">
            <a:extLst xmlns:a="http://schemas.openxmlformats.org/drawingml/2006/main">
              <a:ext uri="{FF2B5EF4-FFF2-40B4-BE49-F238E27FC236}">
                <a16:creationId xmlns:a16="http://schemas.microsoft.com/office/drawing/2014/main" id="{32A8A70A-7FBB-47B9-A7F9-AF40B19EBD26}"/>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Modellvergleich mit unabhängigem Test</a:t>
            </a:r>
          </a:p>
        </p:txBody>
      </p:sp>
      <p:sp>
        <p:nvSpPr>
          <p:cNvPr id="3" name="">
            <a:extLst xmlns:a="http://schemas.openxmlformats.org/drawingml/2006/main">
              <a:ext uri="{FF2B5EF4-FFF2-40B4-BE49-F238E27FC236}">
                <a16:creationId xmlns:a16="http://schemas.microsoft.com/office/drawing/2014/main" id="{A428FE10-BCF4-408F-A8A0-8742171FA265}"/>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3CACFC-4F86-4A5B-AC2B-1CFF5841A2D5}"/>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A7447514-54A1-44DC-8CC2-BA50004C9567}"/>
              </a:ext>
            </a:extLst>
          </p:cNvPr>
          <p:cNvSpPr>
            <a:spLocks xmlns:a="http://schemas.openxmlformats.org/drawingml/2006/main" noGrp="1"/>
          </p:cNvSpPr>
          <p:nvPr/>
        </p:nvSpPr>
        <p:spPr>
          <a:xfrm xmlns:a="http://schemas.openxmlformats.org/drawingml/2006/main">
            <a:off x="609600" y="1504950"/>
            <a:ext cx="5334000" cy="4171950"/>
          </a:xfrm>
          <a:prstGeom xmlns:a="http://schemas.openxmlformats.org/drawingml/2006/main" prst="roundRect">
            <a:avLst>
              <a:gd name="adj" fmla="val 2740"/>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B444B157-BC71-40C0-B8B8-FCDF10C7FA59}"/>
              </a:ext>
            </a:extLst>
          </p:cNvPr>
          <p:cNvSpPr>
            <a:spLocks xmlns:a="http://schemas.openxmlformats.org/drawingml/2006/main" noGrp="1"/>
          </p:cNvSpPr>
          <p:nvPr/>
        </p:nvSpPr>
        <p:spPr>
          <a:xfrm xmlns:a="http://schemas.openxmlformats.org/drawingml/2006/main">
            <a:off x="8953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102230"/>
                </a:solidFill>
                <a:latin typeface="Arial"/>
                <a:ea typeface="Arial"/>
                <a:cs typeface="Arial"/>
              </a:defRPr>
            </a:defPPr>
          </a:lstStyle>
          <a:p xmlns:a="http://schemas.openxmlformats.org/drawingml/2006/main">
            <a:pPr algn="l">
              <a:buNone/>
              <a:defRPr sz="1650" b="1">
                <a:solidFill>
                  <a:srgbClr val="102230"/>
                </a:solidFill>
                <a:latin typeface="Arial"/>
                <a:ea typeface="Arial"/>
                <a:cs typeface="Arial"/>
              </a:defRPr>
            </a:pPr>
            <a:r>
              <a:rPr sz="1650" b="1">
                <a:solidFill>
                  <a:srgbClr val="102230"/>
                </a:solidFill>
                <a:latin typeface="Arial"/>
                <a:ea typeface="Arial"/>
                <a:cs typeface="Arial"/>
              </a:rPr>
              <a:t>Regression schlägt die Baseline</a:t>
            </a:r>
          </a:p>
        </p:txBody>
      </p:sp>
      <p:sp>
        <p:nvSpPr>
          <p:cNvPr id="8" name="">
            <a:extLst xmlns:a="http://schemas.openxmlformats.org/drawingml/2006/main">
              <a:ext uri="{FF2B5EF4-FFF2-40B4-BE49-F238E27FC236}">
                <a16:creationId xmlns:a16="http://schemas.microsoft.com/office/drawing/2014/main" id="{B2D4AA30-8139-4EC3-B473-17901F41E55E}"/>
              </a:ext>
            </a:extLst>
          </p:cNvPr>
          <p:cNvSpPr>
            <a:spLocks xmlns:a="http://schemas.openxmlformats.org/drawingml/2006/main" noGrp="1"/>
          </p:cNvSpPr>
          <p:nvPr/>
        </p:nvSpPr>
        <p:spPr>
          <a:xfrm xmlns:a="http://schemas.openxmlformats.org/drawingml/2006/main">
            <a:off x="106680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l">
              <a:defRPr sz="1200" b="1">
                <a:solidFill>
                  <a:srgbClr val="2A9D6F"/>
                </a:solidFill>
                <a:latin typeface="Arial"/>
                <a:ea typeface="Arial"/>
                <a:cs typeface="Arial"/>
              </a:defRPr>
            </a:defPPr>
          </a:lstStyle>
          <a:p xmlns:a="http://schemas.openxmlformats.org/drawingml/2006/main">
            <a:pPr algn="l">
              <a:buNone/>
              <a:defRPr sz="1200" b="1">
                <a:solidFill>
                  <a:srgbClr val="2A9D6F"/>
                </a:solidFill>
                <a:latin typeface="Arial"/>
                <a:ea typeface="Arial"/>
                <a:cs typeface="Arial"/>
              </a:defRPr>
            </a:pPr>
            <a:r>
              <a:rPr sz="1200" b="1">
                <a:solidFill>
                  <a:srgbClr val="2A9D6F"/>
                </a:solidFill>
                <a:latin typeface="Arial"/>
                <a:ea typeface="Arial"/>
                <a:cs typeface="Arial"/>
              </a:rPr>
              <a:t>MAE 0,439 °C</a:t>
            </a:r>
          </a:p>
        </p:txBody>
      </p:sp>
      <p:sp>
        <p:nvSpPr>
          <p:cNvPr id="9" name="">
            <a:extLst xmlns:a="http://schemas.openxmlformats.org/drawingml/2006/main">
              <a:ext uri="{FF2B5EF4-FFF2-40B4-BE49-F238E27FC236}">
                <a16:creationId xmlns:a16="http://schemas.microsoft.com/office/drawing/2014/main" id="{8B203CD0-4D06-4E55-B05B-41AF8A2C4F54}"/>
              </a:ext>
            </a:extLst>
          </p:cNvPr>
          <p:cNvSpPr>
            <a:spLocks xmlns:a="http://schemas.openxmlformats.org/drawingml/2006/main" noGrp="1"/>
          </p:cNvSpPr>
          <p:nvPr/>
        </p:nvSpPr>
        <p:spPr>
          <a:xfrm xmlns:a="http://schemas.openxmlformats.org/drawingml/2006/main">
            <a:off x="3333750" y="49720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536675"/>
                </a:solidFill>
                <a:latin typeface="Arial"/>
                <a:ea typeface="Arial"/>
                <a:cs typeface="Arial"/>
              </a:defRPr>
            </a:defPPr>
          </a:lstStyle>
          <a:p xmlns:a="http://schemas.openxmlformats.org/drawingml/2006/main">
            <a:pPr algn="r">
              <a:buNone/>
              <a:defRPr sz="1050" b="0">
                <a:solidFill>
                  <a:srgbClr val="536675"/>
                </a:solidFill>
                <a:latin typeface="Arial"/>
                <a:ea typeface="Arial"/>
                <a:cs typeface="Arial"/>
              </a:defRPr>
            </a:pPr>
            <a:r>
              <a:rPr sz="1050" b="0">
                <a:solidFill>
                  <a:srgbClr val="536675"/>
                </a:solidFill>
                <a:latin typeface="Arial"/>
                <a:ea typeface="Arial"/>
                <a:cs typeface="Arial"/>
              </a:rPr>
              <a:t>Purged 80/20-Split</a:t>
            </a:r>
          </a:p>
        </p:txBody>
      </p:sp>
      <p:sp>
        <p:nvSpPr>
          <p:cNvPr id="10" name="">
            <a:extLst xmlns:a="http://schemas.openxmlformats.org/drawingml/2006/main">
              <a:ext uri="{FF2B5EF4-FFF2-40B4-BE49-F238E27FC236}">
                <a16:creationId xmlns:a16="http://schemas.microsoft.com/office/drawing/2014/main" id="{CA1A7D9D-6935-4FC5-9F50-63D3B150B42C}"/>
              </a:ext>
            </a:extLst>
          </p:cNvPr>
          <p:cNvSpPr>
            <a:spLocks xmlns:a="http://schemas.openxmlformats.org/drawingml/2006/main" noGrp="1"/>
          </p:cNvSpPr>
          <p:nvPr/>
        </p:nvSpPr>
        <p:spPr>
          <a:xfrm xmlns:a="http://schemas.openxmlformats.org/drawingml/2006/main">
            <a:off x="6229350" y="1504950"/>
            <a:ext cx="5353050" cy="4171950"/>
          </a:xfrm>
          <a:prstGeom xmlns:a="http://schemas.openxmlformats.org/drawingml/2006/main" prst="roundRect">
            <a:avLst>
              <a:gd name="adj" fmla="val 2740"/>
            </a:avLst>
          </a:prstGeom>
          <a:solidFill xmlns:a="http://schemas.openxmlformats.org/drawingml/2006/main">
            <a:srgbClr val="0A1822"/>
          </a:solidFill>
          <a:ln xmlns:a="http://schemas.openxmlformats.org/drawingml/2006/main" w="9525">
            <a:solidFill>
              <a:srgbClr val="0A1822"/>
            </a:solidFill>
            <a:prstDash val="solid"/>
          </a:ln>
        </p:spPr>
      </p:sp>
      <p:sp>
        <p:nvSpPr>
          <p:cNvPr id="11" name="">
            <a:extLst xmlns:a="http://schemas.openxmlformats.org/drawingml/2006/main">
              <a:ext uri="{FF2B5EF4-FFF2-40B4-BE49-F238E27FC236}">
                <a16:creationId xmlns:a16="http://schemas.microsoft.com/office/drawing/2014/main" id="{66477810-78C7-45BB-9D14-1E1199360A82}"/>
              </a:ext>
            </a:extLst>
          </p:cNvPr>
          <p:cNvSpPr>
            <a:spLocks xmlns:a="http://schemas.openxmlformats.org/drawingml/2006/main" noGrp="1"/>
          </p:cNvSpPr>
          <p:nvPr/>
        </p:nvSpPr>
        <p:spPr>
          <a:xfrm xmlns:a="http://schemas.openxmlformats.org/drawingml/2006/main">
            <a:off x="6534150" y="17526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848"/>
          </a:bodyPr>
          <a:lstStyle xmlns:a="http://schemas.openxmlformats.org/drawingml/2006/main">
            <a:defPPr algn="l">
              <a:defRPr sz="1650" b="1">
                <a:solidFill>
                  <a:srgbClr val="FFFFFF"/>
                </a:solidFill>
                <a:latin typeface="Arial"/>
                <a:ea typeface="Arial"/>
                <a:cs typeface="Arial"/>
              </a:defRPr>
            </a:defPPr>
          </a:lstStyle>
          <a:p xmlns:a="http://schemas.openxmlformats.org/drawingml/2006/main">
            <a:pPr algn="l">
              <a:buNone/>
              <a:defRPr sz="1650" b="1">
                <a:solidFill>
                  <a:srgbClr val="FFFFFF"/>
                </a:solidFill>
                <a:latin typeface="Arial"/>
                <a:ea typeface="Arial"/>
                <a:cs typeface="Arial"/>
              </a:defRPr>
            </a:pPr>
            <a:r>
              <a:rPr sz="1650" b="1">
                <a:solidFill>
                  <a:srgbClr val="FFFFFF"/>
                </a:solidFill>
                <a:latin typeface="Arial"/>
                <a:ea typeface="Arial"/>
                <a:cs typeface="Arial"/>
              </a:rPr>
              <a:t>Klassifikation erkennt beide Klassen</a:t>
            </a:r>
          </a:p>
        </p:txBody>
      </p:sp>
      <p:sp>
        <p:nvSpPr>
          <p:cNvPr id="12" name="">
            <a:extLst xmlns:a="http://schemas.openxmlformats.org/drawingml/2006/main">
              <a:ext uri="{FF2B5EF4-FFF2-40B4-BE49-F238E27FC236}">
                <a16:creationId xmlns:a16="http://schemas.microsoft.com/office/drawing/2014/main" id="{BF8E3502-0702-4043-8025-D35E42F1C2C6}"/>
              </a:ext>
            </a:extLst>
          </p:cNvPr>
          <p:cNvSpPr>
            <a:spLocks xmlns:a="http://schemas.openxmlformats.org/drawingml/2006/main" noGrp="1"/>
          </p:cNvSpPr>
          <p:nvPr/>
        </p:nvSpPr>
        <p:spPr>
          <a:xfrm xmlns:a="http://schemas.openxmlformats.org/drawingml/2006/main">
            <a:off x="65341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3" name="">
            <a:extLst xmlns:a="http://schemas.openxmlformats.org/drawingml/2006/main">
              <a:ext uri="{FF2B5EF4-FFF2-40B4-BE49-F238E27FC236}">
                <a16:creationId xmlns:a16="http://schemas.microsoft.com/office/drawing/2014/main" id="{F52A6DCE-E93D-4A6F-B4AD-23A68770AC5C}"/>
              </a:ext>
            </a:extLst>
          </p:cNvPr>
          <p:cNvSpPr>
            <a:spLocks xmlns:a="http://schemas.openxmlformats.org/drawingml/2006/main" noGrp="1"/>
          </p:cNvSpPr>
          <p:nvPr/>
        </p:nvSpPr>
        <p:spPr>
          <a:xfrm xmlns:a="http://schemas.openxmlformats.org/drawingml/2006/main">
            <a:off x="6534150" y="217170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2A4DC10-2991-4501-B660-FCEFE7F06EAC}"/>
              </a:ext>
            </a:extLst>
          </p:cNvPr>
          <p:cNvSpPr>
            <a:spLocks xmlns:a="http://schemas.openxmlformats.org/drawingml/2006/main" noGrp="1"/>
          </p:cNvSpPr>
          <p:nvPr/>
        </p:nvSpPr>
        <p:spPr>
          <a:xfrm xmlns:a="http://schemas.openxmlformats.org/drawingml/2006/main">
            <a:off x="67818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0,534</a:t>
            </a:r>
          </a:p>
        </p:txBody>
      </p:sp>
      <p:sp>
        <p:nvSpPr>
          <p:cNvPr id="15" name="">
            <a:extLst xmlns:a="http://schemas.openxmlformats.org/drawingml/2006/main">
              <a:ext uri="{FF2B5EF4-FFF2-40B4-BE49-F238E27FC236}">
                <a16:creationId xmlns:a16="http://schemas.microsoft.com/office/drawing/2014/main" id="{F30DE518-DC04-43B3-85A0-5EE085B3A6E1}"/>
              </a:ext>
            </a:extLst>
          </p:cNvPr>
          <p:cNvSpPr>
            <a:spLocks xmlns:a="http://schemas.openxmlformats.org/drawingml/2006/main" noGrp="1"/>
          </p:cNvSpPr>
          <p:nvPr/>
        </p:nvSpPr>
        <p:spPr>
          <a:xfrm xmlns:a="http://schemas.openxmlformats.org/drawingml/2006/main">
            <a:off x="67818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buNone/>
              <a:defRPr sz="1125" b="0">
                <a:solidFill>
                  <a:srgbClr val="B8C8D0"/>
                </a:solidFill>
                <a:latin typeface="Arial"/>
                <a:ea typeface="Arial"/>
                <a:cs typeface="Arial"/>
              </a:defRPr>
            </a:pPr>
            <a:r>
              <a:rPr sz="1125" b="0">
                <a:solidFill>
                  <a:srgbClr val="B8C8D0"/>
                </a:solidFill>
                <a:latin typeface="Arial"/>
                <a:ea typeface="Arial"/>
                <a:cs typeface="Arial"/>
              </a:rPr>
              <a:t>Macro-F1 final</a:t>
            </a:r>
          </a:p>
        </p:txBody>
      </p:sp>
      <p:sp>
        <p:nvSpPr>
          <p:cNvPr id="16" name="">
            <a:extLst xmlns:a="http://schemas.openxmlformats.org/drawingml/2006/main">
              <a:ext uri="{FF2B5EF4-FFF2-40B4-BE49-F238E27FC236}">
                <a16:creationId xmlns:a16="http://schemas.microsoft.com/office/drawing/2014/main" id="{33BB4D41-B03B-4D3C-B878-E2CF32792368}"/>
              </a:ext>
            </a:extLst>
          </p:cNvPr>
          <p:cNvSpPr>
            <a:spLocks xmlns:a="http://schemas.openxmlformats.org/drawingml/2006/main" noGrp="1"/>
          </p:cNvSpPr>
          <p:nvPr/>
        </p:nvSpPr>
        <p:spPr>
          <a:xfrm xmlns:a="http://schemas.openxmlformats.org/drawingml/2006/main">
            <a:off x="8896350" y="2171700"/>
            <a:ext cx="2095500" cy="1200150"/>
          </a:xfrm>
          <a:prstGeom xmlns:a="http://schemas.openxmlformats.org/drawingml/2006/main" prst="roundRect">
            <a:avLst>
              <a:gd name="adj" fmla="val 9524"/>
            </a:avLst>
          </a:prstGeom>
          <a:solidFill xmlns:a="http://schemas.openxmlformats.org/drawingml/2006/main">
            <a:srgbClr val="132C39"/>
          </a:solidFill>
          <a:ln xmlns:a="http://schemas.openxmlformats.org/drawingml/2006/main" w="9525">
            <a:solidFill>
              <a:srgbClr val="31505D"/>
            </a:solidFill>
            <a:prstDash val="solid"/>
          </a:ln>
        </p:spPr>
      </p:sp>
      <p:sp>
        <p:nvSpPr>
          <p:cNvPr id="17" name="">
            <a:extLst xmlns:a="http://schemas.openxmlformats.org/drawingml/2006/main">
              <a:ext uri="{FF2B5EF4-FFF2-40B4-BE49-F238E27FC236}">
                <a16:creationId xmlns:a16="http://schemas.microsoft.com/office/drawing/2014/main" id="{7499C63D-EE13-4CD6-A230-2E16F0A1993A}"/>
              </a:ext>
            </a:extLst>
          </p:cNvPr>
          <p:cNvSpPr>
            <a:spLocks xmlns:a="http://schemas.openxmlformats.org/drawingml/2006/main" noGrp="1"/>
          </p:cNvSpPr>
          <p:nvPr/>
        </p:nvSpPr>
        <p:spPr>
          <a:xfrm xmlns:a="http://schemas.openxmlformats.org/drawingml/2006/main">
            <a:off x="8896350" y="217170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C4EBAE-BD04-4D4D-9879-4510C2CF2F9E}"/>
              </a:ext>
            </a:extLst>
          </p:cNvPr>
          <p:cNvSpPr>
            <a:spLocks xmlns:a="http://schemas.openxmlformats.org/drawingml/2006/main" noGrp="1"/>
          </p:cNvSpPr>
          <p:nvPr/>
        </p:nvSpPr>
        <p:spPr>
          <a:xfrm xmlns:a="http://schemas.openxmlformats.org/drawingml/2006/main">
            <a:off x="9144000" y="2381250"/>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FFFFFF"/>
                </a:solidFill>
                <a:latin typeface="Arial"/>
                <a:ea typeface="Arial"/>
                <a:cs typeface="Arial"/>
              </a:defRPr>
            </a:defPPr>
          </a:lstStyle>
          <a:p xmlns:a="http://schemas.openxmlformats.org/drawingml/2006/main">
            <a:pPr algn="l">
              <a:buNone/>
              <a:defRPr sz="2400" b="1">
                <a:solidFill>
                  <a:srgbClr val="FFFFFF"/>
                </a:solidFill>
                <a:latin typeface="Arial"/>
                <a:ea typeface="Arial"/>
                <a:cs typeface="Arial"/>
              </a:defRPr>
            </a:pPr>
            <a:r>
              <a:rPr sz="2400" b="1">
                <a:solidFill>
                  <a:srgbClr val="FFFFFF"/>
                </a:solidFill>
                <a:latin typeface="Arial"/>
                <a:ea typeface="Arial"/>
                <a:cs typeface="Arial"/>
              </a:rPr>
              <a:t>0,432</a:t>
            </a:r>
          </a:p>
        </p:txBody>
      </p:sp>
      <p:sp>
        <p:nvSpPr>
          <p:cNvPr id="19" name="">
            <a:extLst xmlns:a="http://schemas.openxmlformats.org/drawingml/2006/main">
              <a:ext uri="{FF2B5EF4-FFF2-40B4-BE49-F238E27FC236}">
                <a16:creationId xmlns:a16="http://schemas.microsoft.com/office/drawing/2014/main" id="{F0522721-77CB-48E6-B02E-1324408C6442}"/>
              </a:ext>
            </a:extLst>
          </p:cNvPr>
          <p:cNvSpPr>
            <a:spLocks xmlns:a="http://schemas.openxmlformats.org/drawingml/2006/main" noGrp="1"/>
          </p:cNvSpPr>
          <p:nvPr/>
        </p:nvSpPr>
        <p:spPr>
          <a:xfrm xmlns:a="http://schemas.openxmlformats.org/drawingml/2006/main">
            <a:off x="9144000" y="289560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B8C8D0"/>
                </a:solidFill>
                <a:latin typeface="Arial"/>
                <a:ea typeface="Arial"/>
                <a:cs typeface="Arial"/>
              </a:defRPr>
            </a:defPPr>
          </a:lstStyle>
          <a:p xmlns:a="http://schemas.openxmlformats.org/drawingml/2006/main">
            <a:pPr algn="l">
              <a:buNone/>
              <a:defRPr sz="1125" b="0">
                <a:solidFill>
                  <a:srgbClr val="B8C8D0"/>
                </a:solidFill>
                <a:latin typeface="Arial"/>
                <a:ea typeface="Arial"/>
                <a:cs typeface="Arial"/>
              </a:defRPr>
            </a:pPr>
            <a:r>
              <a:rPr sz="1125" b="0">
                <a:solidFill>
                  <a:srgbClr val="B8C8D0"/>
                </a:solidFill>
                <a:latin typeface="Arial"/>
                <a:ea typeface="Arial"/>
                <a:cs typeface="Arial"/>
              </a:rPr>
              <a:t>Majority-Baseline</a:t>
            </a:r>
          </a:p>
        </p:txBody>
      </p:sp>
      <p:sp>
        <p:nvSpPr>
          <p:cNvPr id="20" name="">
            <a:extLst xmlns:a="http://schemas.openxmlformats.org/drawingml/2006/main">
              <a:ext uri="{FF2B5EF4-FFF2-40B4-BE49-F238E27FC236}">
                <a16:creationId xmlns:a16="http://schemas.microsoft.com/office/drawing/2014/main" id="{52ADF2F7-4FE4-4D77-BB79-3852FB51E606}"/>
              </a:ext>
            </a:extLst>
          </p:cNvPr>
          <p:cNvSpPr>
            <a:spLocks xmlns:a="http://schemas.openxmlformats.org/drawingml/2006/main" noGrp="1"/>
          </p:cNvSpPr>
          <p:nvPr/>
        </p:nvSpPr>
        <p:spPr>
          <a:xfrm xmlns:a="http://schemas.openxmlformats.org/drawingml/2006/main">
            <a:off x="6534150" y="35433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B8C8D0"/>
                </a:solidFill>
                <a:latin typeface="Arial"/>
                <a:ea typeface="Arial"/>
                <a:cs typeface="Arial"/>
              </a:defRPr>
            </a:defPPr>
          </a:lstStyle>
          <a:p xmlns:a="http://schemas.openxmlformats.org/drawingml/2006/main">
            <a:pPr algn="l">
              <a:buNone/>
              <a:defRPr sz="1125" b="1">
                <a:solidFill>
                  <a:srgbClr val="B8C8D0"/>
                </a:solidFill>
                <a:latin typeface="Arial"/>
                <a:ea typeface="Arial"/>
                <a:cs typeface="Arial"/>
              </a:defRPr>
            </a:pPr>
            <a:r>
              <a:rPr sz="1125" b="1">
                <a:solidFill>
                  <a:srgbClr val="B8C8D0"/>
                </a:solidFill>
                <a:latin typeface="Arial"/>
                <a:ea typeface="Arial"/>
                <a:cs typeface="Arial"/>
              </a:rPr>
              <a:t>Confusion Matrix</a:t>
            </a:r>
          </a:p>
        </p:txBody>
      </p:sp>
      <p:sp>
        <p:nvSpPr>
          <p:cNvPr id="21" name="">
            <a:extLst xmlns:a="http://schemas.openxmlformats.org/drawingml/2006/main">
              <a:ext uri="{FF2B5EF4-FFF2-40B4-BE49-F238E27FC236}">
                <a16:creationId xmlns:a16="http://schemas.microsoft.com/office/drawing/2014/main" id="{530B35CD-FA07-446F-8BEC-3231494F18A4}"/>
              </a:ext>
            </a:extLst>
          </p:cNvPr>
          <p:cNvSpPr>
            <a:spLocks xmlns:a="http://schemas.openxmlformats.org/drawingml/2006/main" noGrp="1"/>
          </p:cNvSpPr>
          <p:nvPr/>
        </p:nvSpPr>
        <p:spPr>
          <a:xfrm xmlns:a="http://schemas.openxmlformats.org/drawingml/2006/main">
            <a:off x="6534150"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22" name="">
            <a:extLst xmlns:a="http://schemas.openxmlformats.org/drawingml/2006/main">
              <a:ext uri="{FF2B5EF4-FFF2-40B4-BE49-F238E27FC236}">
                <a16:creationId xmlns:a16="http://schemas.microsoft.com/office/drawing/2014/main" id="{DF760F0A-6A08-4BA3-B79E-9B46A6E6B681}"/>
              </a:ext>
            </a:extLst>
          </p:cNvPr>
          <p:cNvSpPr>
            <a:spLocks xmlns:a="http://schemas.openxmlformats.org/drawingml/2006/main" noGrp="1"/>
          </p:cNvSpPr>
          <p:nvPr/>
        </p:nvSpPr>
        <p:spPr>
          <a:xfrm xmlns:a="http://schemas.openxmlformats.org/drawingml/2006/main">
            <a:off x="661035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41</a:t>
            </a:r>
          </a:p>
        </p:txBody>
      </p:sp>
      <p:sp>
        <p:nvSpPr>
          <p:cNvPr id="23" name="">
            <a:extLst xmlns:a="http://schemas.openxmlformats.org/drawingml/2006/main">
              <a:ext uri="{FF2B5EF4-FFF2-40B4-BE49-F238E27FC236}">
                <a16:creationId xmlns:a16="http://schemas.microsoft.com/office/drawing/2014/main" id="{2534AFF7-8856-4B3C-B0A6-A193975EAE0F}"/>
              </a:ext>
            </a:extLst>
          </p:cNvPr>
          <p:cNvSpPr>
            <a:spLocks xmlns:a="http://schemas.openxmlformats.org/drawingml/2006/main" noGrp="1"/>
          </p:cNvSpPr>
          <p:nvPr/>
        </p:nvSpPr>
        <p:spPr>
          <a:xfrm xmlns:a="http://schemas.openxmlformats.org/drawingml/2006/main">
            <a:off x="661035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TN</a:t>
            </a:r>
          </a:p>
        </p:txBody>
      </p:sp>
      <p:sp>
        <p:nvSpPr>
          <p:cNvPr id="24" name="">
            <a:extLst xmlns:a="http://schemas.openxmlformats.org/drawingml/2006/main">
              <a:ext uri="{FF2B5EF4-FFF2-40B4-BE49-F238E27FC236}">
                <a16:creationId xmlns:a16="http://schemas.microsoft.com/office/drawing/2014/main" id="{98A5B49E-37E4-45DF-8160-04B60CAF3374}"/>
              </a:ext>
            </a:extLst>
          </p:cNvPr>
          <p:cNvSpPr>
            <a:spLocks xmlns:a="http://schemas.openxmlformats.org/drawingml/2006/main" noGrp="1"/>
          </p:cNvSpPr>
          <p:nvPr/>
        </p:nvSpPr>
        <p:spPr>
          <a:xfrm xmlns:a="http://schemas.openxmlformats.org/drawingml/2006/main">
            <a:off x="7648575"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5" name="">
            <a:extLst xmlns:a="http://schemas.openxmlformats.org/drawingml/2006/main">
              <a:ext uri="{FF2B5EF4-FFF2-40B4-BE49-F238E27FC236}">
                <a16:creationId xmlns:a16="http://schemas.microsoft.com/office/drawing/2014/main" id="{5887B7E3-9BD6-452C-80CD-CA3E0985FF34}"/>
              </a:ext>
            </a:extLst>
          </p:cNvPr>
          <p:cNvSpPr>
            <a:spLocks xmlns:a="http://schemas.openxmlformats.org/drawingml/2006/main" noGrp="1"/>
          </p:cNvSpPr>
          <p:nvPr/>
        </p:nvSpPr>
        <p:spPr>
          <a:xfrm xmlns:a="http://schemas.openxmlformats.org/drawingml/2006/main">
            <a:off x="772477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187</a:t>
            </a:r>
          </a:p>
        </p:txBody>
      </p:sp>
      <p:sp>
        <p:nvSpPr>
          <p:cNvPr id="26" name="">
            <a:extLst xmlns:a="http://schemas.openxmlformats.org/drawingml/2006/main">
              <a:ext uri="{FF2B5EF4-FFF2-40B4-BE49-F238E27FC236}">
                <a16:creationId xmlns:a16="http://schemas.microsoft.com/office/drawing/2014/main" id="{5E3CD1B9-F9B0-483D-A736-21BC8DB42991}"/>
              </a:ext>
            </a:extLst>
          </p:cNvPr>
          <p:cNvSpPr>
            <a:spLocks xmlns:a="http://schemas.openxmlformats.org/drawingml/2006/main" noGrp="1"/>
          </p:cNvSpPr>
          <p:nvPr/>
        </p:nvSpPr>
        <p:spPr>
          <a:xfrm xmlns:a="http://schemas.openxmlformats.org/drawingml/2006/main">
            <a:off x="772477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FP</a:t>
            </a:r>
          </a:p>
        </p:txBody>
      </p:sp>
      <p:sp>
        <p:nvSpPr>
          <p:cNvPr id="27" name="">
            <a:extLst xmlns:a="http://schemas.openxmlformats.org/drawingml/2006/main">
              <a:ext uri="{FF2B5EF4-FFF2-40B4-BE49-F238E27FC236}">
                <a16:creationId xmlns:a16="http://schemas.microsoft.com/office/drawing/2014/main" id="{4E2AAFEC-4DFC-4F20-BFAE-E8B0D694A232}"/>
              </a:ext>
            </a:extLst>
          </p:cNvPr>
          <p:cNvSpPr>
            <a:spLocks xmlns:a="http://schemas.openxmlformats.org/drawingml/2006/main" noGrp="1"/>
          </p:cNvSpPr>
          <p:nvPr/>
        </p:nvSpPr>
        <p:spPr>
          <a:xfrm xmlns:a="http://schemas.openxmlformats.org/drawingml/2006/main">
            <a:off x="8763000" y="3886200"/>
            <a:ext cx="971550" cy="723900"/>
          </a:xfrm>
          <a:prstGeom xmlns:a="http://schemas.openxmlformats.org/drawingml/2006/main" prst="roundRect">
            <a:avLst>
              <a:gd name="adj" fmla="val 15789"/>
            </a:avLst>
          </a:prstGeom>
          <a:solidFill xmlns:a="http://schemas.openxmlformats.org/drawingml/2006/main">
            <a:srgbClr val="351D1B"/>
          </a:solidFill>
          <a:ln xmlns:a="http://schemas.openxmlformats.org/drawingml/2006/main" w="9525">
            <a:solidFill>
              <a:srgbClr val="734039"/>
            </a:solidFill>
            <a:prstDash val="solid"/>
          </a:ln>
        </p:spPr>
      </p:sp>
      <p:sp>
        <p:nvSpPr>
          <p:cNvPr id="28" name="">
            <a:extLst xmlns:a="http://schemas.openxmlformats.org/drawingml/2006/main">
              <a:ext uri="{FF2B5EF4-FFF2-40B4-BE49-F238E27FC236}">
                <a16:creationId xmlns:a16="http://schemas.microsoft.com/office/drawing/2014/main" id="{60957BAC-C93D-4326-9D39-A4D9C3E11C04}"/>
              </a:ext>
            </a:extLst>
          </p:cNvPr>
          <p:cNvSpPr>
            <a:spLocks xmlns:a="http://schemas.openxmlformats.org/drawingml/2006/main" noGrp="1"/>
          </p:cNvSpPr>
          <p:nvPr/>
        </p:nvSpPr>
        <p:spPr>
          <a:xfrm xmlns:a="http://schemas.openxmlformats.org/drawingml/2006/main">
            <a:off x="8839200"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76</a:t>
            </a:r>
          </a:p>
        </p:txBody>
      </p:sp>
      <p:sp>
        <p:nvSpPr>
          <p:cNvPr id="29" name="">
            <a:extLst xmlns:a="http://schemas.openxmlformats.org/drawingml/2006/main">
              <a:ext uri="{FF2B5EF4-FFF2-40B4-BE49-F238E27FC236}">
                <a16:creationId xmlns:a16="http://schemas.microsoft.com/office/drawing/2014/main" id="{98B7F333-6C93-4ACF-BFB1-B98EE12D3EF9}"/>
              </a:ext>
            </a:extLst>
          </p:cNvPr>
          <p:cNvSpPr>
            <a:spLocks xmlns:a="http://schemas.openxmlformats.org/drawingml/2006/main" noGrp="1"/>
          </p:cNvSpPr>
          <p:nvPr/>
        </p:nvSpPr>
        <p:spPr>
          <a:xfrm xmlns:a="http://schemas.openxmlformats.org/drawingml/2006/main">
            <a:off x="8839200"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FN</a:t>
            </a:r>
          </a:p>
        </p:txBody>
      </p:sp>
      <p:sp>
        <p:nvSpPr>
          <p:cNvPr id="30" name="">
            <a:extLst xmlns:a="http://schemas.openxmlformats.org/drawingml/2006/main">
              <a:ext uri="{FF2B5EF4-FFF2-40B4-BE49-F238E27FC236}">
                <a16:creationId xmlns:a16="http://schemas.microsoft.com/office/drawing/2014/main" id="{1DF70EF8-CACD-4EE5-8223-A1FCA90D0FF8}"/>
              </a:ext>
            </a:extLst>
          </p:cNvPr>
          <p:cNvSpPr>
            <a:spLocks xmlns:a="http://schemas.openxmlformats.org/drawingml/2006/main" noGrp="1"/>
          </p:cNvSpPr>
          <p:nvPr/>
        </p:nvSpPr>
        <p:spPr>
          <a:xfrm xmlns:a="http://schemas.openxmlformats.org/drawingml/2006/main">
            <a:off x="9877425" y="3886200"/>
            <a:ext cx="971550" cy="723900"/>
          </a:xfrm>
          <a:prstGeom xmlns:a="http://schemas.openxmlformats.org/drawingml/2006/main" prst="roundRect">
            <a:avLst>
              <a:gd name="adj" fmla="val 15789"/>
            </a:avLst>
          </a:prstGeom>
          <a:solidFill xmlns:a="http://schemas.openxmlformats.org/drawingml/2006/main">
            <a:srgbClr val="173F35"/>
          </a:solidFill>
          <a:ln xmlns:a="http://schemas.openxmlformats.org/drawingml/2006/main" w="9525">
            <a:solidFill>
              <a:srgbClr val="2D6A58"/>
            </a:solidFill>
            <a:prstDash val="solid"/>
          </a:ln>
        </p:spPr>
      </p:sp>
      <p:sp>
        <p:nvSpPr>
          <p:cNvPr id="31" name="">
            <a:extLst xmlns:a="http://schemas.openxmlformats.org/drawingml/2006/main">
              <a:ext uri="{FF2B5EF4-FFF2-40B4-BE49-F238E27FC236}">
                <a16:creationId xmlns:a16="http://schemas.microsoft.com/office/drawing/2014/main" id="{5A63AECE-05A3-41B5-9ADB-80FE1E1F6FB7}"/>
              </a:ext>
            </a:extLst>
          </p:cNvPr>
          <p:cNvSpPr>
            <a:spLocks xmlns:a="http://schemas.openxmlformats.org/drawingml/2006/main" noGrp="1"/>
          </p:cNvSpPr>
          <p:nvPr/>
        </p:nvSpPr>
        <p:spPr>
          <a:xfrm xmlns:a="http://schemas.openxmlformats.org/drawingml/2006/main">
            <a:off x="9953625" y="3990975"/>
            <a:ext cx="819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0833"/>
          </a:bodyPr>
          <a:lstStyle xmlns:a="http://schemas.openxmlformats.org/drawingml/2006/main">
            <a:defPPr algn="ctr">
              <a:defRPr sz="1800" b="1">
                <a:solidFill>
                  <a:srgbClr val="FFFFFF"/>
                </a:solidFill>
                <a:latin typeface="Arial"/>
                <a:ea typeface="Arial"/>
                <a:cs typeface="Arial"/>
              </a:defRPr>
            </a:defPPr>
          </a:lstStyle>
          <a:p xmlns:a="http://schemas.openxmlformats.org/drawingml/2006/main">
            <a:pPr algn="ctr">
              <a:buNone/>
              <a:defRPr sz="1800" b="1">
                <a:solidFill>
                  <a:srgbClr val="FFFFFF"/>
                </a:solidFill>
                <a:latin typeface="Arial"/>
                <a:ea typeface="Arial"/>
                <a:cs typeface="Arial"/>
              </a:defRPr>
            </a:pPr>
            <a:r>
              <a:rPr sz="1800" b="1">
                <a:solidFill>
                  <a:srgbClr val="FFFFFF"/>
                </a:solidFill>
                <a:latin typeface="Arial"/>
                <a:ea typeface="Arial"/>
                <a:cs typeface="Arial"/>
              </a:rPr>
              <a:t>646</a:t>
            </a:r>
          </a:p>
        </p:txBody>
      </p:sp>
      <p:sp>
        <p:nvSpPr>
          <p:cNvPr id="32" name="">
            <a:extLst xmlns:a="http://schemas.openxmlformats.org/drawingml/2006/main">
              <a:ext uri="{FF2B5EF4-FFF2-40B4-BE49-F238E27FC236}">
                <a16:creationId xmlns:a16="http://schemas.microsoft.com/office/drawing/2014/main" id="{AD52C7A9-820D-40DD-84B5-956EB445E401}"/>
              </a:ext>
            </a:extLst>
          </p:cNvPr>
          <p:cNvSpPr>
            <a:spLocks xmlns:a="http://schemas.openxmlformats.org/drawingml/2006/main" noGrp="1"/>
          </p:cNvSpPr>
          <p:nvPr/>
        </p:nvSpPr>
        <p:spPr>
          <a:xfrm xmlns:a="http://schemas.openxmlformats.org/drawingml/2006/main">
            <a:off x="9953625" y="4305300"/>
            <a:ext cx="819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58333"/>
          </a:bodyPr>
          <a:lstStyle xmlns:a="http://schemas.openxmlformats.org/drawingml/2006/main">
            <a:defPPr algn="ctr">
              <a:defRPr sz="900" b="1">
                <a:solidFill>
                  <a:srgbClr val="B8C8D0"/>
                </a:solidFill>
                <a:latin typeface="Arial"/>
                <a:ea typeface="Arial"/>
                <a:cs typeface="Arial"/>
              </a:defRPr>
            </a:defPPr>
          </a:lstStyle>
          <a:p xmlns:a="http://schemas.openxmlformats.org/drawingml/2006/main">
            <a:pPr algn="ctr">
              <a:buNone/>
              <a:defRPr sz="900" b="1">
                <a:solidFill>
                  <a:srgbClr val="B8C8D0"/>
                </a:solidFill>
                <a:latin typeface="Arial"/>
                <a:ea typeface="Arial"/>
                <a:cs typeface="Arial"/>
              </a:defRPr>
            </a:pPr>
            <a:r>
              <a:rPr sz="900" b="1">
                <a:solidFill>
                  <a:srgbClr val="B8C8D0"/>
                </a:solidFill>
                <a:latin typeface="Arial"/>
                <a:ea typeface="Arial"/>
                <a:cs typeface="Arial"/>
              </a:rPr>
              <a:t>TP</a:t>
            </a:r>
          </a:p>
        </p:txBody>
      </p:sp>
      <p:sp>
        <p:nvSpPr>
          <p:cNvPr id="33" name="">
            <a:extLst xmlns:a="http://schemas.openxmlformats.org/drawingml/2006/main">
              <a:ext uri="{FF2B5EF4-FFF2-40B4-BE49-F238E27FC236}">
                <a16:creationId xmlns:a16="http://schemas.microsoft.com/office/drawing/2014/main" id="{A0017D04-1EA2-4AD3-ADA9-E8ECC056D9A4}"/>
              </a:ext>
            </a:extLst>
          </p:cNvPr>
          <p:cNvSpPr>
            <a:spLocks xmlns:a="http://schemas.openxmlformats.org/drawingml/2006/main" noGrp="1"/>
          </p:cNvSpPr>
          <p:nvPr/>
        </p:nvSpPr>
        <p:spPr>
          <a:xfrm xmlns:a="http://schemas.openxmlformats.org/drawingml/2006/main">
            <a:off x="6534150" y="4838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l">
              <a:defRPr sz="1125" b="1">
                <a:solidFill>
                  <a:srgbClr val="FFFFFF"/>
                </a:solidFill>
                <a:latin typeface="Arial"/>
                <a:ea typeface="Arial"/>
                <a:cs typeface="Arial"/>
              </a:defRPr>
            </a:defPPr>
          </a:lstStyle>
          <a:p xmlns:a="http://schemas.openxmlformats.org/drawingml/2006/main">
            <a:pPr algn="l">
              <a:buNone/>
              <a:defRPr sz="1125" b="1">
                <a:solidFill>
                  <a:srgbClr val="FFFFFF"/>
                </a:solidFill>
                <a:latin typeface="Arial"/>
                <a:ea typeface="Arial"/>
                <a:cs typeface="Arial"/>
              </a:defRPr>
            </a:pPr>
            <a:r>
              <a:rPr sz="1125" b="1">
                <a:solidFill>
                  <a:srgbClr val="FFFFFF"/>
                </a:solidFill>
                <a:latin typeface="Arial"/>
                <a:ea typeface="Arial"/>
                <a:cs typeface="Arial"/>
              </a:rPr>
              <a:t>950 Testzeilen</a:t>
            </a:r>
          </a:p>
        </p:txBody>
      </p:sp>
      <p:sp>
        <p:nvSpPr>
          <p:cNvPr id="34" name="">
            <a:extLst xmlns:a="http://schemas.openxmlformats.org/drawingml/2006/main">
              <a:ext uri="{FF2B5EF4-FFF2-40B4-BE49-F238E27FC236}">
                <a16:creationId xmlns:a16="http://schemas.microsoft.com/office/drawing/2014/main" id="{84E920DE-54E2-4DA2-A24C-A1D06865785C}"/>
              </a:ext>
            </a:extLst>
          </p:cNvPr>
          <p:cNvSpPr>
            <a:spLocks xmlns:a="http://schemas.openxmlformats.org/drawingml/2006/main" noGrp="1"/>
          </p:cNvSpPr>
          <p:nvPr/>
        </p:nvSpPr>
        <p:spPr>
          <a:xfrm xmlns:a="http://schemas.openxmlformats.org/drawingml/2006/main">
            <a:off x="8229600" y="483870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5714"/>
          </a:bodyPr>
          <a:lstStyle xmlns:a="http://schemas.openxmlformats.org/drawingml/2006/main">
            <a:defPPr algn="r">
              <a:defRPr sz="1050" b="0">
                <a:solidFill>
                  <a:srgbClr val="B8C8D0"/>
                </a:solidFill>
                <a:latin typeface="Arial"/>
                <a:ea typeface="Arial"/>
                <a:cs typeface="Arial"/>
              </a:defRPr>
            </a:defPPr>
          </a:lstStyle>
          <a:p xmlns:a="http://schemas.openxmlformats.org/drawingml/2006/main">
            <a:pPr algn="r">
              <a:buNone/>
              <a:defRPr sz="1050" b="0">
                <a:solidFill>
                  <a:srgbClr val="B8C8D0"/>
                </a:solidFill>
                <a:latin typeface="Arial"/>
                <a:ea typeface="Arial"/>
                <a:cs typeface="Arial"/>
              </a:defRPr>
            </a:pPr>
            <a:r>
              <a:rPr sz="1050" b="0">
                <a:solidFill>
                  <a:srgbClr val="B8C8D0"/>
                </a:solidFill>
                <a:latin typeface="Arial"/>
                <a:ea typeface="Arial"/>
                <a:cs typeface="Arial"/>
              </a:rPr>
              <a:t>Threshold 0,58 auf Validierung festgelegt</a:t>
            </a:r>
          </a:p>
        </p:txBody>
      </p:sp>
      <p:sp>
        <p:nvSpPr>
          <p:cNvPr id="35" name="">
            <a:extLst xmlns:a="http://schemas.openxmlformats.org/drawingml/2006/main">
              <a:ext uri="{FF2B5EF4-FFF2-40B4-BE49-F238E27FC236}">
                <a16:creationId xmlns:a16="http://schemas.microsoft.com/office/drawing/2014/main" id="{46868DD4-3321-476E-AABD-4C58D537AB9A}"/>
              </a:ext>
            </a:extLst>
          </p:cNvPr>
          <p:cNvSpPr>
            <a:spLocks xmlns:a="http://schemas.openxmlformats.org/drawingml/2006/main" noGrp="1"/>
          </p:cNvSpPr>
          <p:nvPr/>
        </p:nvSpPr>
        <p:spPr>
          <a:xfrm xmlns:a="http://schemas.openxmlformats.org/drawingml/2006/main">
            <a:off x="6572250" y="5219700"/>
            <a:ext cx="4362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0000"/>
          </a:bodyPr>
          <a:lstStyle xmlns:a="http://schemas.openxmlformats.org/drawingml/2006/main">
            <a:defPPr algn="ctr">
              <a:defRPr sz="1125" b="1">
                <a:solidFill>
                  <a:srgbClr val="F4A261"/>
                </a:solidFill>
                <a:latin typeface="Arial"/>
                <a:ea typeface="Arial"/>
                <a:cs typeface="Arial"/>
              </a:defRPr>
            </a:defPPr>
          </a:lstStyle>
          <a:p xmlns:a="http://schemas.openxmlformats.org/drawingml/2006/main">
            <a:pPr algn="ctr">
              <a:buNone/>
              <a:defRPr sz="1125" b="1">
                <a:solidFill>
                  <a:srgbClr val="F4A261"/>
                </a:solidFill>
                <a:latin typeface="Arial"/>
                <a:ea typeface="Arial"/>
                <a:cs typeface="Arial"/>
              </a:defRPr>
            </a:pPr>
            <a:r>
              <a:rPr sz="1125" b="1">
                <a:solidFill>
                  <a:srgbClr val="F4A261"/>
                </a:solidFill>
                <a:latin typeface="Arial"/>
                <a:ea typeface="Arial"/>
                <a:cs typeface="Arial"/>
              </a:rPr>
              <a:t>Klasse 0 Recall 0,180: Trennung bleibt schwach</a:t>
            </a:r>
          </a:p>
        </p:txBody>
      </p:sp>
      <p:sp>
        <p:nvSpPr>
          <p:cNvPr id="36" name="">
            <a:extLst xmlns:a="http://schemas.openxmlformats.org/drawingml/2006/main">
              <a:ext uri="{FF2B5EF4-FFF2-40B4-BE49-F238E27FC236}">
                <a16:creationId xmlns:a16="http://schemas.microsoft.com/office/drawing/2014/main" id="{CC9C0D64-36A6-4AE4-883D-F90004E58DB9}"/>
              </a:ext>
            </a:extLst>
          </p:cNvPr>
          <p:cNvSpPr>
            <a:spLocks xmlns:a="http://schemas.openxmlformats.org/drawingml/2006/main" noGrp="1"/>
          </p:cNvSpPr>
          <p:nvPr/>
        </p:nvSpPr>
        <p:spPr>
          <a:xfrm xmlns:a="http://schemas.openxmlformats.org/drawingml/2006/main">
            <a:off x="762000" y="5905500"/>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536675"/>
                </a:solidFill>
                <a:latin typeface="Arial"/>
                <a:ea typeface="Arial"/>
                <a:cs typeface="Arial"/>
              </a:defRPr>
            </a:defPPr>
          </a:lstStyle>
          <a:p xmlns:a="http://schemas.openxmlformats.org/drawingml/2006/main">
            <a:pPr algn="ctr">
              <a:buNone/>
              <a:defRPr sz="1200" b="1">
                <a:solidFill>
                  <a:srgbClr val="536675"/>
                </a:solidFill>
                <a:latin typeface="Arial"/>
                <a:ea typeface="Arial"/>
                <a:cs typeface="Arial"/>
              </a:defRPr>
            </a:pPr>
            <a:r>
              <a:rPr sz="1200" b="1">
                <a:solidFill>
                  <a:srgbClr val="536675"/>
                </a:solidFill>
                <a:latin typeface="Arial"/>
                <a:ea typeface="Arial"/>
                <a:cs typeface="Arial"/>
              </a:rPr>
              <a:t>KMeans: Silhouette 0,554 · kleiner Anomaliecluster n=80</a:t>
            </a:r>
          </a:p>
        </p:txBody>
      </p:sp>
      <p:graphicFrame>
        <p:nvGraphicFramePr>
          <p:cNvPr id="38" name="Chart">
            <a:extLst xmlns:a="http://schemas.openxmlformats.org/drawingml/2006/main">
              <a:ext uri="{FF2B5EF4-FFF2-40B4-BE49-F238E27FC236}">
                <a16:creationId xmlns:a16="http://schemas.microsoft.com/office/drawing/2014/main" id="{D5FDCA8F-CB8B-4EFA-B853-6D58FB9B486C}"/>
              </a:ext>
            </a:extLst>
          </p:cNvPr>
          <p:cNvGraphicFramePr/>
          <p:nvPr/>
        </p:nvGraphicFramePr>
        <p:xfrm>
          <a:off xmlns:a="http://schemas.openxmlformats.org/drawingml/2006/main" x="895350" y="2190750"/>
          <a:ext xmlns:a="http://schemas.openxmlformats.org/drawingml/2006/main" cx="4714875" cy="2476500"/>
        </p:xfrm>
        <a:graphic xmlns:a="http://schemas.openxmlformats.org/drawingml/2006/main">
          <a:graphicData uri="http://schemas.openxmlformats.org/drawingml/2006/chart">
            <c:chart xmlns:r="http://schemas.openxmlformats.org/officeDocument/2006/relationships" xmlns:c="http://schemas.openxmlformats.org/drawingml/2006/chart" r:id="R33b62352fad64ce7"/>
          </a:graphicData>
        </a:graphic>
      </p:graphicFrame>
    </p:spTree>
    <p:extLst>
      <p:ext uri="{BB962C8B-B14F-4D97-AF65-F5344CB8AC3E}">
        <p14:creationId xmlns:p14="http://schemas.microsoft.com/office/powerpoint/2010/main" val="885646780"/>
      </p:ext>
    </p:extLst>
  </p:cSld>
</p:sld>
</file>

<file path=ppt/slides/slide9.xml><?xml version="1.0" encoding="utf-8"?>
<p:sld xmlns:p="http://schemas.openxmlformats.org/presentationml/2006/main">
  <p:cSld>
    <p:bg>
      <p:bgPr>
        <a:solidFill xmlns:a="http://schemas.openxmlformats.org/drawingml/2006/main">
          <a:srgbClr val="F3F7F8"/>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805E828F-3A68-47E6-879A-C209DAFFAB7D}"/>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1B7F8C"/>
                </a:solidFill>
                <a:latin typeface="Arial"/>
                <a:ea typeface="Arial"/>
                <a:cs typeface="Arial"/>
              </a:defRPr>
            </a:defPPr>
          </a:lstStyle>
          <a:p xmlns:a="http://schemas.openxmlformats.org/drawingml/2006/main">
            <a:pPr algn="l">
              <a:buNone/>
              <a:defRPr sz="900" b="1">
                <a:solidFill>
                  <a:srgbClr val="1B7F8C"/>
                </a:solidFill>
                <a:latin typeface="Arial"/>
                <a:ea typeface="Arial"/>
                <a:cs typeface="Arial"/>
              </a:defRPr>
            </a:pPr>
            <a:r>
              <a:rPr sz="900" b="1">
                <a:solidFill>
                  <a:srgbClr val="1B7F8C"/>
                </a:solidFill>
                <a:latin typeface="Arial"/>
                <a:ea typeface="Arial"/>
                <a:cs typeface="Arial"/>
              </a:rPr>
              <a:t>ERGEBNISSE &amp; LIVE-DEMO</a:t>
            </a:r>
          </a:p>
        </p:txBody>
      </p:sp>
      <p:sp>
        <p:nvSpPr>
          <p:cNvPr id="2" name="">
            <a:extLst xmlns:a="http://schemas.openxmlformats.org/drawingml/2006/main">
              <a:ext uri="{FF2B5EF4-FFF2-40B4-BE49-F238E27FC236}">
                <a16:creationId xmlns:a16="http://schemas.microsoft.com/office/drawing/2014/main" id="{81C710A4-56D7-4785-9341-482541673E07}"/>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102230"/>
                </a:solidFill>
                <a:latin typeface="Arial"/>
                <a:ea typeface="Arial"/>
                <a:cs typeface="Arial"/>
              </a:defRPr>
            </a:defPPr>
          </a:lstStyle>
          <a:p xmlns:a="http://schemas.openxmlformats.org/drawingml/2006/main">
            <a:pPr algn="l">
              <a:buNone/>
              <a:defRPr sz="2550" b="1">
                <a:solidFill>
                  <a:srgbClr val="102230"/>
                </a:solidFill>
                <a:latin typeface="Arial"/>
                <a:ea typeface="Arial"/>
                <a:cs typeface="Arial"/>
              </a:defRPr>
            </a:pPr>
            <a:r>
              <a:rPr sz="2550" b="1">
                <a:solidFill>
                  <a:srgbClr val="102230"/>
                </a:solidFill>
                <a:latin typeface="Arial"/>
                <a:ea typeface="Arial"/>
                <a:cs typeface="Arial"/>
              </a:rPr>
              <a:t>Full-Run-Evidenz auf einen Blick</a:t>
            </a:r>
          </a:p>
        </p:txBody>
      </p:sp>
      <p:sp>
        <p:nvSpPr>
          <p:cNvPr id="3" name="">
            <a:extLst xmlns:a="http://schemas.openxmlformats.org/drawingml/2006/main">
              <a:ext uri="{FF2B5EF4-FFF2-40B4-BE49-F238E27FC236}">
                <a16:creationId xmlns:a16="http://schemas.microsoft.com/office/drawing/2014/main" id="{2EE45D4B-59E8-48E6-AEBA-31ABF3F12742}"/>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DCE5E9"/>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8A5A554-3AE3-41BD-9B90-5B2BAAE7749E}"/>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80929D"/>
                </a:solidFill>
                <a:latin typeface="Arial"/>
                <a:ea typeface="Arial"/>
                <a:cs typeface="Arial"/>
              </a:defRPr>
            </a:defPPr>
          </a:lstStyle>
          <a:p xmlns:a="http://schemas.openxmlformats.org/drawingml/2006/main">
            <a:pPr algn="r">
              <a:buNone/>
              <a:defRPr sz="825" b="1">
                <a:solidFill>
                  <a:srgbClr val="80929D"/>
                </a:solidFill>
                <a:latin typeface="Arial"/>
                <a:ea typeface="Arial"/>
                <a:cs typeface="Arial"/>
              </a:defRPr>
            </a:pPr>
            <a:r>
              <a:rPr sz="825" b="1">
                <a:solidFill>
                  <a:srgbClr val="80929D"/>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03D2750D-3CA7-4406-8184-14C2C2EA3940}"/>
              </a:ext>
            </a:extLst>
          </p:cNvPr>
          <p:cNvSpPr>
            <a:spLocks xmlns:a="http://schemas.openxmlformats.org/drawingml/2006/main" noGrp="1"/>
          </p:cNvSpPr>
          <p:nvPr/>
        </p:nvSpPr>
        <p:spPr>
          <a:xfrm xmlns:a="http://schemas.openxmlformats.org/drawingml/2006/main">
            <a:off x="6286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6" name="">
            <a:extLst xmlns:a="http://schemas.openxmlformats.org/drawingml/2006/main">
              <a:ext uri="{FF2B5EF4-FFF2-40B4-BE49-F238E27FC236}">
                <a16:creationId xmlns:a16="http://schemas.microsoft.com/office/drawing/2014/main" id="{16336500-28AC-4030-A01D-29D85B5E4E0A}"/>
              </a:ext>
            </a:extLst>
          </p:cNvPr>
          <p:cNvSpPr>
            <a:spLocks xmlns:a="http://schemas.openxmlformats.org/drawingml/2006/main" noGrp="1"/>
          </p:cNvSpPr>
          <p:nvPr/>
        </p:nvSpPr>
        <p:spPr>
          <a:xfrm xmlns:a="http://schemas.openxmlformats.org/drawingml/2006/main">
            <a:off x="628650" y="1504950"/>
            <a:ext cx="66675" cy="1200150"/>
          </a:xfrm>
          <a:prstGeom xmlns:a="http://schemas.openxmlformats.org/drawingml/2006/main" prst="roundRect">
            <a:avLst>
              <a:gd name="adj" fmla="val 50000"/>
            </a:avLst>
          </a:prstGeom>
          <a:solidFill xmlns:a="http://schemas.openxmlformats.org/drawingml/2006/main">
            <a:srgbClr val="2A9D6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55128DE-3057-4907-951A-4A489D1382A7}"/>
              </a:ext>
            </a:extLst>
          </p:cNvPr>
          <p:cNvSpPr>
            <a:spLocks xmlns:a="http://schemas.openxmlformats.org/drawingml/2006/main" noGrp="1"/>
          </p:cNvSpPr>
          <p:nvPr/>
        </p:nvSpPr>
        <p:spPr>
          <a:xfrm xmlns:a="http://schemas.openxmlformats.org/drawingml/2006/main">
            <a:off x="8763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1.000.000</a:t>
            </a:r>
          </a:p>
        </p:txBody>
      </p:sp>
      <p:sp>
        <p:nvSpPr>
          <p:cNvPr id="8" name="">
            <a:extLst xmlns:a="http://schemas.openxmlformats.org/drawingml/2006/main">
              <a:ext uri="{FF2B5EF4-FFF2-40B4-BE49-F238E27FC236}">
                <a16:creationId xmlns:a16="http://schemas.microsoft.com/office/drawing/2014/main" id="{BD6B5A4B-DF34-470B-8E6F-BF7083032850}"/>
              </a:ext>
            </a:extLst>
          </p:cNvPr>
          <p:cNvSpPr>
            <a:spLocks xmlns:a="http://schemas.openxmlformats.org/drawingml/2006/main" noGrp="1"/>
          </p:cNvSpPr>
          <p:nvPr/>
        </p:nvSpPr>
        <p:spPr>
          <a:xfrm xmlns:a="http://schemas.openxmlformats.org/drawingml/2006/main">
            <a:off x="8763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MongoDB-Dokumente</a:t>
            </a:r>
          </a:p>
        </p:txBody>
      </p:sp>
      <p:sp>
        <p:nvSpPr>
          <p:cNvPr id="9" name="">
            <a:extLst xmlns:a="http://schemas.openxmlformats.org/drawingml/2006/main">
              <a:ext uri="{FF2B5EF4-FFF2-40B4-BE49-F238E27FC236}">
                <a16:creationId xmlns:a16="http://schemas.microsoft.com/office/drawing/2014/main" id="{37C2599B-E954-4723-AEAC-BC6E751BB6FA}"/>
              </a:ext>
            </a:extLst>
          </p:cNvPr>
          <p:cNvSpPr>
            <a:spLocks xmlns:a="http://schemas.openxmlformats.org/drawingml/2006/main" noGrp="1"/>
          </p:cNvSpPr>
          <p:nvPr/>
        </p:nvSpPr>
        <p:spPr>
          <a:xfrm xmlns:a="http://schemas.openxmlformats.org/drawingml/2006/main">
            <a:off x="33337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0" name="">
            <a:extLst xmlns:a="http://schemas.openxmlformats.org/drawingml/2006/main">
              <a:ext uri="{FF2B5EF4-FFF2-40B4-BE49-F238E27FC236}">
                <a16:creationId xmlns:a16="http://schemas.microsoft.com/office/drawing/2014/main" id="{A194BF14-6B7A-463A-A1E2-B00A6EA12E0A}"/>
              </a:ext>
            </a:extLst>
          </p:cNvPr>
          <p:cNvSpPr>
            <a:spLocks xmlns:a="http://schemas.openxmlformats.org/drawingml/2006/main" noGrp="1"/>
          </p:cNvSpPr>
          <p:nvPr/>
        </p:nvSpPr>
        <p:spPr>
          <a:xfrm xmlns:a="http://schemas.openxmlformats.org/drawingml/2006/main">
            <a:off x="3333750" y="1504950"/>
            <a:ext cx="66675" cy="1200150"/>
          </a:xfrm>
          <a:prstGeom xmlns:a="http://schemas.openxmlformats.org/drawingml/2006/main" prst="roundRect">
            <a:avLst>
              <a:gd name="adj" fmla="val 50000"/>
            </a:avLst>
          </a:prstGeom>
          <a:solidFill xmlns:a="http://schemas.openxmlformats.org/drawingml/2006/main">
            <a:srgbClr val="0F4C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50C471-FED8-4C9C-A8A9-E1A1ACE33919}"/>
              </a:ext>
            </a:extLst>
          </p:cNvPr>
          <p:cNvSpPr>
            <a:spLocks xmlns:a="http://schemas.openxmlformats.org/drawingml/2006/main" noGrp="1"/>
          </p:cNvSpPr>
          <p:nvPr/>
        </p:nvSpPr>
        <p:spPr>
          <a:xfrm xmlns:a="http://schemas.openxmlformats.org/drawingml/2006/main">
            <a:off x="35814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950</a:t>
            </a:r>
          </a:p>
        </p:txBody>
      </p:sp>
      <p:sp>
        <p:nvSpPr>
          <p:cNvPr id="12" name="">
            <a:extLst xmlns:a="http://schemas.openxmlformats.org/drawingml/2006/main">
              <a:ext uri="{FF2B5EF4-FFF2-40B4-BE49-F238E27FC236}">
                <a16:creationId xmlns:a16="http://schemas.microsoft.com/office/drawing/2014/main" id="{A7435F77-8A12-44E8-BF87-2B4AF77B6847}"/>
              </a:ext>
            </a:extLst>
          </p:cNvPr>
          <p:cNvSpPr>
            <a:spLocks xmlns:a="http://schemas.openxmlformats.org/drawingml/2006/main" noGrp="1"/>
          </p:cNvSpPr>
          <p:nvPr/>
        </p:nvSpPr>
        <p:spPr>
          <a:xfrm xmlns:a="http://schemas.openxmlformats.org/drawingml/2006/main">
            <a:off x="35814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neue ML-Testprognosen</a:t>
            </a:r>
          </a:p>
        </p:txBody>
      </p:sp>
      <p:sp>
        <p:nvSpPr>
          <p:cNvPr id="13" name="">
            <a:extLst xmlns:a="http://schemas.openxmlformats.org/drawingml/2006/main">
              <a:ext uri="{FF2B5EF4-FFF2-40B4-BE49-F238E27FC236}">
                <a16:creationId xmlns:a16="http://schemas.microsoft.com/office/drawing/2014/main" id="{6E03876E-21FF-41E4-9832-193733F9D592}"/>
              </a:ext>
            </a:extLst>
          </p:cNvPr>
          <p:cNvSpPr>
            <a:spLocks xmlns:a="http://schemas.openxmlformats.org/drawingml/2006/main" noGrp="1"/>
          </p:cNvSpPr>
          <p:nvPr/>
        </p:nvSpPr>
        <p:spPr>
          <a:xfrm xmlns:a="http://schemas.openxmlformats.org/drawingml/2006/main">
            <a:off x="60388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4" name="">
            <a:extLst xmlns:a="http://schemas.openxmlformats.org/drawingml/2006/main">
              <a:ext uri="{FF2B5EF4-FFF2-40B4-BE49-F238E27FC236}">
                <a16:creationId xmlns:a16="http://schemas.microsoft.com/office/drawing/2014/main" id="{65C9AF9B-8664-4266-A3C5-D1C82A2860C5}"/>
              </a:ext>
            </a:extLst>
          </p:cNvPr>
          <p:cNvSpPr>
            <a:spLocks xmlns:a="http://schemas.openxmlformats.org/drawingml/2006/main" noGrp="1"/>
          </p:cNvSpPr>
          <p:nvPr/>
        </p:nvSpPr>
        <p:spPr>
          <a:xfrm xmlns:a="http://schemas.openxmlformats.org/drawingml/2006/main">
            <a:off x="6038850" y="1504950"/>
            <a:ext cx="66675" cy="1200150"/>
          </a:xfrm>
          <a:prstGeom xmlns:a="http://schemas.openxmlformats.org/drawingml/2006/main" prst="roundRect">
            <a:avLst>
              <a:gd name="adj" fmla="val 50000"/>
            </a:avLst>
          </a:prstGeom>
          <a:solidFill xmlns:a="http://schemas.openxmlformats.org/drawingml/2006/main">
            <a:srgbClr val="F4A26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27A00E0-C2AA-48C5-9A2A-BDB2165052A7}"/>
              </a:ext>
            </a:extLst>
          </p:cNvPr>
          <p:cNvSpPr>
            <a:spLocks xmlns:a="http://schemas.openxmlformats.org/drawingml/2006/main" noGrp="1"/>
          </p:cNvSpPr>
          <p:nvPr/>
        </p:nvSpPr>
        <p:spPr>
          <a:xfrm xmlns:a="http://schemas.openxmlformats.org/drawingml/2006/main">
            <a:off x="62865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400</a:t>
            </a:r>
          </a:p>
        </p:txBody>
      </p:sp>
      <p:sp>
        <p:nvSpPr>
          <p:cNvPr id="16" name="">
            <a:extLst xmlns:a="http://schemas.openxmlformats.org/drawingml/2006/main">
              <a:ext uri="{FF2B5EF4-FFF2-40B4-BE49-F238E27FC236}">
                <a16:creationId xmlns:a16="http://schemas.microsoft.com/office/drawing/2014/main" id="{916B6250-2851-4382-BC32-ABA9BBBC6AA7}"/>
              </a:ext>
            </a:extLst>
          </p:cNvPr>
          <p:cNvSpPr>
            <a:spLocks xmlns:a="http://schemas.openxmlformats.org/drawingml/2006/main" noGrp="1"/>
          </p:cNvSpPr>
          <p:nvPr/>
        </p:nvSpPr>
        <p:spPr>
          <a:xfrm xmlns:a="http://schemas.openxmlformats.org/drawingml/2006/main">
            <a:off x="62865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Neo4j-Beziehungen</a:t>
            </a:r>
          </a:p>
        </p:txBody>
      </p:sp>
      <p:sp>
        <p:nvSpPr>
          <p:cNvPr id="17" name="">
            <a:extLst xmlns:a="http://schemas.openxmlformats.org/drawingml/2006/main">
              <a:ext uri="{FF2B5EF4-FFF2-40B4-BE49-F238E27FC236}">
                <a16:creationId xmlns:a16="http://schemas.microsoft.com/office/drawing/2014/main" id="{76DC33F0-2B6C-4912-8E35-34542DD1C5A6}"/>
              </a:ext>
            </a:extLst>
          </p:cNvPr>
          <p:cNvSpPr>
            <a:spLocks xmlns:a="http://schemas.openxmlformats.org/drawingml/2006/main" noGrp="1"/>
          </p:cNvSpPr>
          <p:nvPr/>
        </p:nvSpPr>
        <p:spPr>
          <a:xfrm xmlns:a="http://schemas.openxmlformats.org/drawingml/2006/main">
            <a:off x="8743950" y="1504950"/>
            <a:ext cx="245745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CE5E9"/>
            </a:solidFill>
            <a:prstDash val="solid"/>
          </a:ln>
        </p:spPr>
      </p:sp>
      <p:sp>
        <p:nvSpPr>
          <p:cNvPr id="18" name="">
            <a:extLst xmlns:a="http://schemas.openxmlformats.org/drawingml/2006/main">
              <a:ext uri="{FF2B5EF4-FFF2-40B4-BE49-F238E27FC236}">
                <a16:creationId xmlns:a16="http://schemas.microsoft.com/office/drawing/2014/main" id="{E91C7129-C785-4103-B5BD-9C19BB3A47DE}"/>
              </a:ext>
            </a:extLst>
          </p:cNvPr>
          <p:cNvSpPr>
            <a:spLocks xmlns:a="http://schemas.openxmlformats.org/drawingml/2006/main" noGrp="1"/>
          </p:cNvSpPr>
          <p:nvPr/>
        </p:nvSpPr>
        <p:spPr>
          <a:xfrm xmlns:a="http://schemas.openxmlformats.org/drawingml/2006/main">
            <a:off x="8743950" y="1504950"/>
            <a:ext cx="66675" cy="1200150"/>
          </a:xfrm>
          <a:prstGeom xmlns:a="http://schemas.openxmlformats.org/drawingml/2006/main" prst="roundRect">
            <a:avLst>
              <a:gd name="adj" fmla="val 50000"/>
            </a:avLst>
          </a:prstGeom>
          <a:solidFill xmlns:a="http://schemas.openxmlformats.org/drawingml/2006/main">
            <a:srgbClr val="1B7F8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DD4ED3D-4B25-4A38-935A-661C7DDC246E}"/>
              </a:ext>
            </a:extLst>
          </p:cNvPr>
          <p:cNvSpPr>
            <a:spLocks xmlns:a="http://schemas.openxmlformats.org/drawingml/2006/main" noGrp="1"/>
          </p:cNvSpPr>
          <p:nvPr/>
        </p:nvSpPr>
        <p:spPr>
          <a:xfrm xmlns:a="http://schemas.openxmlformats.org/drawingml/2006/main">
            <a:off x="8991600" y="1714500"/>
            <a:ext cx="2076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400" b="1">
                <a:solidFill>
                  <a:srgbClr val="102230"/>
                </a:solidFill>
                <a:latin typeface="Arial"/>
                <a:ea typeface="Arial"/>
                <a:cs typeface="Arial"/>
              </a:defRPr>
            </a:defPPr>
          </a:lstStyle>
          <a:p xmlns:a="http://schemas.openxmlformats.org/drawingml/2006/main">
            <a:pPr algn="l">
              <a:buNone/>
              <a:defRPr sz="2400" b="1">
                <a:solidFill>
                  <a:srgbClr val="102230"/>
                </a:solidFill>
                <a:latin typeface="Arial"/>
                <a:ea typeface="Arial"/>
                <a:cs typeface="Arial"/>
              </a:defRPr>
            </a:pPr>
            <a:r>
              <a:rPr sz="2400" b="1">
                <a:solidFill>
                  <a:srgbClr val="102230"/>
                </a:solidFill>
                <a:latin typeface="Arial"/>
                <a:ea typeface="Arial"/>
                <a:cs typeface="Arial"/>
              </a:rPr>
              <a:t>32</a:t>
            </a:r>
          </a:p>
        </p:txBody>
      </p:sp>
      <p:sp>
        <p:nvSpPr>
          <p:cNvPr id="20" name="">
            <a:extLst xmlns:a="http://schemas.openxmlformats.org/drawingml/2006/main">
              <a:ext uri="{FF2B5EF4-FFF2-40B4-BE49-F238E27FC236}">
                <a16:creationId xmlns:a16="http://schemas.microsoft.com/office/drawing/2014/main" id="{6B46BE85-A06E-4D65-8FE8-B20EA3D18BBA}"/>
              </a:ext>
            </a:extLst>
          </p:cNvPr>
          <p:cNvSpPr>
            <a:spLocks xmlns:a="http://schemas.openxmlformats.org/drawingml/2006/main" noGrp="1"/>
          </p:cNvSpPr>
          <p:nvPr/>
        </p:nvSpPr>
        <p:spPr>
          <a:xfrm xmlns:a="http://schemas.openxmlformats.org/drawingml/2006/main">
            <a:off x="8991600" y="2228850"/>
            <a:ext cx="2076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Tests bestanden</a:t>
            </a:r>
          </a:p>
        </p:txBody>
      </p:sp>
      <p:sp>
        <p:nvSpPr>
          <p:cNvPr id="21" name="">
            <a:extLst xmlns:a="http://schemas.openxmlformats.org/drawingml/2006/main">
              <a:ext uri="{FF2B5EF4-FFF2-40B4-BE49-F238E27FC236}">
                <a16:creationId xmlns:a16="http://schemas.microsoft.com/office/drawing/2014/main" id="{2C02D0F1-AC70-4E8D-9C1F-3206D30B4A6E}"/>
              </a:ext>
            </a:extLst>
          </p:cNvPr>
          <p:cNvSpPr>
            <a:spLocks xmlns:a="http://schemas.openxmlformats.org/drawingml/2006/main" noGrp="1"/>
          </p:cNvSpPr>
          <p:nvPr/>
        </p:nvSpPr>
        <p:spPr>
          <a:xfrm xmlns:a="http://schemas.openxmlformats.org/drawingml/2006/main">
            <a:off x="628650" y="3105150"/>
            <a:ext cx="6819900" cy="2438400"/>
          </a:xfrm>
          <a:prstGeom xmlns:a="http://schemas.openxmlformats.org/drawingml/2006/main" prst="roundRect">
            <a:avLst>
              <a:gd name="adj" fmla="val 4688"/>
            </a:avLst>
          </a:prstGeom>
          <a:solidFill xmlns:a="http://schemas.openxmlformats.org/drawingml/2006/main">
            <a:srgbClr val="FFFFFF"/>
          </a:solidFill>
          <a:ln xmlns:a="http://schemas.openxmlformats.org/drawingml/2006/main" w="9525">
            <a:solidFill>
              <a:srgbClr val="DCE5E9"/>
            </a:solidFill>
            <a:prstDash val="solid"/>
          </a:ln>
        </p:spPr>
      </p:sp>
      <p:sp>
        <p:nvSpPr>
          <p:cNvPr id="22" name="">
            <a:extLst xmlns:a="http://schemas.openxmlformats.org/drawingml/2006/main">
              <a:ext uri="{FF2B5EF4-FFF2-40B4-BE49-F238E27FC236}">
                <a16:creationId xmlns:a16="http://schemas.microsoft.com/office/drawing/2014/main" id="{46059A28-CFC0-4DE7-BE54-1CE8A68779CF}"/>
              </a:ext>
            </a:extLst>
          </p:cNvPr>
          <p:cNvSpPr>
            <a:spLocks xmlns:a="http://schemas.openxmlformats.org/drawingml/2006/main" noGrp="1"/>
          </p:cNvSpPr>
          <p:nvPr/>
        </p:nvSpPr>
        <p:spPr>
          <a:xfrm xmlns:a="http://schemas.openxmlformats.org/drawingml/2006/main">
            <a:off x="914400" y="335280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7778"/>
          </a:bodyPr>
          <a:lstStyle xmlns:a="http://schemas.openxmlformats.org/drawingml/2006/main">
            <a:defPPr algn="l">
              <a:defRPr sz="1800" b="1">
                <a:solidFill>
                  <a:srgbClr val="102230"/>
                </a:solidFill>
                <a:latin typeface="Arial"/>
                <a:ea typeface="Arial"/>
                <a:cs typeface="Arial"/>
              </a:defRPr>
            </a:defPPr>
          </a:lstStyle>
          <a:p xmlns:a="http://schemas.openxmlformats.org/drawingml/2006/main">
            <a:pPr algn="l">
              <a:buNone/>
              <a:defRPr sz="1800" b="1">
                <a:solidFill>
                  <a:srgbClr val="102230"/>
                </a:solidFill>
                <a:latin typeface="Arial"/>
                <a:ea typeface="Arial"/>
                <a:cs typeface="Arial"/>
              </a:defRPr>
            </a:pPr>
            <a:r>
              <a:rPr sz="1800" b="1">
                <a:solidFill>
                  <a:srgbClr val="102230"/>
                </a:solidFill>
                <a:latin typeface="Arial"/>
                <a:ea typeface="Arial"/>
                <a:cs typeface="Arial"/>
              </a:rPr>
              <a:t>Live-Demo in 90 Sekunden</a:t>
            </a:r>
          </a:p>
        </p:txBody>
      </p:sp>
      <p:sp>
        <p:nvSpPr>
          <p:cNvPr id="23" name="">
            <a:extLst xmlns:a="http://schemas.openxmlformats.org/drawingml/2006/main">
              <a:ext uri="{FF2B5EF4-FFF2-40B4-BE49-F238E27FC236}">
                <a16:creationId xmlns:a16="http://schemas.microsoft.com/office/drawing/2014/main" id="{B8D5056C-3D21-4624-9516-F5BC8DD8892B}"/>
              </a:ext>
            </a:extLst>
          </p:cNvPr>
          <p:cNvSpPr>
            <a:spLocks xmlns:a="http://schemas.openxmlformats.org/drawingml/2006/main" noGrp="1"/>
          </p:cNvSpPr>
          <p:nvPr/>
        </p:nvSpPr>
        <p:spPr>
          <a:xfrm xmlns:a="http://schemas.openxmlformats.org/drawingml/2006/main">
            <a:off x="933450" y="386715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01</a:t>
            </a:r>
          </a:p>
        </p:txBody>
      </p:sp>
      <p:sp>
        <p:nvSpPr>
          <p:cNvPr id="24" name="">
            <a:extLst xmlns:a="http://schemas.openxmlformats.org/drawingml/2006/main">
              <a:ext uri="{FF2B5EF4-FFF2-40B4-BE49-F238E27FC236}">
                <a16:creationId xmlns:a16="http://schemas.microsoft.com/office/drawing/2014/main" id="{9093B0AF-6CCC-4A5F-9637-117D818B4D3B}"/>
              </a:ext>
            </a:extLst>
          </p:cNvPr>
          <p:cNvSpPr>
            <a:spLocks xmlns:a="http://schemas.openxmlformats.org/drawingml/2006/main" noGrp="1"/>
          </p:cNvSpPr>
          <p:nvPr/>
        </p:nvSpPr>
        <p:spPr>
          <a:xfrm xmlns:a="http://schemas.openxmlformats.org/drawingml/2006/main">
            <a:off x="1371600" y="386715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docker compose ps</a:t>
            </a:r>
          </a:p>
        </p:txBody>
      </p:sp>
      <p:sp>
        <p:nvSpPr>
          <p:cNvPr id="25" name="">
            <a:extLst xmlns:a="http://schemas.openxmlformats.org/drawingml/2006/main">
              <a:ext uri="{FF2B5EF4-FFF2-40B4-BE49-F238E27FC236}">
                <a16:creationId xmlns:a16="http://schemas.microsoft.com/office/drawing/2014/main" id="{1D094BB6-F852-4BAB-AB73-4DD2AFCFD7A3}"/>
              </a:ext>
            </a:extLst>
          </p:cNvPr>
          <p:cNvSpPr>
            <a:spLocks xmlns:a="http://schemas.openxmlformats.org/drawingml/2006/main" noGrp="1"/>
          </p:cNvSpPr>
          <p:nvPr/>
        </p:nvSpPr>
        <p:spPr>
          <a:xfrm xmlns:a="http://schemas.openxmlformats.org/drawingml/2006/main">
            <a:off x="3905250" y="38671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gesunder Stack</a:t>
            </a:r>
          </a:p>
        </p:txBody>
      </p:sp>
      <p:sp>
        <p:nvSpPr>
          <p:cNvPr id="26" name="">
            <a:extLst xmlns:a="http://schemas.openxmlformats.org/drawingml/2006/main">
              <a:ext uri="{FF2B5EF4-FFF2-40B4-BE49-F238E27FC236}">
                <a16:creationId xmlns:a16="http://schemas.microsoft.com/office/drawing/2014/main" id="{A6148057-5272-4668-8CD2-8DF2011C7765}"/>
              </a:ext>
            </a:extLst>
          </p:cNvPr>
          <p:cNvSpPr>
            <a:spLocks xmlns:a="http://schemas.openxmlformats.org/drawingml/2006/main" noGrp="1"/>
          </p:cNvSpPr>
          <p:nvPr/>
        </p:nvSpPr>
        <p:spPr>
          <a:xfrm xmlns:a="http://schemas.openxmlformats.org/drawingml/2006/main">
            <a:off x="933450" y="42576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02</a:t>
            </a:r>
          </a:p>
        </p:txBody>
      </p:sp>
      <p:sp>
        <p:nvSpPr>
          <p:cNvPr id="27" name="">
            <a:extLst xmlns:a="http://schemas.openxmlformats.org/drawingml/2006/main">
              <a:ext uri="{FF2B5EF4-FFF2-40B4-BE49-F238E27FC236}">
                <a16:creationId xmlns:a16="http://schemas.microsoft.com/office/drawing/2014/main" id="{F6FE9D42-7B99-4AE0-89E5-C9C993040831}"/>
              </a:ext>
            </a:extLst>
          </p:cNvPr>
          <p:cNvSpPr>
            <a:spLocks xmlns:a="http://schemas.openxmlformats.org/drawingml/2006/main" noGrp="1"/>
          </p:cNvSpPr>
          <p:nvPr/>
        </p:nvSpPr>
        <p:spPr>
          <a:xfrm xmlns:a="http://schemas.openxmlformats.org/drawingml/2006/main">
            <a:off x="1371600" y="425767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GET /health</a:t>
            </a:r>
          </a:p>
        </p:txBody>
      </p:sp>
      <p:sp>
        <p:nvSpPr>
          <p:cNvPr id="28" name="">
            <a:extLst xmlns:a="http://schemas.openxmlformats.org/drawingml/2006/main">
              <a:ext uri="{FF2B5EF4-FFF2-40B4-BE49-F238E27FC236}">
                <a16:creationId xmlns:a16="http://schemas.microsoft.com/office/drawing/2014/main" id="{B492B4F2-0CB6-4C80-AC0D-AB348616D1EC}"/>
              </a:ext>
            </a:extLst>
          </p:cNvPr>
          <p:cNvSpPr>
            <a:spLocks xmlns:a="http://schemas.openxmlformats.org/drawingml/2006/main" noGrp="1"/>
          </p:cNvSpPr>
          <p:nvPr/>
        </p:nvSpPr>
        <p:spPr>
          <a:xfrm xmlns:a="http://schemas.openxmlformats.org/drawingml/2006/main">
            <a:off x="3905250" y="425767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PostgreSQL erreichbar</a:t>
            </a:r>
          </a:p>
        </p:txBody>
      </p:sp>
      <p:sp>
        <p:nvSpPr>
          <p:cNvPr id="29" name="">
            <a:extLst xmlns:a="http://schemas.openxmlformats.org/drawingml/2006/main">
              <a:ext uri="{FF2B5EF4-FFF2-40B4-BE49-F238E27FC236}">
                <a16:creationId xmlns:a16="http://schemas.microsoft.com/office/drawing/2014/main" id="{3F15E6D7-1BA3-4DA8-AAE1-3DD393CF37F5}"/>
              </a:ext>
            </a:extLst>
          </p:cNvPr>
          <p:cNvSpPr>
            <a:spLocks xmlns:a="http://schemas.openxmlformats.org/drawingml/2006/main" noGrp="1"/>
          </p:cNvSpPr>
          <p:nvPr/>
        </p:nvSpPr>
        <p:spPr>
          <a:xfrm xmlns:a="http://schemas.openxmlformats.org/drawingml/2006/main">
            <a:off x="933450" y="4648200"/>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03</a:t>
            </a:r>
          </a:p>
        </p:txBody>
      </p:sp>
      <p:sp>
        <p:nvSpPr>
          <p:cNvPr id="30" name="">
            <a:extLst xmlns:a="http://schemas.openxmlformats.org/drawingml/2006/main">
              <a:ext uri="{FF2B5EF4-FFF2-40B4-BE49-F238E27FC236}">
                <a16:creationId xmlns:a16="http://schemas.microsoft.com/office/drawing/2014/main" id="{F59E2F7B-C4EC-44D0-918D-8630E115F9DC}"/>
              </a:ext>
            </a:extLst>
          </p:cNvPr>
          <p:cNvSpPr>
            <a:spLocks xmlns:a="http://schemas.openxmlformats.org/drawingml/2006/main" noGrp="1"/>
          </p:cNvSpPr>
          <p:nvPr/>
        </p:nvSpPr>
        <p:spPr>
          <a:xfrm xmlns:a="http://schemas.openxmlformats.org/drawingml/2006/main">
            <a:off x="1371600" y="4648200"/>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GET /predictions</a:t>
            </a:r>
          </a:p>
        </p:txBody>
      </p:sp>
      <p:sp>
        <p:nvSpPr>
          <p:cNvPr id="31" name="">
            <a:extLst xmlns:a="http://schemas.openxmlformats.org/drawingml/2006/main">
              <a:ext uri="{FF2B5EF4-FFF2-40B4-BE49-F238E27FC236}">
                <a16:creationId xmlns:a16="http://schemas.microsoft.com/office/drawing/2014/main" id="{A42E6882-0EAC-457A-8548-419B9B1842E1}"/>
              </a:ext>
            </a:extLst>
          </p:cNvPr>
          <p:cNvSpPr>
            <a:spLocks xmlns:a="http://schemas.openxmlformats.org/drawingml/2006/main" noGrp="1"/>
          </p:cNvSpPr>
          <p:nvPr/>
        </p:nvSpPr>
        <p:spPr>
          <a:xfrm xmlns:a="http://schemas.openxmlformats.org/drawingml/2006/main">
            <a:off x="3905250" y="4648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Version + Pagination</a:t>
            </a:r>
          </a:p>
        </p:txBody>
      </p:sp>
      <p:sp>
        <p:nvSpPr>
          <p:cNvPr id="32" name="">
            <a:extLst xmlns:a="http://schemas.openxmlformats.org/drawingml/2006/main">
              <a:ext uri="{FF2B5EF4-FFF2-40B4-BE49-F238E27FC236}">
                <a16:creationId xmlns:a16="http://schemas.microsoft.com/office/drawing/2014/main" id="{A03165C4-BA5B-438A-877F-1BF4C4034DB2}"/>
              </a:ext>
            </a:extLst>
          </p:cNvPr>
          <p:cNvSpPr>
            <a:spLocks xmlns:a="http://schemas.openxmlformats.org/drawingml/2006/main" noGrp="1"/>
          </p:cNvSpPr>
          <p:nvPr/>
        </p:nvSpPr>
        <p:spPr>
          <a:xfrm xmlns:a="http://schemas.openxmlformats.org/drawingml/2006/main">
            <a:off x="933450" y="503872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9487"/>
          </a:bodyPr>
          <a:lstStyle xmlns:a="http://schemas.openxmlformats.org/drawingml/2006/main">
            <a:defPPr algn="l">
              <a:defRPr sz="975" b="1">
                <a:solidFill>
                  <a:srgbClr val="F4A261"/>
                </a:solidFill>
                <a:latin typeface="Arial"/>
                <a:ea typeface="Arial"/>
                <a:cs typeface="Arial"/>
              </a:defRPr>
            </a:defPPr>
          </a:lstStyle>
          <a:p xmlns:a="http://schemas.openxmlformats.org/drawingml/2006/main">
            <a:pPr algn="l">
              <a:buNone/>
              <a:defRPr sz="975" b="1">
                <a:solidFill>
                  <a:srgbClr val="F4A261"/>
                </a:solidFill>
                <a:latin typeface="Arial"/>
                <a:ea typeface="Arial"/>
                <a:cs typeface="Arial"/>
              </a:defRPr>
            </a:pPr>
            <a:r>
              <a:rPr sz="975" b="1">
                <a:solidFill>
                  <a:srgbClr val="F4A261"/>
                </a:solidFill>
                <a:latin typeface="Arial"/>
                <a:ea typeface="Arial"/>
                <a:cs typeface="Arial"/>
              </a:rPr>
              <a:t>04</a:t>
            </a:r>
          </a:p>
        </p:txBody>
      </p:sp>
      <p:sp>
        <p:nvSpPr>
          <p:cNvPr id="33" name="">
            <a:extLst xmlns:a="http://schemas.openxmlformats.org/drawingml/2006/main">
              <a:ext uri="{FF2B5EF4-FFF2-40B4-BE49-F238E27FC236}">
                <a16:creationId xmlns:a16="http://schemas.microsoft.com/office/drawing/2014/main" id="{448B11BD-1439-4937-9194-2CC5C1C7E5C1}"/>
              </a:ext>
            </a:extLst>
          </p:cNvPr>
          <p:cNvSpPr>
            <a:spLocks xmlns:a="http://schemas.openxmlformats.org/drawingml/2006/main" noGrp="1"/>
          </p:cNvSpPr>
          <p:nvPr/>
        </p:nvSpPr>
        <p:spPr>
          <a:xfrm xmlns:a="http://schemas.openxmlformats.org/drawingml/2006/main">
            <a:off x="1371600" y="5038725"/>
            <a:ext cx="2333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4583"/>
          </a:bodyPr>
          <a:lstStyle xmlns:a="http://schemas.openxmlformats.org/drawingml/2006/main">
            <a:defPPr algn="l">
              <a:defRPr sz="1200" b="1">
                <a:solidFill>
                  <a:srgbClr val="102230"/>
                </a:solidFill>
                <a:latin typeface="Arial"/>
                <a:ea typeface="Arial"/>
                <a:cs typeface="Arial"/>
              </a:defRPr>
            </a:defPPr>
          </a:lstStyle>
          <a:p xmlns:a="http://schemas.openxmlformats.org/drawingml/2006/main">
            <a:pPr algn="l">
              <a:buNone/>
              <a:defRPr sz="1200" b="1">
                <a:solidFill>
                  <a:srgbClr val="102230"/>
                </a:solidFill>
                <a:latin typeface="Arial"/>
                <a:ea typeface="Arial"/>
                <a:cs typeface="Arial"/>
              </a:defRPr>
            </a:pPr>
            <a:r>
              <a:rPr sz="1200" b="1">
                <a:solidFill>
                  <a:srgbClr val="102230"/>
                </a:solidFill>
                <a:latin typeface="Arial"/>
                <a:ea typeface="Arial"/>
                <a:cs typeface="Arial"/>
              </a:rPr>
              <a:t>Pipeline / Kontext</a:t>
            </a:r>
          </a:p>
        </p:txBody>
      </p:sp>
      <p:sp>
        <p:nvSpPr>
          <p:cNvPr id="34" name="">
            <a:extLst xmlns:a="http://schemas.openxmlformats.org/drawingml/2006/main">
              <a:ext uri="{FF2B5EF4-FFF2-40B4-BE49-F238E27FC236}">
                <a16:creationId xmlns:a16="http://schemas.microsoft.com/office/drawing/2014/main" id="{D74CBD4D-05BE-46A4-81B4-D48ACEA12E42}"/>
              </a:ext>
            </a:extLst>
          </p:cNvPr>
          <p:cNvSpPr>
            <a:spLocks xmlns:a="http://schemas.openxmlformats.org/drawingml/2006/main" noGrp="1"/>
          </p:cNvSpPr>
          <p:nvPr/>
        </p:nvSpPr>
        <p:spPr>
          <a:xfrm xmlns:a="http://schemas.openxmlformats.org/drawingml/2006/main">
            <a:off x="3905250" y="5038725"/>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8889"/>
          </a:bodyPr>
          <a:lstStyle xmlns:a="http://schemas.openxmlformats.org/drawingml/2006/main">
            <a:defPPr algn="l">
              <a:defRPr sz="1125" b="0">
                <a:solidFill>
                  <a:srgbClr val="536675"/>
                </a:solidFill>
                <a:latin typeface="Arial"/>
                <a:ea typeface="Arial"/>
                <a:cs typeface="Arial"/>
              </a:defRPr>
            </a:defPPr>
          </a:lstStyle>
          <a:p xmlns:a="http://schemas.openxmlformats.org/drawingml/2006/main">
            <a:pPr algn="l">
              <a:buNone/>
              <a:defRPr sz="1125" b="0">
                <a:solidFill>
                  <a:srgbClr val="536675"/>
                </a:solidFill>
                <a:latin typeface="Arial"/>
                <a:ea typeface="Arial"/>
                <a:cs typeface="Arial"/>
              </a:defRPr>
            </a:pPr>
            <a:r>
              <a:rPr sz="1125" b="0">
                <a:solidFill>
                  <a:srgbClr val="536675"/>
                </a:solidFill>
                <a:latin typeface="Arial"/>
                <a:ea typeface="Arial"/>
                <a:cs typeface="Arial"/>
              </a:rPr>
              <a:t>Lauf + Abhängigkeiten</a:t>
            </a:r>
          </a:p>
        </p:txBody>
      </p:sp>
      <p:sp>
        <p:nvSpPr>
          <p:cNvPr id="35" name="">
            <a:extLst xmlns:a="http://schemas.openxmlformats.org/drawingml/2006/main">
              <a:ext uri="{FF2B5EF4-FFF2-40B4-BE49-F238E27FC236}">
                <a16:creationId xmlns:a16="http://schemas.microsoft.com/office/drawing/2014/main" id="{D39CF583-F5AD-4940-BF5E-CAD6D77EF57C}"/>
              </a:ext>
            </a:extLst>
          </p:cNvPr>
          <p:cNvSpPr>
            <a:spLocks xmlns:a="http://schemas.openxmlformats.org/drawingml/2006/main" noGrp="1"/>
          </p:cNvSpPr>
          <p:nvPr/>
        </p:nvSpPr>
        <p:spPr>
          <a:xfrm xmlns:a="http://schemas.openxmlformats.org/drawingml/2006/main">
            <a:off x="7734300" y="3105150"/>
            <a:ext cx="3467100" cy="2438400"/>
          </a:xfrm>
          <a:prstGeom xmlns:a="http://schemas.openxmlformats.org/drawingml/2006/main" prst="roundRect">
            <a:avLst>
              <a:gd name="adj" fmla="val 4688"/>
            </a:avLst>
          </a:prstGeom>
          <a:solidFill xmlns:a="http://schemas.openxmlformats.org/drawingml/2006/main">
            <a:srgbClr val="0A1822"/>
          </a:solidFill>
          <a:ln xmlns:a="http://schemas.openxmlformats.org/drawingml/2006/main" w="9525">
            <a:solidFill>
              <a:srgbClr val="0A1822"/>
            </a:solidFill>
            <a:prstDash val="solid"/>
          </a:ln>
        </p:spPr>
      </p:sp>
      <p:sp>
        <p:nvSpPr>
          <p:cNvPr id="36" name="">
            <a:extLst xmlns:a="http://schemas.openxmlformats.org/drawingml/2006/main">
              <a:ext uri="{FF2B5EF4-FFF2-40B4-BE49-F238E27FC236}">
                <a16:creationId xmlns:a16="http://schemas.microsoft.com/office/drawing/2014/main" id="{0D715CC5-489A-442B-88AA-600A58724209}"/>
              </a:ext>
            </a:extLst>
          </p:cNvPr>
          <p:cNvSpPr>
            <a:spLocks xmlns:a="http://schemas.openxmlformats.org/drawingml/2006/main" noGrp="1"/>
          </p:cNvSpPr>
          <p:nvPr/>
        </p:nvSpPr>
        <p:spPr>
          <a:xfrm xmlns:a="http://schemas.openxmlformats.org/drawingml/2006/main">
            <a:off x="8039100" y="3371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75000"/>
          </a:bodyPr>
          <a:lstStyle xmlns:a="http://schemas.openxmlformats.org/drawingml/2006/main">
            <a:defPPr algn="ctr">
              <a:defRPr sz="1200" b="1">
                <a:solidFill>
                  <a:srgbClr val="F4A261"/>
                </a:solidFill>
                <a:latin typeface="Arial"/>
                <a:ea typeface="Arial"/>
                <a:cs typeface="Arial"/>
              </a:defRPr>
            </a:defPPr>
          </a:lstStyle>
          <a:p xmlns:a="http://schemas.openxmlformats.org/drawingml/2006/main">
            <a:pPr algn="ctr">
              <a:buNone/>
              <a:defRPr sz="1200" b="1">
                <a:solidFill>
                  <a:srgbClr val="F4A261"/>
                </a:solidFill>
                <a:latin typeface="Arial"/>
                <a:ea typeface="Arial"/>
                <a:cs typeface="Arial"/>
              </a:defRPr>
            </a:pPr>
            <a:r>
              <a:rPr sz="1200" b="1">
                <a:solidFill>
                  <a:srgbClr val="F4A261"/>
                </a:solidFill>
                <a:latin typeface="Arial"/>
                <a:ea typeface="Arial"/>
                <a:cs typeface="Arial"/>
              </a:rPr>
              <a:t>Integriertes Modell</a:t>
            </a:r>
          </a:p>
        </p:txBody>
      </p:sp>
      <p:sp>
        <p:nvSpPr>
          <p:cNvPr id="37" name="">
            <a:extLst xmlns:a="http://schemas.openxmlformats.org/drawingml/2006/main">
              <a:ext uri="{FF2B5EF4-FFF2-40B4-BE49-F238E27FC236}">
                <a16:creationId xmlns:a16="http://schemas.microsoft.com/office/drawing/2014/main" id="{46A77022-E90C-494F-8599-B20AE89C9A41}"/>
              </a:ext>
            </a:extLst>
          </p:cNvPr>
          <p:cNvSpPr>
            <a:spLocks xmlns:a="http://schemas.openxmlformats.org/drawingml/2006/main" noGrp="1"/>
          </p:cNvSpPr>
          <p:nvPr/>
        </p:nvSpPr>
        <p:spPr>
          <a:xfrm xmlns:a="http://schemas.openxmlformats.org/drawingml/2006/main">
            <a:off x="8039100" y="3790950"/>
            <a:ext cx="285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3225" b="1">
                <a:solidFill>
                  <a:srgbClr val="FFFFFF"/>
                </a:solidFill>
                <a:latin typeface="Arial"/>
                <a:ea typeface="Arial"/>
                <a:cs typeface="Arial"/>
              </a:defRPr>
            </a:defPPr>
          </a:lstStyle>
          <a:p xmlns:a="http://schemas.openxmlformats.org/drawingml/2006/main">
            <a:pPr algn="ctr">
              <a:buNone/>
              <a:defRPr sz="3225" b="1">
                <a:solidFill>
                  <a:srgbClr val="FFFFFF"/>
                </a:solidFill>
                <a:latin typeface="Arial"/>
                <a:ea typeface="Arial"/>
                <a:cs typeface="Arial"/>
              </a:defRPr>
            </a:pPr>
            <a:r>
              <a:rPr sz="3225" b="1">
                <a:solidFill>
                  <a:srgbClr val="FFFFFF"/>
                </a:solidFill>
                <a:latin typeface="Arial"/>
                <a:ea typeface="Arial"/>
                <a:cs typeface="Arial"/>
              </a:rPr>
              <a:t>Logistic</a:t>
            </a:r>
          </a:p>
        </p:txBody>
      </p:sp>
      <p:sp>
        <p:nvSpPr>
          <p:cNvPr id="38" name="">
            <a:extLst xmlns:a="http://schemas.openxmlformats.org/drawingml/2006/main">
              <a:ext uri="{FF2B5EF4-FFF2-40B4-BE49-F238E27FC236}">
                <a16:creationId xmlns:a16="http://schemas.microsoft.com/office/drawing/2014/main" id="{96345EAC-1AFE-4761-8144-CFC929850BEE}"/>
              </a:ext>
            </a:extLst>
          </p:cNvPr>
          <p:cNvSpPr>
            <a:spLocks xmlns:a="http://schemas.openxmlformats.org/drawingml/2006/main" noGrp="1"/>
          </p:cNvSpPr>
          <p:nvPr/>
        </p:nvSpPr>
        <p:spPr>
          <a:xfrm xmlns:a="http://schemas.openxmlformats.org/drawingml/2006/main">
            <a:off x="8039100" y="44767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9474"/>
          </a:bodyPr>
          <a:lstStyle xmlns:a="http://schemas.openxmlformats.org/drawingml/2006/main">
            <a:defPPr algn="ctr">
              <a:defRPr sz="1425" b="1">
                <a:solidFill>
                  <a:srgbClr val="C8D7DD"/>
                </a:solidFill>
                <a:latin typeface="Arial"/>
                <a:ea typeface="Arial"/>
                <a:cs typeface="Arial"/>
              </a:defRPr>
            </a:defPPr>
          </a:lstStyle>
          <a:p xmlns:a="http://schemas.openxmlformats.org/drawingml/2006/main">
            <a:pPr algn="ctr">
              <a:buNone/>
              <a:defRPr sz="1425" b="1">
                <a:solidFill>
                  <a:srgbClr val="C8D7DD"/>
                </a:solidFill>
                <a:latin typeface="Arial"/>
                <a:ea typeface="Arial"/>
                <a:cs typeface="Arial"/>
              </a:defRPr>
            </a:pPr>
            <a:r>
              <a:rPr sz="1425" b="1">
                <a:solidFill>
                  <a:srgbClr val="C8D7DD"/>
                </a:solidFill>
                <a:latin typeface="Arial"/>
                <a:ea typeface="Arial"/>
                <a:cs typeface="Arial"/>
              </a:rPr>
              <a:t>Macro-F1 +0,102</a:t>
            </a:r>
          </a:p>
        </p:txBody>
      </p:sp>
      <p:sp>
        <p:nvSpPr>
          <p:cNvPr id="39" name="">
            <a:extLst xmlns:a="http://schemas.openxmlformats.org/drawingml/2006/main">
              <a:ext uri="{FF2B5EF4-FFF2-40B4-BE49-F238E27FC236}">
                <a16:creationId xmlns:a16="http://schemas.microsoft.com/office/drawing/2014/main" id="{CA38F389-EEF0-47DE-B6CD-3DEB6FFF40D3}"/>
              </a:ext>
            </a:extLst>
          </p:cNvPr>
          <p:cNvSpPr>
            <a:spLocks xmlns:a="http://schemas.openxmlformats.org/drawingml/2006/main" noGrp="1"/>
          </p:cNvSpPr>
          <p:nvPr/>
        </p:nvSpPr>
        <p:spPr>
          <a:xfrm xmlns:a="http://schemas.openxmlformats.org/drawingml/2006/main">
            <a:off x="8039100" y="4933950"/>
            <a:ext cx="285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ctr">
              <a:defRPr sz="1050" b="0">
                <a:solidFill>
                  <a:srgbClr val="8FA6B0"/>
                </a:solidFill>
                <a:latin typeface="Arial"/>
                <a:ea typeface="Arial"/>
                <a:cs typeface="Arial"/>
              </a:defRPr>
            </a:defPPr>
          </a:lstStyle>
          <a:p xmlns:a="http://schemas.openxmlformats.org/drawingml/2006/main">
            <a:pPr algn="ctr">
              <a:buNone/>
              <a:defRPr sz="1050" b="0">
                <a:solidFill>
                  <a:srgbClr val="8FA6B0"/>
                </a:solidFill>
                <a:latin typeface="Arial"/>
                <a:ea typeface="Arial"/>
                <a:cs typeface="Arial"/>
              </a:defRPr>
            </a:pPr>
            <a:r>
              <a:rPr sz="1050" b="0">
                <a:solidFill>
                  <a:srgbClr val="8FA6B0"/>
                </a:solidFill>
                <a:latin typeface="Arial"/>
                <a:ea typeface="Arial"/>
                <a:cs typeface="Arial"/>
              </a:rPr>
              <a:t>gegen Majority-Baseline</a:t>
            </a:r>
          </a:p>
          <a:p xmlns:a="http://schemas.openxmlformats.org/drawingml/2006/main">
            <a:pPr algn="ctr">
              <a:buNone/>
              <a:defRPr sz="1050" b="0">
                <a:solidFill>
                  <a:srgbClr val="8FA6B0"/>
                </a:solidFill>
                <a:latin typeface="Arial"/>
                <a:ea typeface="Arial"/>
                <a:cs typeface="Arial"/>
              </a:defRPr>
            </a:pPr>
            <a:r>
              <a:rPr sz="1050" b="0">
                <a:solidFill>
                  <a:srgbClr val="8FA6B0"/>
                </a:solidFill>
                <a:latin typeface="Arial"/>
                <a:ea typeface="Arial"/>
                <a:cs typeface="Arial"/>
              </a:rPr>
              <a:t>beide Klassen vorhergesagt</a:t>
            </a:r>
          </a:p>
        </p:txBody>
      </p:sp>
    </p:spTree>
    <p:extLst>
      <p:ext uri="{BB962C8B-B14F-4D97-AF65-F5344CB8AC3E}">
        <p14:creationId xmlns:p14="http://schemas.microsoft.com/office/powerpoint/2010/main" val="1176314456"/>
      </p:ext>
    </p:extLst>
  </p:cSld>
</p:sld>
</file>

<file path=ppt/slides/slide10.xml><?xml version="1.0" encoding="utf-8"?>
<p:sld xmlns:p="http://schemas.openxmlformats.org/presentationml/2006/main">
  <p:cSld>
    <p:bg>
      <p:bgPr>
        <a:solidFill xmlns:a="http://schemas.openxmlformats.org/drawingml/2006/main">
          <a:srgbClr val="0A182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0E3D18C-4357-42D4-A961-14BDE219CDAE}"/>
              </a:ext>
            </a:extLst>
          </p:cNvPr>
          <p:cNvSpPr>
            <a:spLocks xmlns:a="http://schemas.openxmlformats.org/drawingml/2006/main" noGrp="1"/>
          </p:cNvSpPr>
          <p:nvPr/>
        </p:nvSpPr>
        <p:spPr>
          <a:xfrm xmlns:a="http://schemas.openxmlformats.org/drawingml/2006/main">
            <a:off x="647700" y="3238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6111"/>
          </a:bodyPr>
          <a:lstStyle xmlns:a="http://schemas.openxmlformats.org/drawingml/2006/main">
            <a:defPPr algn="l">
              <a:defRPr sz="900" b="1">
                <a:solidFill>
                  <a:srgbClr val="F4A261"/>
                </a:solidFill>
                <a:latin typeface="Arial"/>
                <a:ea typeface="Arial"/>
                <a:cs typeface="Arial"/>
              </a:defRPr>
            </a:defPPr>
          </a:lstStyle>
          <a:p xmlns:a="http://schemas.openxmlformats.org/drawingml/2006/main">
            <a:pPr algn="l">
              <a:buNone/>
              <a:defRPr sz="900" b="1">
                <a:solidFill>
                  <a:srgbClr val="F4A261"/>
                </a:solidFill>
                <a:latin typeface="Arial"/>
                <a:ea typeface="Arial"/>
                <a:cs typeface="Arial"/>
              </a:defRPr>
            </a:pPr>
            <a:r>
              <a:rPr sz="900" b="1">
                <a:solidFill>
                  <a:srgbClr val="F4A261"/>
                </a:solidFill>
                <a:latin typeface="Arial"/>
                <a:ea typeface="Arial"/>
                <a:cs typeface="Arial"/>
              </a:rPr>
              <a:t>FAZIT</a:t>
            </a:r>
          </a:p>
        </p:txBody>
      </p:sp>
      <p:sp>
        <p:nvSpPr>
          <p:cNvPr id="2" name="">
            <a:extLst xmlns:a="http://schemas.openxmlformats.org/drawingml/2006/main">
              <a:ext uri="{FF2B5EF4-FFF2-40B4-BE49-F238E27FC236}">
                <a16:creationId xmlns:a16="http://schemas.microsoft.com/office/drawing/2014/main" id="{50B33D4B-B25A-4B45-8489-882E1EFB6393}"/>
              </a:ext>
            </a:extLst>
          </p:cNvPr>
          <p:cNvSpPr>
            <a:spLocks xmlns:a="http://schemas.openxmlformats.org/drawingml/2006/main" noGrp="1"/>
          </p:cNvSpPr>
          <p:nvPr/>
        </p:nvSpPr>
        <p:spPr>
          <a:xfrm xmlns:a="http://schemas.openxmlformats.org/drawingml/2006/main">
            <a:off x="647700" y="590550"/>
            <a:ext cx="10287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lgn="l">
              <a:defRPr sz="2550" b="1">
                <a:solidFill>
                  <a:srgbClr val="FFFFFF"/>
                </a:solidFill>
                <a:latin typeface="Arial"/>
                <a:ea typeface="Arial"/>
                <a:cs typeface="Arial"/>
              </a:defRPr>
            </a:defPPr>
          </a:lstStyle>
          <a:p xmlns:a="http://schemas.openxmlformats.org/drawingml/2006/main">
            <a:pPr algn="l">
              <a:buNone/>
              <a:defRPr sz="2550" b="1">
                <a:solidFill>
                  <a:srgbClr val="FFFFFF"/>
                </a:solidFill>
                <a:latin typeface="Arial"/>
                <a:ea typeface="Arial"/>
                <a:cs typeface="Arial"/>
              </a:defRPr>
            </a:pPr>
            <a:r>
              <a:rPr sz="2550" b="1">
                <a:solidFill>
                  <a:srgbClr val="FFFFFF"/>
                </a:solidFill>
                <a:latin typeface="Arial"/>
                <a:ea typeface="Arial"/>
                <a:cs typeface="Arial"/>
              </a:rPr>
              <a:t>Integration gehärtet, Klassifikation messbar verbessert</a:t>
            </a:r>
          </a:p>
        </p:txBody>
      </p:sp>
      <p:sp>
        <p:nvSpPr>
          <p:cNvPr id="3" name="">
            <a:extLst xmlns:a="http://schemas.openxmlformats.org/drawingml/2006/main">
              <a:ext uri="{FF2B5EF4-FFF2-40B4-BE49-F238E27FC236}">
                <a16:creationId xmlns:a16="http://schemas.microsoft.com/office/drawing/2014/main" id="{09E49BAF-39B7-49D3-BDC8-B7898FCEB31A}"/>
              </a:ext>
            </a:extLst>
          </p:cNvPr>
          <p:cNvSpPr>
            <a:spLocks xmlns:a="http://schemas.openxmlformats.org/drawingml/2006/main" noGrp="1"/>
          </p:cNvSpPr>
          <p:nvPr/>
        </p:nvSpPr>
        <p:spPr>
          <a:xfrm xmlns:a="http://schemas.openxmlformats.org/drawingml/2006/main">
            <a:off x="647700" y="1181100"/>
            <a:ext cx="10896600" cy="19050"/>
          </a:xfrm>
          <a:prstGeom xmlns:a="http://schemas.openxmlformats.org/drawingml/2006/main" prst="rect">
            <a:avLst/>
          </a:prstGeom>
          <a:solidFill xmlns:a="http://schemas.openxmlformats.org/drawingml/2006/main">
            <a:srgbClr val="0F4C5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5321DD-A73D-459E-8FD8-8C43EA46B57C}"/>
              </a:ext>
            </a:extLst>
          </p:cNvPr>
          <p:cNvSpPr>
            <a:spLocks xmlns:a="http://schemas.openxmlformats.org/drawingml/2006/main" noGrp="1"/>
          </p:cNvSpPr>
          <p:nvPr/>
        </p:nvSpPr>
        <p:spPr>
          <a:xfrm xmlns:a="http://schemas.openxmlformats.org/drawingml/2006/main">
            <a:off x="11125200" y="6381750"/>
            <a:ext cx="4191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3636"/>
          </a:bodyPr>
          <a:lstStyle xmlns:a="http://schemas.openxmlformats.org/drawingml/2006/main">
            <a:defPPr algn="r">
              <a:defRPr sz="825" b="1">
                <a:solidFill>
                  <a:srgbClr val="9CB0BB"/>
                </a:solidFill>
                <a:latin typeface="Arial"/>
                <a:ea typeface="Arial"/>
                <a:cs typeface="Arial"/>
              </a:defRPr>
            </a:defPPr>
          </a:lstStyle>
          <a:p xmlns:a="http://schemas.openxmlformats.org/drawingml/2006/main">
            <a:pPr algn="r">
              <a:buNone/>
              <a:defRPr sz="825" b="1">
                <a:solidFill>
                  <a:srgbClr val="9CB0BB"/>
                </a:solidFill>
                <a:latin typeface="Arial"/>
                <a:ea typeface="Arial"/>
                <a:cs typeface="Arial"/>
              </a:defRPr>
            </a:pPr>
            <a:r>
              <a:rPr sz="825" b="1">
                <a:solidFill>
                  <a:srgbClr val="9CB0BB"/>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0A489ECF-6618-4DEF-9825-BAF08C2CDE28}"/>
              </a:ext>
            </a:extLst>
          </p:cNvPr>
          <p:cNvSpPr>
            <a:spLocks xmlns:a="http://schemas.openxmlformats.org/drawingml/2006/main" noGrp="1"/>
          </p:cNvSpPr>
          <p:nvPr/>
        </p:nvSpPr>
        <p:spPr>
          <a:xfrm xmlns:a="http://schemas.openxmlformats.org/drawingml/2006/main">
            <a:off x="628650" y="1562100"/>
            <a:ext cx="5124450" cy="3600450"/>
          </a:xfrm>
          <a:prstGeom xmlns:a="http://schemas.openxmlformats.org/drawingml/2006/main" prst="roundRect">
            <a:avLst>
              <a:gd name="adj" fmla="val 3175"/>
            </a:avLst>
          </a:prstGeom>
          <a:solidFill xmlns:a="http://schemas.openxmlformats.org/drawingml/2006/main">
            <a:srgbClr val="132C39"/>
          </a:solidFill>
          <a:ln xmlns:a="http://schemas.openxmlformats.org/drawingml/2006/main" w="9525">
            <a:solidFill>
              <a:srgbClr val="31505D"/>
            </a:solidFill>
            <a:prstDash val="solid"/>
          </a:ln>
        </p:spPr>
      </p:sp>
      <p:sp>
        <p:nvSpPr>
          <p:cNvPr id="6" name="">
            <a:extLst xmlns:a="http://schemas.openxmlformats.org/drawingml/2006/main">
              <a:ext uri="{FF2B5EF4-FFF2-40B4-BE49-F238E27FC236}">
                <a16:creationId xmlns:a16="http://schemas.microsoft.com/office/drawing/2014/main" id="{785A300F-FDC4-455D-ABA5-A88A58F2D5C3}"/>
              </a:ext>
            </a:extLst>
          </p:cNvPr>
          <p:cNvSpPr>
            <a:spLocks xmlns:a="http://schemas.openxmlformats.org/drawingml/2006/main" noGrp="1"/>
          </p:cNvSpPr>
          <p:nvPr/>
        </p:nvSpPr>
        <p:spPr>
          <a:xfrm xmlns:a="http://schemas.openxmlformats.org/drawingml/2006/main">
            <a:off x="933450" y="186690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buNone/>
              <a:defRPr sz="2100" b="1">
                <a:solidFill>
                  <a:srgbClr val="FFFFFF"/>
                </a:solidFill>
                <a:latin typeface="Arial"/>
                <a:ea typeface="Arial"/>
                <a:cs typeface="Arial"/>
              </a:defRPr>
            </a:pPr>
            <a:r>
              <a:rPr sz="2100" b="1">
                <a:solidFill>
                  <a:srgbClr val="FFFFFF"/>
                </a:solidFill>
                <a:latin typeface="Arial"/>
                <a:ea typeface="Arial"/>
                <a:cs typeface="Arial"/>
              </a:rPr>
              <a:t>Erreicht</a:t>
            </a:r>
          </a:p>
        </p:txBody>
      </p:sp>
      <p:sp>
        <p:nvSpPr>
          <p:cNvPr id="7" name="">
            <a:extLst xmlns:a="http://schemas.openxmlformats.org/drawingml/2006/main">
              <a:ext uri="{FF2B5EF4-FFF2-40B4-BE49-F238E27FC236}">
                <a16:creationId xmlns:a16="http://schemas.microsoft.com/office/drawing/2014/main" id="{7D33794D-41DB-4692-BAE1-FF8D7067DD94}"/>
              </a:ext>
            </a:extLst>
          </p:cNvPr>
          <p:cNvSpPr>
            <a:spLocks xmlns:a="http://schemas.openxmlformats.org/drawingml/2006/main" noGrp="1"/>
          </p:cNvSpPr>
          <p:nvPr/>
        </p:nvSpPr>
        <p:spPr>
          <a:xfrm xmlns:a="http://schemas.openxmlformats.org/drawingml/2006/main">
            <a:off x="971550" y="2476500"/>
            <a:ext cx="42862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MongoDB als geprüfte Spark-Quelle</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zwei Gates vor ML und Persistenz</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FastAPI direkt auf PostgreSQL + Neo4j</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Full-DAG mit 1 Mio. Messungen erfolgreich</a:t>
            </a:r>
          </a:p>
        </p:txBody>
      </p:sp>
      <p:sp>
        <p:nvSpPr>
          <p:cNvPr id="8" name="">
            <a:extLst xmlns:a="http://schemas.openxmlformats.org/drawingml/2006/main">
              <a:ext uri="{FF2B5EF4-FFF2-40B4-BE49-F238E27FC236}">
                <a16:creationId xmlns:a16="http://schemas.microsoft.com/office/drawing/2014/main" id="{F400ACFF-6AD4-472B-A0BC-7EDF7F97A300}"/>
              </a:ext>
            </a:extLst>
          </p:cNvPr>
          <p:cNvSpPr>
            <a:spLocks xmlns:a="http://schemas.openxmlformats.org/drawingml/2006/main" noGrp="1"/>
          </p:cNvSpPr>
          <p:nvPr/>
        </p:nvSpPr>
        <p:spPr>
          <a:xfrm xmlns:a="http://schemas.openxmlformats.org/drawingml/2006/main">
            <a:off x="6076950" y="1562100"/>
            <a:ext cx="5486400" cy="3600450"/>
          </a:xfrm>
          <a:prstGeom xmlns:a="http://schemas.openxmlformats.org/drawingml/2006/main" prst="roundRect">
            <a:avLst>
              <a:gd name="adj" fmla="val 3175"/>
            </a:avLst>
          </a:prstGeom>
          <a:solidFill xmlns:a="http://schemas.openxmlformats.org/drawingml/2006/main">
            <a:srgbClr val="0E3544"/>
          </a:solidFill>
          <a:ln xmlns:a="http://schemas.openxmlformats.org/drawingml/2006/main" w="9525">
            <a:solidFill>
              <a:srgbClr val="31505D"/>
            </a:solidFill>
            <a:prstDash val="solid"/>
          </a:ln>
        </p:spPr>
      </p:sp>
      <p:sp>
        <p:nvSpPr>
          <p:cNvPr id="9" name="">
            <a:extLst xmlns:a="http://schemas.openxmlformats.org/drawingml/2006/main">
              <a:ext uri="{FF2B5EF4-FFF2-40B4-BE49-F238E27FC236}">
                <a16:creationId xmlns:a16="http://schemas.microsoft.com/office/drawing/2014/main" id="{555A0850-85C0-42A3-975D-E6EC9283FE18}"/>
              </a:ext>
            </a:extLst>
          </p:cNvPr>
          <p:cNvSpPr>
            <a:spLocks xmlns:a="http://schemas.openxmlformats.org/drawingml/2006/main" noGrp="1"/>
          </p:cNvSpPr>
          <p:nvPr/>
        </p:nvSpPr>
        <p:spPr>
          <a:xfrm xmlns:a="http://schemas.openxmlformats.org/drawingml/2006/main">
            <a:off x="6400800" y="18669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84524"/>
          </a:bodyPr>
          <a:lstStyle xmlns:a="http://schemas.openxmlformats.org/drawingml/2006/main">
            <a:defPPr algn="l">
              <a:defRPr sz="2100" b="1">
                <a:solidFill>
                  <a:srgbClr val="F4A261"/>
                </a:solidFill>
                <a:latin typeface="Arial"/>
                <a:ea typeface="Arial"/>
                <a:cs typeface="Arial"/>
              </a:defRPr>
            </a:defPPr>
          </a:lstStyle>
          <a:p xmlns:a="http://schemas.openxmlformats.org/drawingml/2006/main">
            <a:pPr algn="l">
              <a:buNone/>
              <a:defRPr sz="2100" b="1">
                <a:solidFill>
                  <a:srgbClr val="F4A261"/>
                </a:solidFill>
                <a:latin typeface="Arial"/>
                <a:ea typeface="Arial"/>
                <a:cs typeface="Arial"/>
              </a:defRPr>
            </a:pPr>
            <a:r>
              <a:rPr sz="2100" b="1">
                <a:solidFill>
                  <a:srgbClr val="F4A261"/>
                </a:solidFill>
                <a:latin typeface="Arial"/>
                <a:ea typeface="Arial"/>
                <a:cs typeface="Arial"/>
              </a:rPr>
              <a:t>Nächste Ausbaustufe</a:t>
            </a:r>
          </a:p>
        </p:txBody>
      </p:sp>
      <p:sp>
        <p:nvSpPr>
          <p:cNvPr id="10" name="">
            <a:extLst xmlns:a="http://schemas.openxmlformats.org/drawingml/2006/main">
              <a:ext uri="{FF2B5EF4-FFF2-40B4-BE49-F238E27FC236}">
                <a16:creationId xmlns:a16="http://schemas.microsoft.com/office/drawing/2014/main" id="{662B5989-90CA-4F86-832E-51D5BEB5867B}"/>
              </a:ext>
            </a:extLst>
          </p:cNvPr>
          <p:cNvSpPr>
            <a:spLocks xmlns:a="http://schemas.openxmlformats.org/drawingml/2006/main" noGrp="1"/>
          </p:cNvSpPr>
          <p:nvPr/>
        </p:nvSpPr>
        <p:spPr>
          <a:xfrm xmlns:a="http://schemas.openxmlformats.org/drawingml/2006/main">
            <a:off x="6438900" y="2476500"/>
            <a:ext cx="45720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100000"/>
          </a:bodyPr>
          <a:lstStyle xmlns:a="http://schemas.openxmlformats.org/drawingml/2006/main">
            <a:defPPr>
              <a:defRPr sz="1500">
                <a:solidFill>
                  <a:srgbClr val="DCE7EB"/>
                </a:solidFill>
                <a:latin typeface="Arial"/>
                <a:ea typeface="Arial"/>
                <a:cs typeface="Arial"/>
              </a:defRPr>
            </a:defPPr>
          </a:lstStyle>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echte Historien und fachlich validierte Labels</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Authentifizierung, TLS und Rate Limits</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Registry, Drift- und Kosten-Monitoring</a:t>
            </a:r>
          </a:p>
          <a:p xmlns:a="http://schemas.openxmlformats.org/drawingml/2006/main">
            <a:pPr marL="228600" indent="-114300">
              <a:spcAft>
                <a:spcPts val="1000"/>
              </a:spcAft>
              <a:buChar char="•"/>
              <a:defRPr sz="1500">
                <a:solidFill>
                  <a:srgbClr val="DCE7EB"/>
                </a:solidFill>
                <a:latin typeface="Arial"/>
                <a:ea typeface="Arial"/>
                <a:cs typeface="Arial"/>
              </a:defRPr>
            </a:pPr>
            <a:r>
              <a:rPr sz="1500">
                <a:solidFill>
                  <a:srgbClr val="DCE7EB"/>
                </a:solidFill>
                <a:latin typeface="Arial"/>
                <a:ea typeface="Arial"/>
                <a:cs typeface="Arial"/>
              </a:rPr>
              <a:t>Recovery-Übungen und Betriebs-SLOs</a:t>
            </a:r>
          </a:p>
        </p:txBody>
      </p:sp>
      <p:sp>
        <p:nvSpPr>
          <p:cNvPr id="11" name="">
            <a:extLst xmlns:a="http://schemas.openxmlformats.org/drawingml/2006/main">
              <a:ext uri="{FF2B5EF4-FFF2-40B4-BE49-F238E27FC236}">
                <a16:creationId xmlns:a16="http://schemas.microsoft.com/office/drawing/2014/main" id="{224FCD98-3125-4B13-AD10-3F847CCF5DA2}"/>
              </a:ext>
            </a:extLst>
          </p:cNvPr>
          <p:cNvSpPr>
            <a:spLocks xmlns:a="http://schemas.openxmlformats.org/drawingml/2006/main" noGrp="1"/>
          </p:cNvSpPr>
          <p:nvPr/>
        </p:nvSpPr>
        <p:spPr>
          <a:xfrm xmlns:a="http://schemas.openxmlformats.org/drawingml/2006/main">
            <a:off x="1524000" y="5505450"/>
            <a:ext cx="9144000" cy="495300"/>
          </a:xfrm>
          <a:prstGeom xmlns:a="http://schemas.openxmlformats.org/drawingml/2006/main" prst="roundRect">
            <a:avLst>
              <a:gd name="adj" fmla="val 23077"/>
            </a:avLst>
          </a:prstGeom>
          <a:solidFill xmlns:a="http://schemas.openxmlformats.org/drawingml/2006/main">
            <a:srgbClr val="F4A261"/>
          </a:solidFill>
          <a:ln xmlns:a="http://schemas.openxmlformats.org/drawingml/2006/main" w="9525">
            <a:solidFill>
              <a:srgbClr val="F4A261"/>
            </a:solidFill>
            <a:prstDash val="solid"/>
          </a:ln>
        </p:spPr>
      </p:sp>
      <p:sp>
        <p:nvSpPr>
          <p:cNvPr id="12" name="">
            <a:extLst xmlns:a="http://schemas.openxmlformats.org/drawingml/2006/main">
              <a:ext uri="{FF2B5EF4-FFF2-40B4-BE49-F238E27FC236}">
                <a16:creationId xmlns:a16="http://schemas.microsoft.com/office/drawing/2014/main" id="{B2018507-CF24-48C1-84CA-B7878F999012}"/>
              </a:ext>
            </a:extLst>
          </p:cNvPr>
          <p:cNvSpPr>
            <a:spLocks xmlns:a="http://schemas.openxmlformats.org/drawingml/2006/main" noGrp="1"/>
          </p:cNvSpPr>
          <p:nvPr/>
        </p:nvSpPr>
        <p:spPr>
          <a:xfrm xmlns:a="http://schemas.openxmlformats.org/drawingml/2006/main">
            <a:off x="1809750" y="5629275"/>
            <a:ext cx="8572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rmAutofit fontScale="69048"/>
          </a:bodyPr>
          <a:lstStyle xmlns:a="http://schemas.openxmlformats.org/drawingml/2006/main">
            <a:defPPr algn="ctr">
              <a:defRPr sz="1575" b="1">
                <a:solidFill>
                  <a:srgbClr val="0A1822"/>
                </a:solidFill>
                <a:latin typeface="Arial"/>
                <a:ea typeface="Arial"/>
                <a:cs typeface="Arial"/>
              </a:defRPr>
            </a:defPPr>
          </a:lstStyle>
          <a:p xmlns:a="http://schemas.openxmlformats.org/drawingml/2006/main">
            <a:pPr algn="ctr">
              <a:buNone/>
              <a:defRPr sz="1575" b="1">
                <a:solidFill>
                  <a:srgbClr val="0A1822"/>
                </a:solidFill>
                <a:latin typeface="Arial"/>
                <a:ea typeface="Arial"/>
                <a:cs typeface="Arial"/>
              </a:defRPr>
            </a:pPr>
            <a:r>
              <a:rPr sz="1575" b="1">
                <a:solidFill>
                  <a:srgbClr val="0A1822"/>
                </a:solidFill>
                <a:latin typeface="Arial"/>
                <a:ea typeface="Arial"/>
                <a:cs typeface="Arial"/>
              </a:rPr>
              <a:t>Macro-F1 steigt von 0,432 auf 0,534. Klasse 0 bleibt die zentrale Schwäche.</a:t>
            </a:r>
          </a:p>
        </p:txBody>
      </p:sp>
    </p:spTree>
    <p:extLst>
      <p:ext uri="{BB962C8B-B14F-4D97-AF65-F5344CB8AC3E}">
        <p14:creationId xmlns:p14="http://schemas.microsoft.com/office/powerpoint/2010/main" val="8710944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2026-10-19T11:28:35.2070000Z</dcterms:created>
  <dcterms:modified xsi:type="dcterms:W3CDTF">2026-10-19T11:28:35.2070000Z</dcterms:modified>
</coreProperties>
</file>